
<file path=[Content_Types].xml><?xml version="1.0" encoding="utf-8"?>
<Types xmlns="http://schemas.openxmlformats.org/package/2006/content-types">
  <Default Extension="rels" ContentType="application/vnd.openxmlformats-package.relationships+xml"/>
  <Default Extension="svg" ContentType="image/svg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ppt/notesSlides/notesSlide23.xml" ContentType="application/vnd.openxmlformats-officedocument.presentationml.notesSlide+xml"/>
  <Override PartName="/ppt/notesSlides/notesSlide24.xml" ContentType="application/vnd.openxmlformats-officedocument.presentationml.notesSlide+xml"/>
  <Override PartName="/ppt/notesSlides/notesSlide25.xml" ContentType="application/vnd.openxmlformats-officedocument.presentationml.notesSlide+xml"/>
  <Override PartName="/ppt/changesInfos/changesInfo1.xml" ContentType="application/vnd.ms-powerpoint.changesinfo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1"/>
  </p:sldMasterIdLst>
  <p:notesMasterIdLst>
    <p:notesMasterId r:id="rId27"/>
  </p:notesMasterIdLst>
  <p:sldIdLst>
    <p:sldId id="256" r:id="rId2"/>
    <p:sldId id="257" r:id="rId3"/>
    <p:sldId id="258" r:id="rId4"/>
    <p:sldId id="259" r:id="rId5"/>
    <p:sldId id="261" r:id="rId6"/>
    <p:sldId id="262" r:id="rId7"/>
    <p:sldId id="263" r:id="rId8"/>
    <p:sldId id="264" r:id="rId9"/>
    <p:sldId id="265" r:id="rId10"/>
    <p:sldId id="266" r:id="rId11"/>
    <p:sldId id="267" r:id="rId12"/>
    <p:sldId id="268" r:id="rId13"/>
    <p:sldId id="269" r:id="rId14"/>
    <p:sldId id="270" r:id="rId15"/>
    <p:sldId id="271" r:id="rId16"/>
    <p:sldId id="272" r:id="rId17"/>
    <p:sldId id="273" r:id="rId18"/>
    <p:sldId id="274" r:id="rId19"/>
    <p:sldId id="275" r:id="rId20"/>
    <p:sldId id="276" r:id="rId21"/>
    <p:sldId id="277" r:id="rId22"/>
    <p:sldId id="278" r:id="rId23"/>
    <p:sldId id="279" r:id="rId24"/>
    <p:sldId id="260" r:id="rId25"/>
    <p:sldId id="280" r:id="rId26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B9D8F2A2-7CA2-4C9A-8451-9C1E65D54E37}" v="20" dt="2026-08-09T10:28:06.239"/>
  </p1510:revLst>
</p1510:revInfo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snapVertSplitter="1" vertBarState="minimized">
    <p:restoredLeft sz="11660" autoAdjust="0"/>
    <p:restoredTop sz="94660"/>
  </p:normalViewPr>
  <p:slideViewPr>
    <p:cSldViewPr snapToGrid="0">
      <p:cViewPr varScale="1">
        <p:scale>
          <a:sx n="54" d="100"/>
          <a:sy n="54" d="100"/>
        </p:scale>
        <p:origin x="77" y="720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3" Type="http://schemas.openxmlformats.org/officeDocument/2006/relationships/slide" Target="slides/slide2.xml"/><Relationship Id="rId21" Type="http://schemas.openxmlformats.org/officeDocument/2006/relationships/slide" Target="slides/slide20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microsoft.com/office/2015/10/relationships/revisionInfo" Target="revisionInfo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29" Type="http://schemas.openxmlformats.org/officeDocument/2006/relationships/viewProps" Target="view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microsoft.com/office/2016/11/relationships/changesInfo" Target="changesInfos/changesInfo1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presProps" Target="presProps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tableStyles" Target="tableStyle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notesMaster" Target="notesMasters/notesMaster1.xml"/><Relationship Id="rId30" Type="http://schemas.openxmlformats.org/officeDocument/2006/relationships/theme" Target="theme/theme1.xml"/><Relationship Id="rId8" Type="http://schemas.openxmlformats.org/officeDocument/2006/relationships/slide" Target="slides/slide7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Jeet Patil" userId="31697e8a352859a5" providerId="LiveId" clId="{A77F8FD4-D25E-448C-99BF-863512566523}"/>
    <pc:docChg chg="undo custSel modSld sldOrd">
      <pc:chgData name="Jeet Patil" userId="31697e8a352859a5" providerId="LiveId" clId="{A77F8FD4-D25E-448C-99BF-863512566523}" dt="2026-08-09T10:28:37.958" v="1067" actId="1076"/>
      <pc:docMkLst>
        <pc:docMk/>
      </pc:docMkLst>
      <pc:sldChg chg="addSp modSp mod">
        <pc:chgData name="Jeet Patil" userId="31697e8a352859a5" providerId="LiveId" clId="{A77F8FD4-D25E-448C-99BF-863512566523}" dt="2026-08-09T06:02:33.572" v="5" actId="1076"/>
        <pc:sldMkLst>
          <pc:docMk/>
          <pc:sldMk cId="766554858" sldId="258"/>
        </pc:sldMkLst>
        <pc:spChg chg="mod">
          <ac:chgData name="Jeet Patil" userId="31697e8a352859a5" providerId="LiveId" clId="{A77F8FD4-D25E-448C-99BF-863512566523}" dt="2026-08-09T06:02:23.948" v="2" actId="1076"/>
          <ac:spMkLst>
            <pc:docMk/>
            <pc:sldMk cId="766554858" sldId="258"/>
            <ac:spMk id="24" creationId="{EF753284-965F-4621-9D50-0163FB5366C2}"/>
          </ac:spMkLst>
        </pc:spChg>
        <pc:spChg chg="add mod">
          <ac:chgData name="Jeet Patil" userId="31697e8a352859a5" providerId="LiveId" clId="{A77F8FD4-D25E-448C-99BF-863512566523}" dt="2026-08-09T06:02:31.459" v="4" actId="1076"/>
          <ac:spMkLst>
            <pc:docMk/>
            <pc:sldMk cId="766554858" sldId="258"/>
            <ac:spMk id="29" creationId="{70261446-DA06-9D82-C03B-C2D88B828542}"/>
          </ac:spMkLst>
        </pc:spChg>
        <pc:spChg chg="add mod">
          <ac:chgData name="Jeet Patil" userId="31697e8a352859a5" providerId="LiveId" clId="{A77F8FD4-D25E-448C-99BF-863512566523}" dt="2026-08-09T06:02:33.572" v="5" actId="1076"/>
          <ac:spMkLst>
            <pc:docMk/>
            <pc:sldMk cId="766554858" sldId="258"/>
            <ac:spMk id="31" creationId="{FE6ACCF4-EEB5-5076-ED20-33B36BC4F512}"/>
          </ac:spMkLst>
        </pc:spChg>
      </pc:sldChg>
      <pc:sldChg chg="addSp delSp modSp mod ord">
        <pc:chgData name="Jeet Patil" userId="31697e8a352859a5" providerId="LiveId" clId="{A77F8FD4-D25E-448C-99BF-863512566523}" dt="2026-08-09T06:24:39.737" v="107" actId="20577"/>
        <pc:sldMkLst>
          <pc:docMk/>
          <pc:sldMk cId="657504288" sldId="259"/>
        </pc:sldMkLst>
        <pc:spChg chg="mod">
          <ac:chgData name="Jeet Patil" userId="31697e8a352859a5" providerId="LiveId" clId="{A77F8FD4-D25E-448C-99BF-863512566523}" dt="2026-08-09T06:24:39.737" v="107" actId="20577"/>
          <ac:spMkLst>
            <pc:docMk/>
            <pc:sldMk cId="657504288" sldId="259"/>
            <ac:spMk id="2" creationId="{A1D8B1AB-2821-4117-9B38-32D46C2C2231}"/>
          </ac:spMkLst>
        </pc:spChg>
        <pc:spChg chg="del">
          <ac:chgData name="Jeet Patil" userId="31697e8a352859a5" providerId="LiveId" clId="{A77F8FD4-D25E-448C-99BF-863512566523}" dt="2026-08-09T06:10:59.782" v="73" actId="478"/>
          <ac:spMkLst>
            <pc:docMk/>
            <pc:sldMk cId="657504288" sldId="259"/>
            <ac:spMk id="3" creationId="{135855DE-0419-4EBC-8D3F-AC8A2A1CA3BF}"/>
          </ac:spMkLst>
        </pc:spChg>
        <pc:spChg chg="del">
          <ac:chgData name="Jeet Patil" userId="31697e8a352859a5" providerId="LiveId" clId="{A77F8FD4-D25E-448C-99BF-863512566523}" dt="2026-08-09T06:10:59.782" v="73" actId="478"/>
          <ac:spMkLst>
            <pc:docMk/>
            <pc:sldMk cId="657504288" sldId="259"/>
            <ac:spMk id="6" creationId="{707B7F65-657B-4F53-A177-B913551966A2}"/>
          </ac:spMkLst>
        </pc:spChg>
        <pc:spChg chg="del">
          <ac:chgData name="Jeet Patil" userId="31697e8a352859a5" providerId="LiveId" clId="{A77F8FD4-D25E-448C-99BF-863512566523}" dt="2026-08-09T06:10:59.782" v="73" actId="478"/>
          <ac:spMkLst>
            <pc:docMk/>
            <pc:sldMk cId="657504288" sldId="259"/>
            <ac:spMk id="8" creationId="{464AB143-2FB2-4FE1-92B3-A1C8AC9C0987}"/>
          </ac:spMkLst>
        </pc:spChg>
        <pc:spChg chg="del">
          <ac:chgData name="Jeet Patil" userId="31697e8a352859a5" providerId="LiveId" clId="{A77F8FD4-D25E-448C-99BF-863512566523}" dt="2026-08-09T06:10:59.782" v="73" actId="478"/>
          <ac:spMkLst>
            <pc:docMk/>
            <pc:sldMk cId="657504288" sldId="259"/>
            <ac:spMk id="10" creationId="{55795E55-0ED5-47FD-B870-EAF641574AF3}"/>
          </ac:spMkLst>
        </pc:spChg>
        <pc:spChg chg="del">
          <ac:chgData name="Jeet Patil" userId="31697e8a352859a5" providerId="LiveId" clId="{A77F8FD4-D25E-448C-99BF-863512566523}" dt="2026-08-09T06:10:59.782" v="73" actId="478"/>
          <ac:spMkLst>
            <pc:docMk/>
            <pc:sldMk cId="657504288" sldId="259"/>
            <ac:spMk id="11" creationId="{53281621-9D1E-4486-BBAE-21391AFC9C46}"/>
          </ac:spMkLst>
        </pc:spChg>
        <pc:spChg chg="del">
          <ac:chgData name="Jeet Patil" userId="31697e8a352859a5" providerId="LiveId" clId="{A77F8FD4-D25E-448C-99BF-863512566523}" dt="2026-08-09T06:10:59.782" v="73" actId="478"/>
          <ac:spMkLst>
            <pc:docMk/>
            <pc:sldMk cId="657504288" sldId="259"/>
            <ac:spMk id="14" creationId="{A4D1AC29-4D53-4D1E-9FF4-F20D4562D488}"/>
          </ac:spMkLst>
        </pc:spChg>
        <pc:spChg chg="del">
          <ac:chgData name="Jeet Patil" userId="31697e8a352859a5" providerId="LiveId" clId="{A77F8FD4-D25E-448C-99BF-863512566523}" dt="2026-08-09T06:10:59.782" v="73" actId="478"/>
          <ac:spMkLst>
            <pc:docMk/>
            <pc:sldMk cId="657504288" sldId="259"/>
            <ac:spMk id="16" creationId="{C5392398-70B3-4A51-AA88-5EA89FBFE3D6}"/>
          </ac:spMkLst>
        </pc:spChg>
        <pc:spChg chg="del">
          <ac:chgData name="Jeet Patil" userId="31697e8a352859a5" providerId="LiveId" clId="{A77F8FD4-D25E-448C-99BF-863512566523}" dt="2026-08-09T06:10:59.782" v="73" actId="478"/>
          <ac:spMkLst>
            <pc:docMk/>
            <pc:sldMk cId="657504288" sldId="259"/>
            <ac:spMk id="18" creationId="{5BC46E50-A4CF-42F9-82D6-570872A77029}"/>
          </ac:spMkLst>
        </pc:spChg>
        <pc:spChg chg="del">
          <ac:chgData name="Jeet Patil" userId="31697e8a352859a5" providerId="LiveId" clId="{A77F8FD4-D25E-448C-99BF-863512566523}" dt="2026-08-09T06:10:59.782" v="73" actId="478"/>
          <ac:spMkLst>
            <pc:docMk/>
            <pc:sldMk cId="657504288" sldId="259"/>
            <ac:spMk id="19" creationId="{56049FD7-1B1B-4BC6-B377-6879894D4A0C}"/>
          </ac:spMkLst>
        </pc:spChg>
        <pc:spChg chg="del">
          <ac:chgData name="Jeet Patil" userId="31697e8a352859a5" providerId="LiveId" clId="{A77F8FD4-D25E-448C-99BF-863512566523}" dt="2026-08-09T06:10:59.782" v="73" actId="478"/>
          <ac:spMkLst>
            <pc:docMk/>
            <pc:sldMk cId="657504288" sldId="259"/>
            <ac:spMk id="20" creationId="{67A10228-B88F-4154-A2F9-698A96332C7B}"/>
          </ac:spMkLst>
        </pc:spChg>
        <pc:picChg chg="add mod">
          <ac:chgData name="Jeet Patil" userId="31697e8a352859a5" providerId="LiveId" clId="{A77F8FD4-D25E-448C-99BF-863512566523}" dt="2026-08-09T06:11:33.017" v="78" actId="14100"/>
          <ac:picMkLst>
            <pc:docMk/>
            <pc:sldMk cId="657504288" sldId="259"/>
            <ac:picMk id="28" creationId="{39F3E54D-09D5-00C5-4DC2-13853F9B9D33}"/>
          </ac:picMkLst>
        </pc:picChg>
      </pc:sldChg>
      <pc:sldChg chg="modSp mod ord">
        <pc:chgData name="Jeet Patil" userId="31697e8a352859a5" providerId="LiveId" clId="{A77F8FD4-D25E-448C-99BF-863512566523}" dt="2026-08-09T06:15:05.621" v="86"/>
        <pc:sldMkLst>
          <pc:docMk/>
          <pc:sldMk cId="2076865761" sldId="260"/>
        </pc:sldMkLst>
        <pc:spChg chg="mod">
          <ac:chgData name="Jeet Patil" userId="31697e8a352859a5" providerId="LiveId" clId="{A77F8FD4-D25E-448C-99BF-863512566523}" dt="2026-08-09T06:14:38.915" v="82" actId="20577"/>
          <ac:spMkLst>
            <pc:docMk/>
            <pc:sldMk cId="2076865761" sldId="260"/>
            <ac:spMk id="5" creationId="{0923C5A8-7802-4320-9BEC-EEEFA6E26354}"/>
          </ac:spMkLst>
        </pc:spChg>
      </pc:sldChg>
      <pc:sldChg chg="addSp delSp modSp mod">
        <pc:chgData name="Jeet Patil" userId="31697e8a352859a5" providerId="LiveId" clId="{A77F8FD4-D25E-448C-99BF-863512566523}" dt="2026-08-09T06:37:06.587" v="333" actId="20577"/>
        <pc:sldMkLst>
          <pc:docMk/>
          <pc:sldMk cId="1063185350" sldId="261"/>
        </pc:sldMkLst>
        <pc:spChg chg="mod">
          <ac:chgData name="Jeet Patil" userId="31697e8a352859a5" providerId="LiveId" clId="{A77F8FD4-D25E-448C-99BF-863512566523}" dt="2026-08-09T06:27:41.667" v="142" actId="14100"/>
          <ac:spMkLst>
            <pc:docMk/>
            <pc:sldMk cId="1063185350" sldId="261"/>
            <ac:spMk id="3" creationId="{0736F395-6C51-4127-8BBF-C91A3ADF2F1C}"/>
          </ac:spMkLst>
        </pc:spChg>
        <pc:spChg chg="del mod">
          <ac:chgData name="Jeet Patil" userId="31697e8a352859a5" providerId="LiveId" clId="{A77F8FD4-D25E-448C-99BF-863512566523}" dt="2026-08-09T06:27:31.196" v="140" actId="478"/>
          <ac:spMkLst>
            <pc:docMk/>
            <pc:sldMk cId="1063185350" sldId="261"/>
            <ac:spMk id="7" creationId="{573D4014-57E0-4B1D-80FA-3530586E354E}"/>
          </ac:spMkLst>
        </pc:spChg>
        <pc:spChg chg="mod">
          <ac:chgData name="Jeet Patil" userId="31697e8a352859a5" providerId="LiveId" clId="{A77F8FD4-D25E-448C-99BF-863512566523}" dt="2026-08-09T06:27:04.429" v="136" actId="20577"/>
          <ac:spMkLst>
            <pc:docMk/>
            <pc:sldMk cId="1063185350" sldId="261"/>
            <ac:spMk id="8" creationId="{3BAFD1F4-E121-4B11-9EF0-4F50C6C19526}"/>
          </ac:spMkLst>
        </pc:spChg>
        <pc:spChg chg="mod">
          <ac:chgData name="Jeet Patil" userId="31697e8a352859a5" providerId="LiveId" clId="{A77F8FD4-D25E-448C-99BF-863512566523}" dt="2026-08-09T06:27:37.891" v="141" actId="1076"/>
          <ac:spMkLst>
            <pc:docMk/>
            <pc:sldMk cId="1063185350" sldId="261"/>
            <ac:spMk id="9" creationId="{5435F1C7-1BE9-4B2D-8320-9D8A007B1168}"/>
          </ac:spMkLst>
        </pc:spChg>
        <pc:spChg chg="mod">
          <ac:chgData name="Jeet Patil" userId="31697e8a352859a5" providerId="LiveId" clId="{A77F8FD4-D25E-448C-99BF-863512566523}" dt="2026-08-09T06:36:30.058" v="319" actId="14100"/>
          <ac:spMkLst>
            <pc:docMk/>
            <pc:sldMk cId="1063185350" sldId="261"/>
            <ac:spMk id="10" creationId="{F766768A-E1B8-46BD-B35E-D3A2F747031F}"/>
          </ac:spMkLst>
        </pc:spChg>
        <pc:spChg chg="mod">
          <ac:chgData name="Jeet Patil" userId="31697e8a352859a5" providerId="LiveId" clId="{A77F8FD4-D25E-448C-99BF-863512566523}" dt="2026-08-09T06:37:06.587" v="333" actId="20577"/>
          <ac:spMkLst>
            <pc:docMk/>
            <pc:sldMk cId="1063185350" sldId="261"/>
            <ac:spMk id="11" creationId="{4B6CAC50-798B-48F4-A0DE-505EEF907E15}"/>
          </ac:spMkLst>
        </pc:spChg>
        <pc:spChg chg="mod">
          <ac:chgData name="Jeet Patil" userId="31697e8a352859a5" providerId="LiveId" clId="{A77F8FD4-D25E-448C-99BF-863512566523}" dt="2026-08-09T06:28:58.895" v="180" actId="1076"/>
          <ac:spMkLst>
            <pc:docMk/>
            <pc:sldMk cId="1063185350" sldId="261"/>
            <ac:spMk id="12" creationId="{1D91D647-2341-4341-92D4-31EAEB8AE0FE}"/>
          </ac:spMkLst>
        </pc:spChg>
        <pc:spChg chg="mod">
          <ac:chgData name="Jeet Patil" userId="31697e8a352859a5" providerId="LiveId" clId="{A77F8FD4-D25E-448C-99BF-863512566523}" dt="2026-08-09T06:29:16.093" v="183" actId="1076"/>
          <ac:spMkLst>
            <pc:docMk/>
            <pc:sldMk cId="1063185350" sldId="261"/>
            <ac:spMk id="13" creationId="{C6FA121A-D567-4839-A2E6-673F208232B6}"/>
          </ac:spMkLst>
        </pc:spChg>
        <pc:spChg chg="mod">
          <ac:chgData name="Jeet Patil" userId="31697e8a352859a5" providerId="LiveId" clId="{A77F8FD4-D25E-448C-99BF-863512566523}" dt="2026-08-09T06:27:45.736" v="143" actId="20577"/>
          <ac:spMkLst>
            <pc:docMk/>
            <pc:sldMk cId="1063185350" sldId="261"/>
            <ac:spMk id="14" creationId="{E223864A-1C1A-4E69-A133-97DD2E4DADE9}"/>
          </ac:spMkLst>
        </pc:spChg>
        <pc:spChg chg="mod">
          <ac:chgData name="Jeet Patil" userId="31697e8a352859a5" providerId="LiveId" clId="{A77F8FD4-D25E-448C-99BF-863512566523}" dt="2026-08-09T06:27:51.047" v="144" actId="20577"/>
          <ac:spMkLst>
            <pc:docMk/>
            <pc:sldMk cId="1063185350" sldId="261"/>
            <ac:spMk id="15" creationId="{133331D6-E1BD-44C7-9C92-16F1634D1120}"/>
          </ac:spMkLst>
        </pc:spChg>
        <pc:spChg chg="del mod">
          <ac:chgData name="Jeet Patil" userId="31697e8a352859a5" providerId="LiveId" clId="{A77F8FD4-D25E-448C-99BF-863512566523}" dt="2026-08-09T06:28:15.623" v="169" actId="478"/>
          <ac:spMkLst>
            <pc:docMk/>
            <pc:sldMk cId="1063185350" sldId="261"/>
            <ac:spMk id="16" creationId="{75D55FB3-E59D-454C-9E9E-B2F2529251F4}"/>
          </ac:spMkLst>
        </pc:spChg>
        <pc:spChg chg="mod">
          <ac:chgData name="Jeet Patil" userId="31697e8a352859a5" providerId="LiveId" clId="{A77F8FD4-D25E-448C-99BF-863512566523}" dt="2026-08-09T06:34:07.673" v="256" actId="20577"/>
          <ac:spMkLst>
            <pc:docMk/>
            <pc:sldMk cId="1063185350" sldId="261"/>
            <ac:spMk id="17" creationId="{FD068EFB-A0EF-4173-BCE2-95E403A67E67}"/>
          </ac:spMkLst>
        </pc:spChg>
        <pc:spChg chg="mod">
          <ac:chgData name="Jeet Patil" userId="31697e8a352859a5" providerId="LiveId" clId="{A77F8FD4-D25E-448C-99BF-863512566523}" dt="2026-08-09T06:32:29.907" v="212" actId="14100"/>
          <ac:spMkLst>
            <pc:docMk/>
            <pc:sldMk cId="1063185350" sldId="261"/>
            <ac:spMk id="18" creationId="{7F27D0FD-DE2D-48B0-9E32-E3FB70972EF6}"/>
          </ac:spMkLst>
        </pc:spChg>
        <pc:spChg chg="add mod">
          <ac:chgData name="Jeet Patil" userId="31697e8a352859a5" providerId="LiveId" clId="{A77F8FD4-D25E-448C-99BF-863512566523}" dt="2026-08-09T06:36:37.451" v="320" actId="1076"/>
          <ac:spMkLst>
            <pc:docMk/>
            <pc:sldMk cId="1063185350" sldId="261"/>
            <ac:spMk id="23" creationId="{134686A3-AA99-0342-3E11-77AD361B43AF}"/>
          </ac:spMkLst>
        </pc:spChg>
        <pc:spChg chg="add mod">
          <ac:chgData name="Jeet Patil" userId="31697e8a352859a5" providerId="LiveId" clId="{A77F8FD4-D25E-448C-99BF-863512566523}" dt="2026-08-09T06:36:22.856" v="318" actId="1076"/>
          <ac:spMkLst>
            <pc:docMk/>
            <pc:sldMk cId="1063185350" sldId="261"/>
            <ac:spMk id="25" creationId="{FDA42337-F0F1-8B87-5EF2-881ACCEB8424}"/>
          </ac:spMkLst>
        </pc:spChg>
      </pc:sldChg>
      <pc:sldChg chg="modSp mod">
        <pc:chgData name="Jeet Patil" userId="31697e8a352859a5" providerId="LiveId" clId="{A77F8FD4-D25E-448C-99BF-863512566523}" dt="2026-08-09T06:07:31.236" v="26" actId="14100"/>
        <pc:sldMkLst>
          <pc:docMk/>
          <pc:sldMk cId="1103555082" sldId="262"/>
        </pc:sldMkLst>
        <pc:spChg chg="mod">
          <ac:chgData name="Jeet Patil" userId="31697e8a352859a5" providerId="LiveId" clId="{A77F8FD4-D25E-448C-99BF-863512566523}" dt="2026-08-09T06:07:31.236" v="26" actId="14100"/>
          <ac:spMkLst>
            <pc:docMk/>
            <pc:sldMk cId="1103555082" sldId="262"/>
            <ac:spMk id="3" creationId="{4476D70C-30EA-439C-BF51-8A719980133B}"/>
          </ac:spMkLst>
        </pc:spChg>
        <pc:spChg chg="mod">
          <ac:chgData name="Jeet Patil" userId="31697e8a352859a5" providerId="LiveId" clId="{A77F8FD4-D25E-448C-99BF-863512566523}" dt="2026-08-09T06:07:30.964" v="25" actId="14100"/>
          <ac:spMkLst>
            <pc:docMk/>
            <pc:sldMk cId="1103555082" sldId="262"/>
            <ac:spMk id="6" creationId="{49451695-9759-4B1D-8229-652B42CF45E3}"/>
          </ac:spMkLst>
        </pc:spChg>
        <pc:spChg chg="mod">
          <ac:chgData name="Jeet Patil" userId="31697e8a352859a5" providerId="LiveId" clId="{A77F8FD4-D25E-448C-99BF-863512566523}" dt="2026-08-09T06:07:30.683" v="24" actId="14100"/>
          <ac:spMkLst>
            <pc:docMk/>
            <pc:sldMk cId="1103555082" sldId="262"/>
            <ac:spMk id="9" creationId="{B5D5AA47-12CC-451F-8312-E0666474DB2C}"/>
          </ac:spMkLst>
        </pc:spChg>
        <pc:spChg chg="mod">
          <ac:chgData name="Jeet Patil" userId="31697e8a352859a5" providerId="LiveId" clId="{A77F8FD4-D25E-448C-99BF-863512566523}" dt="2026-08-09T06:07:30.483" v="23" actId="14100"/>
          <ac:spMkLst>
            <pc:docMk/>
            <pc:sldMk cId="1103555082" sldId="262"/>
            <ac:spMk id="12" creationId="{E9FC63A6-FA6E-459F-9741-4B85B906D8BB}"/>
          </ac:spMkLst>
        </pc:spChg>
        <pc:spChg chg="mod">
          <ac:chgData name="Jeet Patil" userId="31697e8a352859a5" providerId="LiveId" clId="{A77F8FD4-D25E-448C-99BF-863512566523}" dt="2026-08-09T06:07:30.234" v="22" actId="14100"/>
          <ac:spMkLst>
            <pc:docMk/>
            <pc:sldMk cId="1103555082" sldId="262"/>
            <ac:spMk id="15" creationId="{A5FD066E-585F-4D87-B9B9-BC57B7769A51}"/>
          </ac:spMkLst>
        </pc:spChg>
      </pc:sldChg>
      <pc:sldChg chg="modSp mod">
        <pc:chgData name="Jeet Patil" userId="31697e8a352859a5" providerId="LiveId" clId="{A77F8FD4-D25E-448C-99BF-863512566523}" dt="2026-08-09T06:15:48.305" v="87" actId="1076"/>
        <pc:sldMkLst>
          <pc:docMk/>
          <pc:sldMk cId="548075964" sldId="263"/>
        </pc:sldMkLst>
        <pc:spChg chg="mod">
          <ac:chgData name="Jeet Patil" userId="31697e8a352859a5" providerId="LiveId" clId="{A77F8FD4-D25E-448C-99BF-863512566523}" dt="2026-08-09T06:15:48.305" v="87" actId="1076"/>
          <ac:spMkLst>
            <pc:docMk/>
            <pc:sldMk cId="548075964" sldId="263"/>
            <ac:spMk id="3" creationId="{8027B26C-18AF-4BF6-AC00-A6296595CA8B}"/>
          </ac:spMkLst>
        </pc:spChg>
      </pc:sldChg>
      <pc:sldChg chg="addSp delSp modSp mod">
        <pc:chgData name="Jeet Patil" userId="31697e8a352859a5" providerId="LiveId" clId="{A77F8FD4-D25E-448C-99BF-863512566523}" dt="2026-08-09T09:47:28.072" v="876" actId="113"/>
        <pc:sldMkLst>
          <pc:docMk/>
          <pc:sldMk cId="1109356102" sldId="264"/>
        </pc:sldMkLst>
        <pc:spChg chg="mod">
          <ac:chgData name="Jeet Patil" userId="31697e8a352859a5" providerId="LiveId" clId="{A77F8FD4-D25E-448C-99BF-863512566523}" dt="2026-08-09T09:47:13.741" v="874" actId="1076"/>
          <ac:spMkLst>
            <pc:docMk/>
            <pc:sldMk cId="1109356102" sldId="264"/>
            <ac:spMk id="3" creationId="{C88EFB20-0682-467B-BDA2-4581BD3604EA}"/>
          </ac:spMkLst>
        </pc:spChg>
        <pc:spChg chg="del mod">
          <ac:chgData name="Jeet Patil" userId="31697e8a352859a5" providerId="LiveId" clId="{A77F8FD4-D25E-448C-99BF-863512566523}" dt="2026-08-09T08:56:26.491" v="430" actId="478"/>
          <ac:spMkLst>
            <pc:docMk/>
            <pc:sldMk cId="1109356102" sldId="264"/>
            <ac:spMk id="4" creationId="{281EEFC7-F70E-4C54-8D4D-6A4B20053FB6}"/>
          </ac:spMkLst>
        </pc:spChg>
        <pc:spChg chg="mod">
          <ac:chgData name="Jeet Patil" userId="31697e8a352859a5" providerId="LiveId" clId="{A77F8FD4-D25E-448C-99BF-863512566523}" dt="2026-08-09T09:47:28.072" v="876" actId="113"/>
          <ac:spMkLst>
            <pc:docMk/>
            <pc:sldMk cId="1109356102" sldId="264"/>
            <ac:spMk id="5" creationId="{61D12FB9-3304-4ACE-A803-1F95D36C6D3F}"/>
          </ac:spMkLst>
        </pc:spChg>
        <pc:spChg chg="del">
          <ac:chgData name="Jeet Patil" userId="31697e8a352859a5" providerId="LiveId" clId="{A77F8FD4-D25E-448C-99BF-863512566523}" dt="2026-08-09T06:15:54.907" v="88" actId="478"/>
          <ac:spMkLst>
            <pc:docMk/>
            <pc:sldMk cId="1109356102" sldId="264"/>
            <ac:spMk id="6" creationId="{082DAD08-A65B-4204-ABC1-A4547A5B7984}"/>
          </ac:spMkLst>
        </pc:spChg>
        <pc:spChg chg="del">
          <ac:chgData name="Jeet Patil" userId="31697e8a352859a5" providerId="LiveId" clId="{A77F8FD4-D25E-448C-99BF-863512566523}" dt="2026-08-09T06:15:54.907" v="88" actId="478"/>
          <ac:spMkLst>
            <pc:docMk/>
            <pc:sldMk cId="1109356102" sldId="264"/>
            <ac:spMk id="9" creationId="{3890A99F-9E96-4E24-9BAC-146F93293B43}"/>
          </ac:spMkLst>
        </pc:spChg>
        <pc:spChg chg="del">
          <ac:chgData name="Jeet Patil" userId="31697e8a352859a5" providerId="LiveId" clId="{A77F8FD4-D25E-448C-99BF-863512566523}" dt="2026-08-09T06:15:54.907" v="88" actId="478"/>
          <ac:spMkLst>
            <pc:docMk/>
            <pc:sldMk cId="1109356102" sldId="264"/>
            <ac:spMk id="11" creationId="{BF914149-E5C6-4075-8C0E-485CA9670B17}"/>
          </ac:spMkLst>
        </pc:spChg>
        <pc:spChg chg="del">
          <ac:chgData name="Jeet Patil" userId="31697e8a352859a5" providerId="LiveId" clId="{A77F8FD4-D25E-448C-99BF-863512566523}" dt="2026-08-09T06:15:54.907" v="88" actId="478"/>
          <ac:spMkLst>
            <pc:docMk/>
            <pc:sldMk cId="1109356102" sldId="264"/>
            <ac:spMk id="12" creationId="{0DEDFD30-18CA-4891-83D4-76A11B756A99}"/>
          </ac:spMkLst>
        </pc:spChg>
        <pc:spChg chg="del">
          <ac:chgData name="Jeet Patil" userId="31697e8a352859a5" providerId="LiveId" clId="{A77F8FD4-D25E-448C-99BF-863512566523}" dt="2026-08-09T06:15:54.907" v="88" actId="478"/>
          <ac:spMkLst>
            <pc:docMk/>
            <pc:sldMk cId="1109356102" sldId="264"/>
            <ac:spMk id="17" creationId="{EED5587E-A6B5-4F50-9CDC-96176D552818}"/>
          </ac:spMkLst>
        </pc:spChg>
        <pc:spChg chg="del">
          <ac:chgData name="Jeet Patil" userId="31697e8a352859a5" providerId="LiveId" clId="{A77F8FD4-D25E-448C-99BF-863512566523}" dt="2026-08-09T06:15:54.907" v="88" actId="478"/>
          <ac:spMkLst>
            <pc:docMk/>
            <pc:sldMk cId="1109356102" sldId="264"/>
            <ac:spMk id="18" creationId="{05F9644F-13D6-45E2-ABFB-12CC3C5637CE}"/>
          </ac:spMkLst>
        </pc:spChg>
        <pc:spChg chg="del">
          <ac:chgData name="Jeet Patil" userId="31697e8a352859a5" providerId="LiveId" clId="{A77F8FD4-D25E-448C-99BF-863512566523}" dt="2026-08-09T06:15:54.907" v="88" actId="478"/>
          <ac:spMkLst>
            <pc:docMk/>
            <pc:sldMk cId="1109356102" sldId="264"/>
            <ac:spMk id="19" creationId="{7868A943-403F-4B67-8D96-010E2E33966E}"/>
          </ac:spMkLst>
        </pc:spChg>
        <pc:spChg chg="del">
          <ac:chgData name="Jeet Patil" userId="31697e8a352859a5" providerId="LiveId" clId="{A77F8FD4-D25E-448C-99BF-863512566523}" dt="2026-08-09T06:15:54.907" v="88" actId="478"/>
          <ac:spMkLst>
            <pc:docMk/>
            <pc:sldMk cId="1109356102" sldId="264"/>
            <ac:spMk id="21" creationId="{8ED5510E-A95D-44A9-98A6-EE445F4650AE}"/>
          </ac:spMkLst>
        </pc:spChg>
        <pc:spChg chg="del">
          <ac:chgData name="Jeet Patil" userId="31697e8a352859a5" providerId="LiveId" clId="{A77F8FD4-D25E-448C-99BF-863512566523}" dt="2026-08-09T06:15:54.907" v="88" actId="478"/>
          <ac:spMkLst>
            <pc:docMk/>
            <pc:sldMk cId="1109356102" sldId="264"/>
            <ac:spMk id="22" creationId="{FBC19FD9-F731-4C72-8C22-E123DD47F8D6}"/>
          </ac:spMkLst>
        </pc:spChg>
        <pc:spChg chg="del">
          <ac:chgData name="Jeet Patil" userId="31697e8a352859a5" providerId="LiveId" clId="{A77F8FD4-D25E-448C-99BF-863512566523}" dt="2026-08-09T06:15:54.907" v="88" actId="478"/>
          <ac:spMkLst>
            <pc:docMk/>
            <pc:sldMk cId="1109356102" sldId="264"/>
            <ac:spMk id="23" creationId="{0200E458-E958-461D-93D2-B59D92309FE4}"/>
          </ac:spMkLst>
        </pc:spChg>
        <pc:spChg chg="del mod">
          <ac:chgData name="Jeet Patil" userId="31697e8a352859a5" providerId="LiveId" clId="{A77F8FD4-D25E-448C-99BF-863512566523}" dt="2026-08-09T09:07:43.929" v="707" actId="478"/>
          <ac:spMkLst>
            <pc:docMk/>
            <pc:sldMk cId="1109356102" sldId="264"/>
            <ac:spMk id="25" creationId="{85E1217E-D764-469C-B8D2-73470947B576}"/>
          </ac:spMkLst>
        </pc:spChg>
        <pc:spChg chg="add del mod">
          <ac:chgData name="Jeet Patil" userId="31697e8a352859a5" providerId="LiveId" clId="{A77F8FD4-D25E-448C-99BF-863512566523}" dt="2026-08-09T09:46:37.134" v="869" actId="20577"/>
          <ac:spMkLst>
            <pc:docMk/>
            <pc:sldMk cId="1109356102" sldId="264"/>
            <ac:spMk id="26" creationId="{3BFCDF25-44BB-4ADB-AB1E-7C45C562532D}"/>
          </ac:spMkLst>
        </pc:spChg>
        <pc:spChg chg="add del mod">
          <ac:chgData name="Jeet Patil" userId="31697e8a352859a5" providerId="LiveId" clId="{A77F8FD4-D25E-448C-99BF-863512566523}" dt="2026-08-09T09:07:30.671" v="704"/>
          <ac:spMkLst>
            <pc:docMk/>
            <pc:sldMk cId="1109356102" sldId="264"/>
            <ac:spMk id="31" creationId="{743F7FD6-7D42-1D77-D712-56077D45AEA3}"/>
          </ac:spMkLst>
        </pc:spChg>
        <pc:spChg chg="add mod">
          <ac:chgData name="Jeet Patil" userId="31697e8a352859a5" providerId="LiveId" clId="{A77F8FD4-D25E-448C-99BF-863512566523}" dt="2026-08-09T09:46:49.947" v="872" actId="1076"/>
          <ac:spMkLst>
            <pc:docMk/>
            <pc:sldMk cId="1109356102" sldId="264"/>
            <ac:spMk id="33" creationId="{E58D72EF-74C8-CD2D-7B17-84AA2ABB4A78}"/>
          </ac:spMkLst>
        </pc:spChg>
      </pc:sldChg>
      <pc:sldChg chg="addSp modSp mod">
        <pc:chgData name="Jeet Patil" userId="31697e8a352859a5" providerId="LiveId" clId="{A77F8FD4-D25E-448C-99BF-863512566523}" dt="2026-08-09T10:02:02.422" v="963" actId="20577"/>
        <pc:sldMkLst>
          <pc:docMk/>
          <pc:sldMk cId="1975471405" sldId="265"/>
        </pc:sldMkLst>
        <pc:spChg chg="mod">
          <ac:chgData name="Jeet Patil" userId="31697e8a352859a5" providerId="LiveId" clId="{A77F8FD4-D25E-448C-99BF-863512566523}" dt="2026-08-09T09:48:31.262" v="880" actId="1076"/>
          <ac:spMkLst>
            <pc:docMk/>
            <pc:sldMk cId="1975471405" sldId="265"/>
            <ac:spMk id="2" creationId="{AD1F102F-1C47-47F1-A0B3-A7471559E6FF}"/>
          </ac:spMkLst>
        </pc:spChg>
        <pc:spChg chg="mod">
          <ac:chgData name="Jeet Patil" userId="31697e8a352859a5" providerId="LiveId" clId="{A77F8FD4-D25E-448C-99BF-863512566523}" dt="2026-08-09T09:51:09.042" v="944" actId="1076"/>
          <ac:spMkLst>
            <pc:docMk/>
            <pc:sldMk cId="1975471405" sldId="265"/>
            <ac:spMk id="3" creationId="{99B1B9C2-A911-40C3-8185-5B04DC1E3EAC}"/>
          </ac:spMkLst>
        </pc:spChg>
        <pc:spChg chg="mod">
          <ac:chgData name="Jeet Patil" userId="31697e8a352859a5" providerId="LiveId" clId="{A77F8FD4-D25E-448C-99BF-863512566523}" dt="2026-08-09T09:51:13.932" v="945" actId="1076"/>
          <ac:spMkLst>
            <pc:docMk/>
            <pc:sldMk cId="1975471405" sldId="265"/>
            <ac:spMk id="4" creationId="{8ACBA3C1-35E2-4266-9D40-A6DA267515F6}"/>
          </ac:spMkLst>
        </pc:spChg>
        <pc:spChg chg="mod">
          <ac:chgData name="Jeet Patil" userId="31697e8a352859a5" providerId="LiveId" clId="{A77F8FD4-D25E-448C-99BF-863512566523}" dt="2026-08-09T09:51:25.250" v="947" actId="1076"/>
          <ac:spMkLst>
            <pc:docMk/>
            <pc:sldMk cId="1975471405" sldId="265"/>
            <ac:spMk id="5" creationId="{A8243DAA-C98E-411B-A336-508B620F25B5}"/>
          </ac:spMkLst>
        </pc:spChg>
        <pc:spChg chg="mod">
          <ac:chgData name="Jeet Patil" userId="31697e8a352859a5" providerId="LiveId" clId="{A77F8FD4-D25E-448C-99BF-863512566523}" dt="2026-08-09T09:51:40.460" v="949" actId="1076"/>
          <ac:spMkLst>
            <pc:docMk/>
            <pc:sldMk cId="1975471405" sldId="265"/>
            <ac:spMk id="6" creationId="{4BF20FC3-50E6-41E1-845A-F1EFAF0F925F}"/>
          </ac:spMkLst>
        </pc:spChg>
        <pc:spChg chg="mod">
          <ac:chgData name="Jeet Patil" userId="31697e8a352859a5" providerId="LiveId" clId="{A77F8FD4-D25E-448C-99BF-863512566523}" dt="2026-08-09T09:51:40.460" v="949" actId="1076"/>
          <ac:spMkLst>
            <pc:docMk/>
            <pc:sldMk cId="1975471405" sldId="265"/>
            <ac:spMk id="7" creationId="{8A225739-5ECC-4449-AE07-BACDB8E7A7F0}"/>
          </ac:spMkLst>
        </pc:spChg>
        <pc:spChg chg="mod">
          <ac:chgData name="Jeet Patil" userId="31697e8a352859a5" providerId="LiveId" clId="{A77F8FD4-D25E-448C-99BF-863512566523}" dt="2026-08-09T09:51:40.460" v="949" actId="1076"/>
          <ac:spMkLst>
            <pc:docMk/>
            <pc:sldMk cId="1975471405" sldId="265"/>
            <ac:spMk id="8" creationId="{007CD139-026A-49B2-B76D-145DA8EA293C}"/>
          </ac:spMkLst>
        </pc:spChg>
        <pc:spChg chg="mod">
          <ac:chgData name="Jeet Patil" userId="31697e8a352859a5" providerId="LiveId" clId="{A77F8FD4-D25E-448C-99BF-863512566523}" dt="2026-08-09T09:51:40.460" v="949" actId="1076"/>
          <ac:spMkLst>
            <pc:docMk/>
            <pc:sldMk cId="1975471405" sldId="265"/>
            <ac:spMk id="9" creationId="{A255A43D-7B57-4FA2-9BB0-34EDC471D544}"/>
          </ac:spMkLst>
        </pc:spChg>
        <pc:spChg chg="mod">
          <ac:chgData name="Jeet Patil" userId="31697e8a352859a5" providerId="LiveId" clId="{A77F8FD4-D25E-448C-99BF-863512566523}" dt="2026-08-09T09:51:40.460" v="949" actId="1076"/>
          <ac:spMkLst>
            <pc:docMk/>
            <pc:sldMk cId="1975471405" sldId="265"/>
            <ac:spMk id="10" creationId="{15BE8F5C-5EE5-402D-A092-C5519878F976}"/>
          </ac:spMkLst>
        </pc:spChg>
        <pc:spChg chg="mod">
          <ac:chgData name="Jeet Patil" userId="31697e8a352859a5" providerId="LiveId" clId="{A77F8FD4-D25E-448C-99BF-863512566523}" dt="2026-08-09T09:51:40.460" v="949" actId="1076"/>
          <ac:spMkLst>
            <pc:docMk/>
            <pc:sldMk cId="1975471405" sldId="265"/>
            <ac:spMk id="11" creationId="{4239787A-42E4-4F64-98E2-EA520DAB1713}"/>
          </ac:spMkLst>
        </pc:spChg>
        <pc:spChg chg="mod">
          <ac:chgData name="Jeet Patil" userId="31697e8a352859a5" providerId="LiveId" clId="{A77F8FD4-D25E-448C-99BF-863512566523}" dt="2026-08-09T09:51:40.460" v="949" actId="1076"/>
          <ac:spMkLst>
            <pc:docMk/>
            <pc:sldMk cId="1975471405" sldId="265"/>
            <ac:spMk id="12" creationId="{ABF4E450-97FB-4DE1-9DC0-6D2CD4CCDBAE}"/>
          </ac:spMkLst>
        </pc:spChg>
        <pc:spChg chg="mod">
          <ac:chgData name="Jeet Patil" userId="31697e8a352859a5" providerId="LiveId" clId="{A77F8FD4-D25E-448C-99BF-863512566523}" dt="2026-08-09T09:51:40.460" v="949" actId="1076"/>
          <ac:spMkLst>
            <pc:docMk/>
            <pc:sldMk cId="1975471405" sldId="265"/>
            <ac:spMk id="13" creationId="{CABF8D07-9A9A-4E67-BFB7-7098D3235E57}"/>
          </ac:spMkLst>
        </pc:spChg>
        <pc:spChg chg="mod">
          <ac:chgData name="Jeet Patil" userId="31697e8a352859a5" providerId="LiveId" clId="{A77F8FD4-D25E-448C-99BF-863512566523}" dt="2026-08-09T09:49:05.775" v="889" actId="14100"/>
          <ac:spMkLst>
            <pc:docMk/>
            <pc:sldMk cId="1975471405" sldId="265"/>
            <ac:spMk id="14" creationId="{41EA54D6-F9FF-49D2-A5B5-1C349A560813}"/>
          </ac:spMkLst>
        </pc:spChg>
        <pc:spChg chg="add mod">
          <ac:chgData name="Jeet Patil" userId="31697e8a352859a5" providerId="LiveId" clId="{A77F8FD4-D25E-448C-99BF-863512566523}" dt="2026-08-09T10:02:02.422" v="963" actId="20577"/>
          <ac:spMkLst>
            <pc:docMk/>
            <pc:sldMk cId="1975471405" sldId="265"/>
            <ac:spMk id="19" creationId="{479011CA-196A-E15A-1554-0A028D2D4A16}"/>
          </ac:spMkLst>
        </pc:spChg>
        <pc:spChg chg="add mod">
          <ac:chgData name="Jeet Patil" userId="31697e8a352859a5" providerId="LiveId" clId="{A77F8FD4-D25E-448C-99BF-863512566523}" dt="2026-08-09T09:50:35.785" v="922" actId="1076"/>
          <ac:spMkLst>
            <pc:docMk/>
            <pc:sldMk cId="1975471405" sldId="265"/>
            <ac:spMk id="21" creationId="{97F74241-2951-5D1F-ED37-BF8AD0B0B9E1}"/>
          </ac:spMkLst>
        </pc:spChg>
        <pc:spChg chg="add mod">
          <ac:chgData name="Jeet Patil" userId="31697e8a352859a5" providerId="LiveId" clId="{A77F8FD4-D25E-448C-99BF-863512566523}" dt="2026-08-09T09:51:31.714" v="948" actId="1076"/>
          <ac:spMkLst>
            <pc:docMk/>
            <pc:sldMk cId="1975471405" sldId="265"/>
            <ac:spMk id="23" creationId="{12C1FE98-9984-23A1-4502-99A9B30663AC}"/>
          </ac:spMkLst>
        </pc:spChg>
      </pc:sldChg>
      <pc:sldChg chg="delSp modSp mod">
        <pc:chgData name="Jeet Patil" userId="31697e8a352859a5" providerId="LiveId" clId="{A77F8FD4-D25E-448C-99BF-863512566523}" dt="2026-08-09T10:28:37.958" v="1067" actId="1076"/>
        <pc:sldMkLst>
          <pc:docMk/>
          <pc:sldMk cId="1878523567" sldId="266"/>
        </pc:sldMkLst>
        <pc:spChg chg="mod">
          <ac:chgData name="Jeet Patil" userId="31697e8a352859a5" providerId="LiveId" clId="{A77F8FD4-D25E-448C-99BF-863512566523}" dt="2026-08-09T10:26:10.818" v="1059" actId="1076"/>
          <ac:spMkLst>
            <pc:docMk/>
            <pc:sldMk cId="1878523567" sldId="266"/>
            <ac:spMk id="2" creationId="{6CAEBC1F-9F5D-49D9-8351-540F85CB8130}"/>
          </ac:spMkLst>
        </pc:spChg>
        <pc:spChg chg="mod">
          <ac:chgData name="Jeet Patil" userId="31697e8a352859a5" providerId="LiveId" clId="{A77F8FD4-D25E-448C-99BF-863512566523}" dt="2026-08-09T10:26:08.338" v="1057" actId="1076"/>
          <ac:spMkLst>
            <pc:docMk/>
            <pc:sldMk cId="1878523567" sldId="266"/>
            <ac:spMk id="3" creationId="{23B8AEE5-0E03-4E09-B2F7-6659B39BF30D}"/>
          </ac:spMkLst>
        </pc:spChg>
        <pc:spChg chg="mod">
          <ac:chgData name="Jeet Patil" userId="31697e8a352859a5" providerId="LiveId" clId="{A77F8FD4-D25E-448C-99BF-863512566523}" dt="2026-08-09T10:26:08.338" v="1057" actId="1076"/>
          <ac:spMkLst>
            <pc:docMk/>
            <pc:sldMk cId="1878523567" sldId="266"/>
            <ac:spMk id="4" creationId="{B0340838-947A-4925-B11E-4924D01B4255}"/>
          </ac:spMkLst>
        </pc:spChg>
        <pc:spChg chg="mod">
          <ac:chgData name="Jeet Patil" userId="31697e8a352859a5" providerId="LiveId" clId="{A77F8FD4-D25E-448C-99BF-863512566523}" dt="2026-08-09T10:26:08.338" v="1057" actId="1076"/>
          <ac:spMkLst>
            <pc:docMk/>
            <pc:sldMk cId="1878523567" sldId="266"/>
            <ac:spMk id="5" creationId="{EABBB5D0-68C4-4A09-B891-797357FF352E}"/>
          </ac:spMkLst>
        </pc:spChg>
        <pc:spChg chg="del mod">
          <ac:chgData name="Jeet Patil" userId="31697e8a352859a5" providerId="LiveId" clId="{A77F8FD4-D25E-448C-99BF-863512566523}" dt="2026-08-09T10:27:32.822" v="1064" actId="478"/>
          <ac:spMkLst>
            <pc:docMk/>
            <pc:sldMk cId="1878523567" sldId="266"/>
            <ac:spMk id="6" creationId="{47C8973D-E695-406B-8D59-3B9F58990591}"/>
          </ac:spMkLst>
        </pc:spChg>
        <pc:spChg chg="mod">
          <ac:chgData name="Jeet Patil" userId="31697e8a352859a5" providerId="LiveId" clId="{A77F8FD4-D25E-448C-99BF-863512566523}" dt="2026-08-09T10:26:25.683" v="1061" actId="14100"/>
          <ac:spMkLst>
            <pc:docMk/>
            <pc:sldMk cId="1878523567" sldId="266"/>
            <ac:spMk id="7" creationId="{1CE72EC1-5F09-4860-8098-ED61AE5C5CA8}"/>
          </ac:spMkLst>
        </pc:spChg>
        <pc:spChg chg="mod">
          <ac:chgData name="Jeet Patil" userId="31697e8a352859a5" providerId="LiveId" clId="{A77F8FD4-D25E-448C-99BF-863512566523}" dt="2026-08-09T10:26:19.715" v="1060" actId="1076"/>
          <ac:spMkLst>
            <pc:docMk/>
            <pc:sldMk cId="1878523567" sldId="266"/>
            <ac:spMk id="8" creationId="{A66EBED7-368F-4BD2-987C-06C202859DAF}"/>
          </ac:spMkLst>
        </pc:spChg>
        <pc:spChg chg="mod">
          <ac:chgData name="Jeet Patil" userId="31697e8a352859a5" providerId="LiveId" clId="{A77F8FD4-D25E-448C-99BF-863512566523}" dt="2026-08-09T10:26:19.715" v="1060" actId="1076"/>
          <ac:spMkLst>
            <pc:docMk/>
            <pc:sldMk cId="1878523567" sldId="266"/>
            <ac:spMk id="9" creationId="{684EC407-DB51-4876-BFB4-05E001FA39A4}"/>
          </ac:spMkLst>
        </pc:spChg>
        <pc:spChg chg="del">
          <ac:chgData name="Jeet Patil" userId="31697e8a352859a5" providerId="LiveId" clId="{A77F8FD4-D25E-448C-99BF-863512566523}" dt="2026-08-09T10:25:22.282" v="1046" actId="478"/>
          <ac:spMkLst>
            <pc:docMk/>
            <pc:sldMk cId="1878523567" sldId="266"/>
            <ac:spMk id="10" creationId="{C5EE77D5-6F9D-4CC4-8086-91540C63D3D2}"/>
          </ac:spMkLst>
        </pc:spChg>
        <pc:spChg chg="del">
          <ac:chgData name="Jeet Patil" userId="31697e8a352859a5" providerId="LiveId" clId="{A77F8FD4-D25E-448C-99BF-863512566523}" dt="2026-08-09T10:25:14.866" v="1042" actId="478"/>
          <ac:spMkLst>
            <pc:docMk/>
            <pc:sldMk cId="1878523567" sldId="266"/>
            <ac:spMk id="11" creationId="{F4809E6F-0E9D-4893-ABB9-40890184E861}"/>
          </ac:spMkLst>
        </pc:spChg>
        <pc:spChg chg="del mod">
          <ac:chgData name="Jeet Patil" userId="31697e8a352859a5" providerId="LiveId" clId="{A77F8FD4-D25E-448C-99BF-863512566523}" dt="2026-08-09T10:25:21.130" v="1045" actId="478"/>
          <ac:spMkLst>
            <pc:docMk/>
            <pc:sldMk cId="1878523567" sldId="266"/>
            <ac:spMk id="12" creationId="{A445FE21-625A-4CD9-BF45-F77B1B9CF496}"/>
          </ac:spMkLst>
        </pc:spChg>
        <pc:spChg chg="del">
          <ac:chgData name="Jeet Patil" userId="31697e8a352859a5" providerId="LiveId" clId="{A77F8FD4-D25E-448C-99BF-863512566523}" dt="2026-08-09T10:25:18.853" v="1043" actId="478"/>
          <ac:spMkLst>
            <pc:docMk/>
            <pc:sldMk cId="1878523567" sldId="266"/>
            <ac:spMk id="13" creationId="{A6086F25-51A7-4FA2-B4E0-F2EE19982581}"/>
          </ac:spMkLst>
        </pc:spChg>
        <pc:spChg chg="mod">
          <ac:chgData name="Jeet Patil" userId="31697e8a352859a5" providerId="LiveId" clId="{A77F8FD4-D25E-448C-99BF-863512566523}" dt="2026-08-09T10:28:37.958" v="1067" actId="1076"/>
          <ac:spMkLst>
            <pc:docMk/>
            <pc:sldMk cId="1878523567" sldId="266"/>
            <ac:spMk id="14" creationId="{F2EF1638-AD95-4157-A2AC-4B2FD25D2208}"/>
          </ac:spMkLst>
        </pc:spChg>
      </pc:sldChg>
    </pc:docChg>
  </pc:docChgLst>
</pc:chgInfo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"/>
          <p:cNvSpPr>
            <a:spLocks noGrp="1"/>
          </p:cNvSpPr>
          <p:nvPr>
            <p:ph type="hdr" sz="quarter"/>
          </p:nvPr>
        </p:nvSpPr>
        <p:spPr>
          <a:prstGeom prst="rect">
            <a:avLst/>
          </a:prstGeom>
        </p:spPr>
        <p:txBody>
          <a:bodyPr/>
          <a:lstStyle/>
          <a:p>
            <a:endParaRPr/>
          </a:p>
        </p:txBody>
      </p:sp>
      <p:sp>
        <p:nvSpPr>
          <p:cNvPr id="3" name="Date Placeholder"/>
          <p:cNvSpPr>
            <a:spLocks noGrp="1"/>
          </p:cNvSpPr>
          <p:nvPr>
            <p:ph type="dt" sz="quarter" idx="1"/>
          </p:nvPr>
        </p:nvSpPr>
        <p:spPr>
          <a:prstGeom prst="rect">
            <a:avLst/>
          </a:prstGeom>
        </p:spPr>
        <p:txBody>
          <a:bodyPr/>
          <a:lstStyle/>
          <a:p>
            <a:endParaRPr/>
          </a:p>
        </p:txBody>
      </p:sp>
      <p:sp>
        <p:nvSpPr>
          <p:cNvPr id="4" name="Slide Image Placeholder"/>
          <p:cNvSpPr>
            <a:spLocks noGrp="1" noRot="1" noChangeAspect="1"/>
          </p:cNvSpPr>
          <p:nvPr>
            <p:ph type="sldImg" idx="2"/>
          </p:nvPr>
        </p:nvSpPr>
        <p:spPr>
          <a:prstGeom prst="rect">
            <a:avLst/>
          </a:prstGeom>
        </p:spPr>
        <p:txBody>
          <a:bodyPr/>
          <a:lstStyle/>
          <a:p>
            <a:endParaRPr/>
          </a:p>
        </p:txBody>
      </p:sp>
      <p:sp>
        <p:nvSpPr>
          <p:cNvPr id="5" name="Notes Placeholder"/>
          <p:cNvSpPr>
            <a:spLocks noGrp="1"/>
          </p:cNvSpPr>
          <p:nvPr>
            <p:ph type="body" sz="quarter" idx="3"/>
          </p:nvPr>
        </p:nvSpPr>
        <p:spPr>
          <a:prstGeom prst="rect">
            <a:avLst/>
          </a:prstGeom>
        </p:spPr>
        <p:txBody>
          <a:bodyPr/>
          <a:lstStyle/>
          <a:p>
            <a:endParaRPr/>
          </a:p>
        </p:txBody>
      </p:sp>
      <p:sp>
        <p:nvSpPr>
          <p:cNvPr id="6" name="Footer Placeholder"/>
          <p:cNvSpPr>
            <a:spLocks noGrp="1"/>
          </p:cNvSpPr>
          <p:nvPr>
            <p:ph type="ftr" sz="quarter" idx="4"/>
          </p:nvPr>
        </p:nvSpPr>
        <p:spPr>
          <a:prstGeom prst="rect">
            <a:avLst/>
          </a:prstGeom>
        </p:spPr>
        <p:txBody>
          <a:bodyPr/>
          <a:lstStyle/>
          <a:p>
            <a:endParaRPr/>
          </a:p>
        </p:txBody>
      </p:sp>
      <p:sp>
        <p:nvSpPr>
          <p:cNvPr id="7" name="Slide Number Placeholder"/>
          <p:cNvSpPr>
            <a:spLocks noGrp="1"/>
          </p:cNvSpPr>
          <p:nvPr>
            <p:ph type="sldNum" sz="quarter" idx="5"/>
          </p:nvPr>
        </p:nvSpPr>
        <p:spPr>
          <a:prstGeom prst="rect">
            <a:avLst/>
          </a:prstGeom>
        </p:spPr>
        <p:txBody>
          <a:bodyPr/>
          <a:lstStyle/>
          <a:p>
            <a:endParaRPr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/>
    </a:lvl1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7.xml"/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8.xml"/><Relationship Id="rId1" Type="http://schemas.openxmlformats.org/officeDocument/2006/relationships/notesMaster" Target="../notesMasters/notesMaster1.xml"/></Relationships>
</file>

<file path=ppt/notesSlides/_rels/notesSlide1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9.xml"/><Relationship Id="rId1" Type="http://schemas.openxmlformats.org/officeDocument/2006/relationships/notesMaster" Target="../notesMasters/notesMaster1.xml"/></Relationships>
</file>

<file path=ppt/notesSlides/_rels/notesSlide2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0.xml"/><Relationship Id="rId1" Type="http://schemas.openxmlformats.org/officeDocument/2006/relationships/notesMaster" Target="../notesMasters/notesMaster1.xml"/></Relationships>
</file>

<file path=ppt/notesSlides/_rels/notesSlide2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1.xml"/><Relationship Id="rId1" Type="http://schemas.openxmlformats.org/officeDocument/2006/relationships/notesMaster" Target="../notesMasters/notesMaster1.xml"/></Relationships>
</file>

<file path=ppt/notesSlides/_rels/notesSlide2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2.xml"/><Relationship Id="rId1" Type="http://schemas.openxmlformats.org/officeDocument/2006/relationships/notesMaster" Target="../notesMasters/notesMaster1.xml"/></Relationships>
</file>

<file path=ppt/notesSlides/_rels/notesSlide2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3.xml"/><Relationship Id="rId1" Type="http://schemas.openxmlformats.org/officeDocument/2006/relationships/notesMaster" Target="../notesMasters/notesMaster1.xml"/></Relationships>
</file>

<file path=ppt/notesSlides/_rels/notesSlide2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4.xml"/><Relationship Id="rId1" Type="http://schemas.openxmlformats.org/officeDocument/2006/relationships/notesMaster" Target="../notesMasters/notesMaster1.xml"/></Relationships>
</file>

<file path=ppt/notesSlides/_rels/notesSlide2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5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/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/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/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/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/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/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/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/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/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/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/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/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/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/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/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/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/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/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/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/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/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/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/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2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/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2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/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 name="Master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txStyles>
    <p:titleStyle>
      <a:lvl1pPr algn="l">
        <a:lnSpc>
          <a:spcPct val="90000"/>
        </a:lnSpc>
        <a:spcBef>
          <a:spcPts val="0"/>
        </a:spcBef>
        <a:buNone/>
        <a:defRPr sz="4400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marL="228600" indent="-228600" algn="l">
        <a:lnSpc>
          <a:spcPct val="90000"/>
        </a:lnSpc>
        <a:spcBef>
          <a:spcPts val="1000"/>
        </a:spcBef>
        <a:buChar char="•"/>
        <a:defRPr sz="2800">
          <a:solidFill>
            <a:schemeClr val="tx1"/>
          </a:solidFill>
          <a:latin typeface="+mn-lt"/>
          <a:ea typeface="+mn-lt"/>
          <a:cs typeface="+mn-lt"/>
        </a:defRPr>
      </a:lvl1pPr>
      <a:lvl2pPr marL="685800" indent="-228600" algn="l">
        <a:lnSpc>
          <a:spcPct val="90000"/>
        </a:lnSpc>
        <a:spcBef>
          <a:spcPts val="500"/>
        </a:spcBef>
        <a:buChar char="•"/>
        <a:defRPr sz="2400">
          <a:solidFill>
            <a:schemeClr val="tx1"/>
          </a:solidFill>
          <a:latin typeface="+mn-lt"/>
          <a:ea typeface="+mn-lt"/>
          <a:cs typeface="+mn-lt"/>
        </a:defRPr>
      </a:lvl2pPr>
      <a:lvl3pPr marL="1143000" indent="-228600" algn="l">
        <a:lnSpc>
          <a:spcPct val="90000"/>
        </a:lnSpc>
        <a:spcBef>
          <a:spcPts val="500"/>
        </a:spcBef>
        <a:buChar char="•"/>
        <a:defRPr sz="2000">
          <a:solidFill>
            <a:schemeClr val="tx1"/>
          </a:solidFill>
          <a:latin typeface="+mn-lt"/>
          <a:ea typeface="+mn-lt"/>
          <a:cs typeface="+mn-lt"/>
        </a:defRPr>
      </a:lvl3pPr>
      <a:lvl4pPr marL="1600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marL="20574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marL="25146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marL="29718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marL="34290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marL="3886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marL="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1pPr>
      <a:lvl2pPr marL="457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2pPr>
      <a:lvl3pPr marL="914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3pPr>
      <a:lvl4pPr marL="1371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marL="18288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marL="22860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marL="2743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marL="3200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marL="3657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sv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1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1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1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1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1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1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6.xml"/><Relationship Id="rId1" Type="http://schemas.openxmlformats.org/officeDocument/2006/relationships/slideLayout" Target="../slideLayouts/slideLayout1.xml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7.xml"/><Relationship Id="rId1" Type="http://schemas.openxmlformats.org/officeDocument/2006/relationships/slideLayout" Target="../slideLayouts/slideLayout1.xml"/></Relationships>
</file>

<file path=ppt/slides/_rels/slide1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8.xml"/><Relationship Id="rId1" Type="http://schemas.openxmlformats.org/officeDocument/2006/relationships/slideLayout" Target="../slideLayouts/slideLayout1.xml"/></Relationships>
</file>

<file path=ppt/slides/_rels/slide1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9.xml"/><Relationship Id="rId1" Type="http://schemas.openxmlformats.org/officeDocument/2006/relationships/slideLayout" Target="../slideLayouts/slideLayout1.xml"/></Relationships>
</file>

<file path=ppt/slides/_rels/slide2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0.xml"/><Relationship Id="rId1" Type="http://schemas.openxmlformats.org/officeDocument/2006/relationships/slideLayout" Target="../slideLayouts/slideLayout1.xml"/></Relationships>
</file>

<file path=ppt/slides/_rels/slide2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1.xml"/><Relationship Id="rId1" Type="http://schemas.openxmlformats.org/officeDocument/2006/relationships/slideLayout" Target="../slideLayouts/slideLayout1.xml"/></Relationships>
</file>

<file path=ppt/slides/_rels/slide2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2.xml"/><Relationship Id="rId1" Type="http://schemas.openxmlformats.org/officeDocument/2006/relationships/slideLayout" Target="../slideLayouts/slideLayout1.xml"/></Relationships>
</file>

<file path=ppt/slides/_rels/slide2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3.xml"/><Relationship Id="rId1" Type="http://schemas.openxmlformats.org/officeDocument/2006/relationships/slideLayout" Target="../slideLayouts/slideLayout1.xml"/></Relationships>
</file>

<file path=ppt/slides/_rels/slide2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4.xml"/><Relationship Id="rId1" Type="http://schemas.openxmlformats.org/officeDocument/2006/relationships/slideLayout" Target="../slideLayouts/slideLayout1.xml"/></Relationships>
</file>

<file path=ppt/slides/_rels/slide2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5.xml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Rectangle 5">
            <a:extLst>
              <a:ext uri="{FF2B5EF4-FFF2-40B4-BE49-F238E27FC236}">
                <a16:creationId xmlns:a16="http://schemas.microsoft.com/office/drawing/2014/main" id="{5C0D0891-F88C-4343-A4AC-5E84897C9CA7}"/>
              </a:ext>
            </a:extLst>
          </p:cNvPr>
          <p:cNvSpPr>
            <a:spLocks noGrp="1"/>
          </p:cNvSpPr>
          <p:nvPr/>
        </p:nvSpPr>
        <p:spPr>
          <a:xfrm>
            <a:off x="685800" y="666750"/>
            <a:ext cx="4953000" cy="2286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/>
          <a:lstStyle/>
          <a:p>
            <a:pPr algn="l">
              <a:defRPr sz="1200" b="1">
                <a:solidFill>
                  <a:srgbClr val="000000"/>
                </a:solidFill>
              </a:defRPr>
            </a:pPr>
            <a:r>
              <a:rPr sz="1200" b="1">
                <a:solidFill>
                  <a:srgbClr val="000000"/>
                </a:solidFill>
              </a:rPr>
              <a:t>TEAM VOLTERE | ELEC-03</a:t>
            </a:r>
          </a:p>
        </p:txBody>
      </p:sp>
      <p:sp>
        <p:nvSpPr>
          <p:cNvPr id="2" name="Rectangle 1">
            <a:extLst>
              <a:ext uri="{FF2B5EF4-FFF2-40B4-BE49-F238E27FC236}">
                <a16:creationId xmlns:a16="http://schemas.microsoft.com/office/drawing/2014/main" id="{67CD614E-3F85-4A24-83E9-7977EE8B9E46}"/>
              </a:ext>
            </a:extLst>
          </p:cNvPr>
          <p:cNvSpPr>
            <a:spLocks noGrp="1"/>
          </p:cNvSpPr>
          <p:nvPr/>
        </p:nvSpPr>
        <p:spPr>
          <a:xfrm>
            <a:off x="685800" y="1257300"/>
            <a:ext cx="9144000" cy="12382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/>
          <a:lstStyle/>
          <a:p>
            <a:pPr algn="l">
              <a:defRPr sz="3450" b="1">
                <a:solidFill>
                  <a:srgbClr val="000000"/>
                </a:solidFill>
              </a:defRPr>
            </a:pPr>
            <a:r>
              <a:rPr sz="3450" b="1">
                <a:solidFill>
                  <a:srgbClr val="000000"/>
                </a:solidFill>
              </a:rPr>
              <a:t>Design and Implementation of an</a:t>
            </a:r>
          </a:p>
          <a:p>
            <a:pPr algn="l">
              <a:defRPr sz="3450" b="1">
                <a:solidFill>
                  <a:srgbClr val="000000"/>
                </a:solidFill>
              </a:defRPr>
            </a:pPr>
            <a:r>
              <a:rPr sz="3450" b="1">
                <a:solidFill>
                  <a:srgbClr val="000000"/>
                </a:solidFill>
              </a:rPr>
              <a:t>8-bit Pipelined Microprocessor in Verilog</a:t>
            </a:r>
          </a:p>
        </p:txBody>
      </p:sp>
      <p:sp>
        <p:nvSpPr>
          <p:cNvPr id="3" name="Rectangle 2">
            <a:extLst>
              <a:ext uri="{FF2B5EF4-FFF2-40B4-BE49-F238E27FC236}">
                <a16:creationId xmlns:a16="http://schemas.microsoft.com/office/drawing/2014/main" id="{CDCE240E-A048-4EA3-926B-79C082E63F73}"/>
              </a:ext>
            </a:extLst>
          </p:cNvPr>
          <p:cNvSpPr>
            <a:spLocks noGrp="1"/>
          </p:cNvSpPr>
          <p:nvPr/>
        </p:nvSpPr>
        <p:spPr>
          <a:xfrm>
            <a:off x="685800" y="2762250"/>
            <a:ext cx="8572500" cy="6286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/>
          <a:lstStyle/>
          <a:p>
            <a:pPr algn="l">
              <a:defRPr sz="1575" b="0">
                <a:solidFill>
                  <a:srgbClr val="000000"/>
                </a:solidFill>
              </a:defRPr>
            </a:pPr>
            <a:r>
              <a:rPr sz="1575" b="0">
                <a:solidFill>
                  <a:srgbClr val="000000"/>
                </a:solidFill>
              </a:rPr>
              <a:t>A 5-stage, hazard-resilient CPU with recursive subroutines,</a:t>
            </a:r>
          </a:p>
          <a:p>
            <a:pPr algn="l">
              <a:defRPr sz="1575" b="0">
                <a:solidFill>
                  <a:srgbClr val="000000"/>
                </a:solidFill>
              </a:defRPr>
            </a:pPr>
            <a:r>
              <a:rPr sz="1575" b="0">
                <a:solidFill>
                  <a:srgbClr val="000000"/>
                </a:solidFill>
              </a:rPr>
              <a:t>precise exception handling, and memory-mapped peripherals</a:t>
            </a:r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71DC9AF7-1F6C-4053-9BBA-43CAFFDBFC8C}"/>
              </a:ext>
            </a:extLst>
          </p:cNvPr>
          <p:cNvSpPr>
            <a:spLocks noGrp="1"/>
          </p:cNvSpPr>
          <p:nvPr/>
        </p:nvSpPr>
        <p:spPr>
          <a:xfrm>
            <a:off x="685800" y="5286375"/>
            <a:ext cx="4762500" cy="4572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/>
          <a:lstStyle/>
          <a:p>
            <a:pPr algn="l">
              <a:defRPr sz="1350" b="0">
                <a:solidFill>
                  <a:srgbClr val="000000"/>
                </a:solidFill>
              </a:defRPr>
            </a:pPr>
            <a:r>
              <a:rPr sz="1350" b="0">
                <a:solidFill>
                  <a:srgbClr val="000000"/>
                </a:solidFill>
              </a:rPr>
              <a:t>Indian Institute of Technology Indore</a:t>
            </a:r>
          </a:p>
          <a:p>
            <a:pPr algn="l">
              <a:defRPr sz="1350" b="0">
                <a:solidFill>
                  <a:srgbClr val="000000"/>
                </a:solidFill>
              </a:defRPr>
            </a:pPr>
            <a:r>
              <a:rPr sz="1350" b="0">
                <a:solidFill>
                  <a:srgbClr val="000000"/>
                </a:solidFill>
              </a:rPr>
              <a:t>Science &amp; Technology Council</a:t>
            </a:r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217D97F0-B834-440B-856D-D8AF091A53CF}"/>
              </a:ext>
            </a:extLst>
          </p:cNvPr>
          <p:cNvSpPr>
            <a:spLocks noGrp="1"/>
          </p:cNvSpPr>
          <p:nvPr/>
        </p:nvSpPr>
        <p:spPr>
          <a:xfrm>
            <a:off x="685800" y="6162675"/>
            <a:ext cx="2095500" cy="2095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/>
          <a:lstStyle/>
          <a:p>
            <a:pPr algn="l">
              <a:defRPr sz="1125" b="1">
                <a:solidFill>
                  <a:srgbClr val="000000"/>
                </a:solidFill>
              </a:defRPr>
            </a:pPr>
            <a:r>
              <a:rPr sz="1125" b="1">
                <a:solidFill>
                  <a:srgbClr val="000000"/>
                </a:solidFill>
              </a:rPr>
              <a:t>IITISoC 2026</a:t>
            </a:r>
          </a:p>
        </p:txBody>
      </p:sp>
    </p:spTree>
    <p:extLst>
      <p:ext uri="{BB962C8B-B14F-4D97-AF65-F5344CB8AC3E}">
        <p14:creationId xmlns:p14="http://schemas.microsoft.com/office/powerpoint/2010/main" val="1111892857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Rectangle 10">
            <a:extLst>
              <a:ext uri="{FF2B5EF4-FFF2-40B4-BE49-F238E27FC236}">
                <a16:creationId xmlns:a16="http://schemas.microsoft.com/office/drawing/2014/main" id="{593976F7-C6E1-4B71-ABFE-BFF6119D4B0E}"/>
              </a:ext>
            </a:extLst>
          </p:cNvPr>
          <p:cNvSpPr>
            <a:spLocks noGrp="1"/>
          </p:cNvSpPr>
          <p:nvPr/>
        </p:nvSpPr>
        <p:spPr>
          <a:xfrm>
            <a:off x="685800" y="342900"/>
            <a:ext cx="5715000" cy="2095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/>
          <a:lstStyle/>
          <a:p>
            <a:pPr algn="l">
              <a:defRPr sz="975" b="1">
                <a:solidFill>
                  <a:srgbClr val="000000"/>
                </a:solidFill>
              </a:defRPr>
            </a:pPr>
            <a:r>
              <a:rPr sz="975" b="1">
                <a:solidFill>
                  <a:srgbClr val="000000"/>
                </a:solidFill>
              </a:rPr>
              <a:t>TEAM VOLTERE | IITISoC 2026</a:t>
            </a:r>
          </a:p>
        </p:txBody>
      </p:sp>
      <p:sp>
        <p:nvSpPr>
          <p:cNvPr id="2" name="Rectangle 1">
            <a:extLst>
              <a:ext uri="{FF2B5EF4-FFF2-40B4-BE49-F238E27FC236}">
                <a16:creationId xmlns:a16="http://schemas.microsoft.com/office/drawing/2014/main" id="{CCB89E22-2FB2-4F8F-B1D5-77163A48E918}"/>
              </a:ext>
            </a:extLst>
          </p:cNvPr>
          <p:cNvSpPr>
            <a:spLocks noGrp="1"/>
          </p:cNvSpPr>
          <p:nvPr/>
        </p:nvSpPr>
        <p:spPr>
          <a:xfrm>
            <a:off x="685800" y="628650"/>
            <a:ext cx="10763250" cy="5143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/>
          <a:lstStyle/>
          <a:p>
            <a:pPr algn="l">
              <a:defRPr sz="2550" b="1">
                <a:solidFill>
                  <a:srgbClr val="000000"/>
                </a:solidFill>
              </a:defRPr>
            </a:pPr>
            <a:r>
              <a:rPr sz="2550" b="1">
                <a:solidFill>
                  <a:srgbClr val="000000"/>
                </a:solidFill>
              </a:rPr>
              <a:t>The challenge: execute a custom ISA safely in a pipeline</a:t>
            </a:r>
          </a:p>
        </p:txBody>
      </p:sp>
      <p:sp>
        <p:nvSpPr>
          <p:cNvPr id="3" name="Rectangle 2">
            <a:extLst>
              <a:ext uri="{FF2B5EF4-FFF2-40B4-BE49-F238E27FC236}">
                <a16:creationId xmlns:a16="http://schemas.microsoft.com/office/drawing/2014/main" id="{F0A8E545-1270-4C7D-AC6D-DF43215FAE28}"/>
              </a:ext>
            </a:extLst>
          </p:cNvPr>
          <p:cNvSpPr>
            <a:spLocks noGrp="1"/>
          </p:cNvSpPr>
          <p:nvPr/>
        </p:nvSpPr>
        <p:spPr>
          <a:xfrm>
            <a:off x="933450" y="1600200"/>
            <a:ext cx="7810500" cy="33337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/>
          <a:lstStyle/>
          <a:p>
            <a:pPr algn="l">
              <a:defRPr sz="1725" b="0">
                <a:solidFill>
                  <a:srgbClr val="000000"/>
                </a:solidFill>
              </a:defRPr>
            </a:pPr>
            <a:r>
              <a:rPr sz="1725" b="0">
                <a:solidFill>
                  <a:srgbClr val="000000"/>
                </a:solidFill>
              </a:rPr>
              <a:t>•  Immediate-value loading and register arithmetic</a:t>
            </a:r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CD0AD1FC-41A3-44F0-8DDE-13F4176D7FA0}"/>
              </a:ext>
            </a:extLst>
          </p:cNvPr>
          <p:cNvSpPr>
            <a:spLocks noGrp="1"/>
          </p:cNvSpPr>
          <p:nvPr/>
        </p:nvSpPr>
        <p:spPr>
          <a:xfrm>
            <a:off x="933450" y="2057400"/>
            <a:ext cx="7810500" cy="33337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/>
          <a:lstStyle/>
          <a:p>
            <a:pPr algn="l">
              <a:defRPr sz="1725" b="0">
                <a:solidFill>
                  <a:srgbClr val="000000"/>
                </a:solidFill>
              </a:defRPr>
            </a:pPr>
            <a:r>
              <a:rPr sz="1725" b="0">
                <a:solidFill>
                  <a:srgbClr val="000000"/>
                </a:solidFill>
              </a:rPr>
              <a:t>•  Data-memory load and store operations</a:t>
            </a:r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C132C84B-17FB-46B5-90F2-9D94F028EE49}"/>
              </a:ext>
            </a:extLst>
          </p:cNvPr>
          <p:cNvSpPr>
            <a:spLocks noGrp="1"/>
          </p:cNvSpPr>
          <p:nvPr/>
        </p:nvSpPr>
        <p:spPr>
          <a:xfrm>
            <a:off x="933450" y="2514600"/>
            <a:ext cx="7810500" cy="33337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/>
          <a:lstStyle/>
          <a:p>
            <a:pPr algn="l">
              <a:defRPr sz="1725" b="0">
                <a:solidFill>
                  <a:srgbClr val="000000"/>
                </a:solidFill>
              </a:defRPr>
            </a:pPr>
            <a:r>
              <a:rPr sz="1725" b="0">
                <a:solidFill>
                  <a:srgbClr val="000000"/>
                </a:solidFill>
              </a:rPr>
              <a:t>•  Conditional and unconditional control flow</a:t>
            </a:r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D5930268-623A-483F-9174-EC921298BB37}"/>
              </a:ext>
            </a:extLst>
          </p:cNvPr>
          <p:cNvSpPr>
            <a:spLocks noGrp="1"/>
          </p:cNvSpPr>
          <p:nvPr/>
        </p:nvSpPr>
        <p:spPr>
          <a:xfrm>
            <a:off x="933450" y="2971800"/>
            <a:ext cx="7810500" cy="33337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/>
          <a:lstStyle/>
          <a:p>
            <a:pPr algn="l">
              <a:defRPr sz="1725" b="0">
                <a:solidFill>
                  <a:srgbClr val="000000"/>
                </a:solidFill>
              </a:defRPr>
            </a:pPr>
            <a:r>
              <a:rPr sz="1725" b="0">
                <a:solidFill>
                  <a:srgbClr val="000000"/>
                </a:solidFill>
              </a:rPr>
              <a:t>•  Correct execution despite data and control hazards</a:t>
            </a:r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00FC3691-2556-4CB2-BB67-4E8495B584FD}"/>
              </a:ext>
            </a:extLst>
          </p:cNvPr>
          <p:cNvSpPr>
            <a:spLocks noGrp="1"/>
          </p:cNvSpPr>
          <p:nvPr/>
        </p:nvSpPr>
        <p:spPr>
          <a:xfrm>
            <a:off x="933450" y="3429000"/>
            <a:ext cx="7810500" cy="33337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/>
          <a:lstStyle/>
          <a:p>
            <a:pPr algn="l">
              <a:defRPr sz="1725" b="0">
                <a:solidFill>
                  <a:srgbClr val="000000"/>
                </a:solidFill>
              </a:defRPr>
            </a:pPr>
            <a:r>
              <a:rPr sz="1725" b="0">
                <a:solidFill>
                  <a:srgbClr val="000000"/>
                </a:solidFill>
              </a:rPr>
              <a:t>•  Fully synthesizable Verilog implementation</a:t>
            </a:r>
          </a:p>
        </p:txBody>
      </p:sp>
      <p:sp>
        <p:nvSpPr>
          <p:cNvPr id="8" name="Rectangle 7">
            <a:extLst>
              <a:ext uri="{FF2B5EF4-FFF2-40B4-BE49-F238E27FC236}">
                <a16:creationId xmlns:a16="http://schemas.microsoft.com/office/drawing/2014/main" id="{43261F28-44B5-41D7-8BD6-C0412DA5AA51}"/>
              </a:ext>
            </a:extLst>
          </p:cNvPr>
          <p:cNvSpPr>
            <a:spLocks noGrp="1"/>
          </p:cNvSpPr>
          <p:nvPr/>
        </p:nvSpPr>
        <p:spPr>
          <a:xfrm>
            <a:off x="933450" y="5000625"/>
            <a:ext cx="8572500" cy="52387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/>
          <a:lstStyle/>
          <a:p>
            <a:pPr algn="l">
              <a:defRPr sz="1800" b="1">
                <a:solidFill>
                  <a:srgbClr val="000000"/>
                </a:solidFill>
              </a:defRPr>
            </a:pPr>
            <a:r>
              <a:rPr sz="1800" b="1">
                <a:solidFill>
                  <a:srgbClr val="000000"/>
                </a:solidFill>
              </a:rPr>
              <a:t>Our objective was to keep hazard handling inside hardware, so assembly programs do not need inserted NOP instructions.</a:t>
            </a:r>
          </a:p>
        </p:txBody>
      </p:sp>
      <p:sp>
        <p:nvSpPr>
          <p:cNvPr id="9" name="Rectangle 8">
            <a:extLst>
              <a:ext uri="{FF2B5EF4-FFF2-40B4-BE49-F238E27FC236}">
                <a16:creationId xmlns:a16="http://schemas.microsoft.com/office/drawing/2014/main" id="{22728DC3-5183-462D-B872-00AAD9B1CC3C}"/>
              </a:ext>
            </a:extLst>
          </p:cNvPr>
          <p:cNvSpPr>
            <a:spLocks noGrp="1"/>
          </p:cNvSpPr>
          <p:nvPr/>
        </p:nvSpPr>
        <p:spPr>
          <a:xfrm>
            <a:off x="685800" y="6496050"/>
            <a:ext cx="7048500" cy="1714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/>
          <a:lstStyle/>
          <a:p>
            <a:pPr algn="l">
              <a:defRPr sz="825" b="0">
                <a:solidFill>
                  <a:srgbClr val="000000"/>
                </a:solidFill>
              </a:defRPr>
            </a:pPr>
            <a:r>
              <a:rPr sz="825" b="0">
                <a:solidFill>
                  <a:srgbClr val="000000"/>
                </a:solidFill>
              </a:rPr>
              <a:t>Team VOLTERE | 8-bit Pipelined Microprocessor</a:t>
            </a:r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DE42BA5B-07CB-4D8D-8AA8-1615A33F0269}"/>
              </a:ext>
            </a:extLst>
          </p:cNvPr>
          <p:cNvSpPr>
            <a:spLocks noGrp="1"/>
          </p:cNvSpPr>
          <p:nvPr/>
        </p:nvSpPr>
        <p:spPr>
          <a:xfrm>
            <a:off x="11001375" y="6477000"/>
            <a:ext cx="495300" cy="1714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/>
          <a:lstStyle/>
          <a:p>
            <a:pPr algn="r">
              <a:defRPr sz="825" b="1">
                <a:solidFill>
                  <a:srgbClr val="000000"/>
                </a:solidFill>
              </a:defRPr>
            </a:pPr>
            <a:r>
              <a:rPr sz="825" b="1">
                <a:solidFill>
                  <a:srgbClr val="000000"/>
                </a:solidFill>
              </a:rPr>
              <a:t>02</a:t>
            </a:r>
          </a:p>
        </p:txBody>
      </p:sp>
    </p:spTree>
    <p:extLst>
      <p:ext uri="{BB962C8B-B14F-4D97-AF65-F5344CB8AC3E}">
        <p14:creationId xmlns:p14="http://schemas.microsoft.com/office/powerpoint/2010/main" val="449267078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" name="Rectangle 26">
            <a:extLst>
              <a:ext uri="{FF2B5EF4-FFF2-40B4-BE49-F238E27FC236}">
                <a16:creationId xmlns:a16="http://schemas.microsoft.com/office/drawing/2014/main" id="{E918287C-56D7-4EE9-A349-FF3AC015F55E}"/>
              </a:ext>
            </a:extLst>
          </p:cNvPr>
          <p:cNvSpPr>
            <a:spLocks noGrp="1"/>
          </p:cNvSpPr>
          <p:nvPr/>
        </p:nvSpPr>
        <p:spPr>
          <a:xfrm>
            <a:off x="685800" y="342900"/>
            <a:ext cx="5715000" cy="2095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/>
          <a:lstStyle/>
          <a:p>
            <a:pPr algn="l">
              <a:defRPr sz="975" b="1">
                <a:solidFill>
                  <a:srgbClr val="000000"/>
                </a:solidFill>
              </a:defRPr>
            </a:pPr>
            <a:r>
              <a:rPr sz="975" b="1">
                <a:solidFill>
                  <a:srgbClr val="000000"/>
                </a:solidFill>
              </a:rPr>
              <a:t>TEAM VOLTERE | IITISoC 2026</a:t>
            </a:r>
          </a:p>
        </p:txBody>
      </p:sp>
      <p:sp>
        <p:nvSpPr>
          <p:cNvPr id="2" name="Rectangle 1">
            <a:extLst>
              <a:ext uri="{FF2B5EF4-FFF2-40B4-BE49-F238E27FC236}">
                <a16:creationId xmlns:a16="http://schemas.microsoft.com/office/drawing/2014/main" id="{9CA9DC73-55DC-4A9E-85C1-D7805135EDDC}"/>
              </a:ext>
            </a:extLst>
          </p:cNvPr>
          <p:cNvSpPr>
            <a:spLocks noGrp="1"/>
          </p:cNvSpPr>
          <p:nvPr/>
        </p:nvSpPr>
        <p:spPr>
          <a:xfrm>
            <a:off x="685800" y="628650"/>
            <a:ext cx="10763250" cy="5143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/>
          <a:lstStyle/>
          <a:p>
            <a:pPr algn="l">
              <a:defRPr sz="2550" b="1">
                <a:solidFill>
                  <a:srgbClr val="000000"/>
                </a:solidFill>
              </a:defRPr>
            </a:pPr>
            <a:r>
              <a:rPr sz="2550" b="1">
                <a:solidFill>
                  <a:srgbClr val="000000"/>
                </a:solidFill>
              </a:rPr>
              <a:t>We built a complete 8-bit embedded processor system</a:t>
            </a:r>
          </a:p>
        </p:txBody>
      </p:sp>
      <p:sp>
        <p:nvSpPr>
          <p:cNvPr id="3" name="Rectangle 2">
            <a:extLst>
              <a:ext uri="{FF2B5EF4-FFF2-40B4-BE49-F238E27FC236}">
                <a16:creationId xmlns:a16="http://schemas.microsoft.com/office/drawing/2014/main" id="{3BECE32A-9B67-41C1-8488-EDD3C805815E}"/>
              </a:ext>
            </a:extLst>
          </p:cNvPr>
          <p:cNvSpPr>
            <a:spLocks noGrp="1"/>
          </p:cNvSpPr>
          <p:nvPr/>
        </p:nvSpPr>
        <p:spPr>
          <a:xfrm>
            <a:off x="685800" y="1352550"/>
            <a:ext cx="10001250" cy="3238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/>
          <a:lstStyle/>
          <a:p>
            <a:pPr algn="l">
              <a:defRPr sz="1800" b="1">
                <a:solidFill>
                  <a:srgbClr val="000000"/>
                </a:solidFill>
              </a:defRPr>
            </a:pPr>
            <a:r>
              <a:rPr sz="1800" b="1" dirty="0">
                <a:solidFill>
                  <a:srgbClr val="000000"/>
                </a:solidFill>
              </a:rPr>
              <a:t>8-bit data path  |  16-bit instruction word  |  8 general-purpose registers</a:t>
            </a:r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477C8ACD-653C-4C3A-A72F-05256870020C}"/>
              </a:ext>
            </a:extLst>
          </p:cNvPr>
          <p:cNvSpPr>
            <a:spLocks noGrp="1"/>
          </p:cNvSpPr>
          <p:nvPr/>
        </p:nvSpPr>
        <p:spPr>
          <a:xfrm>
            <a:off x="685800" y="1762125"/>
            <a:ext cx="4286250" cy="33337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/>
          <a:lstStyle/>
          <a:p>
            <a:pPr algn="l">
              <a:defRPr sz="2100" b="1">
                <a:solidFill>
                  <a:srgbClr val="000000"/>
                </a:solidFill>
              </a:defRPr>
            </a:pPr>
            <a:r>
              <a:rPr sz="2100" b="1">
                <a:solidFill>
                  <a:srgbClr val="000000"/>
                </a:solidFill>
              </a:rPr>
              <a:t>28 implemented instructions</a:t>
            </a:r>
          </a:p>
        </p:txBody>
      </p:sp>
      <p:sp>
        <p:nvSpPr>
          <p:cNvPr id="5" name="Rectangle: Rounded Corners 4">
            <a:extLst>
              <a:ext uri="{FF2B5EF4-FFF2-40B4-BE49-F238E27FC236}">
                <a16:creationId xmlns:a16="http://schemas.microsoft.com/office/drawing/2014/main" id="{92D3E7D2-6A43-414A-A6DB-0F274351A56C}"/>
              </a:ext>
            </a:extLst>
          </p:cNvPr>
          <p:cNvSpPr>
            <a:spLocks noGrp="1"/>
          </p:cNvSpPr>
          <p:nvPr/>
        </p:nvSpPr>
        <p:spPr>
          <a:xfrm>
            <a:off x="876300" y="2533650"/>
            <a:ext cx="1714500" cy="838200"/>
          </a:xfrm>
          <a:prstGeom prst="roundRect">
            <a:avLst>
              <a:gd name="adj" fmla="val 9091"/>
            </a:avLst>
          </a:prstGeom>
          <a:solidFill>
            <a:srgbClr val="F7F7F7"/>
          </a:solidFill>
          <a:ln w="9525">
            <a:solidFill>
              <a:srgbClr val="B5B5B5"/>
            </a:solidFill>
            <a:prstDash val="solid"/>
          </a:ln>
        </p:spPr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DF923E14-A5B2-40E4-A2A4-E1463630EE60}"/>
              </a:ext>
            </a:extLst>
          </p:cNvPr>
          <p:cNvSpPr>
            <a:spLocks noGrp="1"/>
          </p:cNvSpPr>
          <p:nvPr/>
        </p:nvSpPr>
        <p:spPr>
          <a:xfrm>
            <a:off x="876300" y="2647950"/>
            <a:ext cx="1714500" cy="2667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/>
          <a:lstStyle/>
          <a:p>
            <a:pPr algn="ctr">
              <a:defRPr sz="1800" b="1">
                <a:solidFill>
                  <a:srgbClr val="000000"/>
                </a:solidFill>
              </a:defRPr>
            </a:pPr>
            <a:r>
              <a:rPr sz="1800" b="1">
                <a:solidFill>
                  <a:srgbClr val="000000"/>
                </a:solidFill>
              </a:rPr>
              <a:t>IF</a:t>
            </a:r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33F7F044-B776-49BA-B3DA-BA1E02DA1645}"/>
              </a:ext>
            </a:extLst>
          </p:cNvPr>
          <p:cNvSpPr>
            <a:spLocks noGrp="1"/>
          </p:cNvSpPr>
          <p:nvPr/>
        </p:nvSpPr>
        <p:spPr>
          <a:xfrm>
            <a:off x="876300" y="2952750"/>
            <a:ext cx="1714500" cy="2095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/>
          <a:lstStyle/>
          <a:p>
            <a:pPr algn="ctr">
              <a:defRPr sz="1125" b="0">
                <a:solidFill>
                  <a:srgbClr val="000000"/>
                </a:solidFill>
              </a:defRPr>
            </a:pPr>
            <a:r>
              <a:rPr sz="1125" b="0">
                <a:solidFill>
                  <a:srgbClr val="000000"/>
                </a:solidFill>
              </a:rPr>
              <a:t>Fetch</a:t>
            </a:r>
          </a:p>
        </p:txBody>
      </p:sp>
      <p:sp>
        <p:nvSpPr>
          <p:cNvPr id="8" name="Rectangle 7">
            <a:extLst>
              <a:ext uri="{FF2B5EF4-FFF2-40B4-BE49-F238E27FC236}">
                <a16:creationId xmlns:a16="http://schemas.microsoft.com/office/drawing/2014/main" id="{A8C2F919-FB0F-4726-ACBB-242C1E3069BD}"/>
              </a:ext>
            </a:extLst>
          </p:cNvPr>
          <p:cNvSpPr>
            <a:spLocks noGrp="1"/>
          </p:cNvSpPr>
          <p:nvPr/>
        </p:nvSpPr>
        <p:spPr>
          <a:xfrm>
            <a:off x="2590800" y="2790825"/>
            <a:ext cx="333375" cy="2857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/>
          <a:lstStyle/>
          <a:p>
            <a:pPr algn="ctr">
              <a:defRPr sz="1950" b="1">
                <a:solidFill>
                  <a:srgbClr val="000000"/>
                </a:solidFill>
              </a:defRPr>
            </a:pPr>
            <a:r>
              <a:rPr sz="1950" b="1">
                <a:solidFill>
                  <a:srgbClr val="000000"/>
                </a:solidFill>
              </a:rPr>
              <a:t>→</a:t>
            </a:r>
          </a:p>
        </p:txBody>
      </p:sp>
      <p:sp>
        <p:nvSpPr>
          <p:cNvPr id="9" name="Rectangle: Rounded Corners 8">
            <a:extLst>
              <a:ext uri="{FF2B5EF4-FFF2-40B4-BE49-F238E27FC236}">
                <a16:creationId xmlns:a16="http://schemas.microsoft.com/office/drawing/2014/main" id="{98190497-6835-4C69-B283-D6977BBE124C}"/>
              </a:ext>
            </a:extLst>
          </p:cNvPr>
          <p:cNvSpPr>
            <a:spLocks noGrp="1"/>
          </p:cNvSpPr>
          <p:nvPr/>
        </p:nvSpPr>
        <p:spPr>
          <a:xfrm>
            <a:off x="2924175" y="2533650"/>
            <a:ext cx="1714500" cy="838200"/>
          </a:xfrm>
          <a:prstGeom prst="roundRect">
            <a:avLst>
              <a:gd name="adj" fmla="val 9091"/>
            </a:avLst>
          </a:prstGeom>
          <a:solidFill>
            <a:srgbClr val="F7F7F7"/>
          </a:solidFill>
          <a:ln w="9525">
            <a:solidFill>
              <a:srgbClr val="B5B5B5"/>
            </a:solidFill>
            <a:prstDash val="solid"/>
          </a:ln>
        </p:spPr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D8B4B700-42D9-43A6-BB71-5024D8F333CA}"/>
              </a:ext>
            </a:extLst>
          </p:cNvPr>
          <p:cNvSpPr>
            <a:spLocks noGrp="1"/>
          </p:cNvSpPr>
          <p:nvPr/>
        </p:nvSpPr>
        <p:spPr>
          <a:xfrm>
            <a:off x="2924175" y="2647950"/>
            <a:ext cx="1714500" cy="2667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/>
          <a:lstStyle/>
          <a:p>
            <a:pPr algn="ctr">
              <a:defRPr sz="1800" b="1">
                <a:solidFill>
                  <a:srgbClr val="000000"/>
                </a:solidFill>
              </a:defRPr>
            </a:pPr>
            <a:r>
              <a:rPr sz="1800" b="1">
                <a:solidFill>
                  <a:srgbClr val="000000"/>
                </a:solidFill>
              </a:rPr>
              <a:t>ID</a:t>
            </a:r>
          </a:p>
        </p:txBody>
      </p:sp>
      <p:sp>
        <p:nvSpPr>
          <p:cNvPr id="11" name="Rectangle 10">
            <a:extLst>
              <a:ext uri="{FF2B5EF4-FFF2-40B4-BE49-F238E27FC236}">
                <a16:creationId xmlns:a16="http://schemas.microsoft.com/office/drawing/2014/main" id="{3996A28B-8358-4965-B80A-36D6BA80C90B}"/>
              </a:ext>
            </a:extLst>
          </p:cNvPr>
          <p:cNvSpPr>
            <a:spLocks noGrp="1"/>
          </p:cNvSpPr>
          <p:nvPr/>
        </p:nvSpPr>
        <p:spPr>
          <a:xfrm>
            <a:off x="2924175" y="2952750"/>
            <a:ext cx="1714500" cy="2095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/>
          <a:lstStyle/>
          <a:p>
            <a:pPr algn="ctr">
              <a:defRPr sz="1125" b="0">
                <a:solidFill>
                  <a:srgbClr val="000000"/>
                </a:solidFill>
              </a:defRPr>
            </a:pPr>
            <a:r>
              <a:rPr sz="1125" b="0">
                <a:solidFill>
                  <a:srgbClr val="000000"/>
                </a:solidFill>
              </a:rPr>
              <a:t>Decode</a:t>
            </a:r>
          </a:p>
        </p:txBody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F73E6F27-4CD0-4B12-A03D-560A49017BC5}"/>
              </a:ext>
            </a:extLst>
          </p:cNvPr>
          <p:cNvSpPr>
            <a:spLocks noGrp="1"/>
          </p:cNvSpPr>
          <p:nvPr/>
        </p:nvSpPr>
        <p:spPr>
          <a:xfrm>
            <a:off x="4638675" y="2790825"/>
            <a:ext cx="333375" cy="2857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/>
          <a:lstStyle/>
          <a:p>
            <a:pPr algn="ctr">
              <a:defRPr sz="1950" b="1">
                <a:solidFill>
                  <a:srgbClr val="000000"/>
                </a:solidFill>
              </a:defRPr>
            </a:pPr>
            <a:r>
              <a:rPr sz="1950" b="1">
                <a:solidFill>
                  <a:srgbClr val="000000"/>
                </a:solidFill>
              </a:rPr>
              <a:t>→</a:t>
            </a:r>
          </a:p>
        </p:txBody>
      </p:sp>
      <p:sp>
        <p:nvSpPr>
          <p:cNvPr id="13" name="Rectangle: Rounded Corners 12">
            <a:extLst>
              <a:ext uri="{FF2B5EF4-FFF2-40B4-BE49-F238E27FC236}">
                <a16:creationId xmlns:a16="http://schemas.microsoft.com/office/drawing/2014/main" id="{C8E46744-1166-4BE8-B249-2E5E70D9F5A9}"/>
              </a:ext>
            </a:extLst>
          </p:cNvPr>
          <p:cNvSpPr>
            <a:spLocks noGrp="1"/>
          </p:cNvSpPr>
          <p:nvPr/>
        </p:nvSpPr>
        <p:spPr>
          <a:xfrm>
            <a:off x="4972050" y="2533650"/>
            <a:ext cx="1714500" cy="838200"/>
          </a:xfrm>
          <a:prstGeom prst="roundRect">
            <a:avLst>
              <a:gd name="adj" fmla="val 9091"/>
            </a:avLst>
          </a:prstGeom>
          <a:solidFill>
            <a:srgbClr val="F7F7F7"/>
          </a:solidFill>
          <a:ln w="9525">
            <a:solidFill>
              <a:srgbClr val="B5B5B5"/>
            </a:solidFill>
            <a:prstDash val="solid"/>
          </a:ln>
        </p:spPr>
      </p:sp>
      <p:sp>
        <p:nvSpPr>
          <p:cNvPr id="14" name="Rectangle 13">
            <a:extLst>
              <a:ext uri="{FF2B5EF4-FFF2-40B4-BE49-F238E27FC236}">
                <a16:creationId xmlns:a16="http://schemas.microsoft.com/office/drawing/2014/main" id="{DA3A97BF-F557-4F27-BDB7-1D39EB791CDD}"/>
              </a:ext>
            </a:extLst>
          </p:cNvPr>
          <p:cNvSpPr>
            <a:spLocks noGrp="1"/>
          </p:cNvSpPr>
          <p:nvPr/>
        </p:nvSpPr>
        <p:spPr>
          <a:xfrm>
            <a:off x="4972050" y="2647950"/>
            <a:ext cx="1714500" cy="2667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/>
          <a:lstStyle/>
          <a:p>
            <a:pPr algn="ctr">
              <a:defRPr sz="1800" b="1">
                <a:solidFill>
                  <a:srgbClr val="000000"/>
                </a:solidFill>
              </a:defRPr>
            </a:pPr>
            <a:r>
              <a:rPr sz="1800" b="1">
                <a:solidFill>
                  <a:srgbClr val="000000"/>
                </a:solidFill>
              </a:rPr>
              <a:t>EX</a:t>
            </a:r>
          </a:p>
        </p:txBody>
      </p:sp>
      <p:sp>
        <p:nvSpPr>
          <p:cNvPr id="15" name="Rectangle 14">
            <a:extLst>
              <a:ext uri="{FF2B5EF4-FFF2-40B4-BE49-F238E27FC236}">
                <a16:creationId xmlns:a16="http://schemas.microsoft.com/office/drawing/2014/main" id="{1C7293EC-556B-483E-B73E-C3DEE054D9FD}"/>
              </a:ext>
            </a:extLst>
          </p:cNvPr>
          <p:cNvSpPr>
            <a:spLocks noGrp="1"/>
          </p:cNvSpPr>
          <p:nvPr/>
        </p:nvSpPr>
        <p:spPr>
          <a:xfrm>
            <a:off x="4972050" y="2952750"/>
            <a:ext cx="1714500" cy="2095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/>
          <a:lstStyle/>
          <a:p>
            <a:pPr algn="ctr">
              <a:defRPr sz="1125" b="0">
                <a:solidFill>
                  <a:srgbClr val="000000"/>
                </a:solidFill>
              </a:defRPr>
            </a:pPr>
            <a:r>
              <a:rPr sz="1125" b="0">
                <a:solidFill>
                  <a:srgbClr val="000000"/>
                </a:solidFill>
              </a:rPr>
              <a:t>Execute</a:t>
            </a:r>
          </a:p>
        </p:txBody>
      </p:sp>
      <p:sp>
        <p:nvSpPr>
          <p:cNvPr id="16" name="Rectangle 15">
            <a:extLst>
              <a:ext uri="{FF2B5EF4-FFF2-40B4-BE49-F238E27FC236}">
                <a16:creationId xmlns:a16="http://schemas.microsoft.com/office/drawing/2014/main" id="{B4E151F3-6508-49B2-BEC4-4405ADCDC960}"/>
              </a:ext>
            </a:extLst>
          </p:cNvPr>
          <p:cNvSpPr>
            <a:spLocks noGrp="1"/>
          </p:cNvSpPr>
          <p:nvPr/>
        </p:nvSpPr>
        <p:spPr>
          <a:xfrm>
            <a:off x="6686550" y="2790825"/>
            <a:ext cx="333375" cy="2857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/>
          <a:lstStyle/>
          <a:p>
            <a:pPr algn="ctr">
              <a:defRPr sz="1950" b="1">
                <a:solidFill>
                  <a:srgbClr val="000000"/>
                </a:solidFill>
              </a:defRPr>
            </a:pPr>
            <a:r>
              <a:rPr sz="1950" b="1">
                <a:solidFill>
                  <a:srgbClr val="000000"/>
                </a:solidFill>
              </a:rPr>
              <a:t>→</a:t>
            </a:r>
          </a:p>
        </p:txBody>
      </p:sp>
      <p:sp>
        <p:nvSpPr>
          <p:cNvPr id="17" name="Rectangle: Rounded Corners 16">
            <a:extLst>
              <a:ext uri="{FF2B5EF4-FFF2-40B4-BE49-F238E27FC236}">
                <a16:creationId xmlns:a16="http://schemas.microsoft.com/office/drawing/2014/main" id="{E0D5AF1A-E1CD-4390-A0C0-DBEE5B24CE5D}"/>
              </a:ext>
            </a:extLst>
          </p:cNvPr>
          <p:cNvSpPr>
            <a:spLocks noGrp="1"/>
          </p:cNvSpPr>
          <p:nvPr/>
        </p:nvSpPr>
        <p:spPr>
          <a:xfrm>
            <a:off x="7019925" y="2533650"/>
            <a:ext cx="1714500" cy="838200"/>
          </a:xfrm>
          <a:prstGeom prst="roundRect">
            <a:avLst>
              <a:gd name="adj" fmla="val 9091"/>
            </a:avLst>
          </a:prstGeom>
          <a:solidFill>
            <a:srgbClr val="F7F7F7"/>
          </a:solidFill>
          <a:ln w="9525">
            <a:solidFill>
              <a:srgbClr val="B5B5B5"/>
            </a:solidFill>
            <a:prstDash val="solid"/>
          </a:ln>
        </p:spPr>
      </p:sp>
      <p:sp>
        <p:nvSpPr>
          <p:cNvPr id="18" name="Rectangle 17">
            <a:extLst>
              <a:ext uri="{FF2B5EF4-FFF2-40B4-BE49-F238E27FC236}">
                <a16:creationId xmlns:a16="http://schemas.microsoft.com/office/drawing/2014/main" id="{580DAA9C-3E91-462B-9D27-44B3EAE9AFDB}"/>
              </a:ext>
            </a:extLst>
          </p:cNvPr>
          <p:cNvSpPr>
            <a:spLocks noGrp="1"/>
          </p:cNvSpPr>
          <p:nvPr/>
        </p:nvSpPr>
        <p:spPr>
          <a:xfrm>
            <a:off x="7019925" y="2647950"/>
            <a:ext cx="1714500" cy="2667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/>
          <a:lstStyle/>
          <a:p>
            <a:pPr algn="ctr">
              <a:defRPr sz="1800" b="1">
                <a:solidFill>
                  <a:srgbClr val="000000"/>
                </a:solidFill>
              </a:defRPr>
            </a:pPr>
            <a:r>
              <a:rPr sz="1800" b="1">
                <a:solidFill>
                  <a:srgbClr val="000000"/>
                </a:solidFill>
              </a:rPr>
              <a:t>MEM</a:t>
            </a:r>
          </a:p>
        </p:txBody>
      </p:sp>
      <p:sp>
        <p:nvSpPr>
          <p:cNvPr id="19" name="Rectangle 18">
            <a:extLst>
              <a:ext uri="{FF2B5EF4-FFF2-40B4-BE49-F238E27FC236}">
                <a16:creationId xmlns:a16="http://schemas.microsoft.com/office/drawing/2014/main" id="{B4857347-DA92-4FD3-8150-060DCCCFBC2B}"/>
              </a:ext>
            </a:extLst>
          </p:cNvPr>
          <p:cNvSpPr>
            <a:spLocks noGrp="1"/>
          </p:cNvSpPr>
          <p:nvPr/>
        </p:nvSpPr>
        <p:spPr>
          <a:xfrm>
            <a:off x="7019925" y="2952750"/>
            <a:ext cx="1714500" cy="2095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/>
          <a:lstStyle/>
          <a:p>
            <a:pPr algn="ctr">
              <a:defRPr sz="1125" b="0">
                <a:solidFill>
                  <a:srgbClr val="000000"/>
                </a:solidFill>
              </a:defRPr>
            </a:pPr>
            <a:r>
              <a:rPr sz="1125" b="0">
                <a:solidFill>
                  <a:srgbClr val="000000"/>
                </a:solidFill>
              </a:rPr>
              <a:t>Memory</a:t>
            </a:r>
          </a:p>
        </p:txBody>
      </p:sp>
      <p:sp>
        <p:nvSpPr>
          <p:cNvPr id="20" name="Rectangle 19">
            <a:extLst>
              <a:ext uri="{FF2B5EF4-FFF2-40B4-BE49-F238E27FC236}">
                <a16:creationId xmlns:a16="http://schemas.microsoft.com/office/drawing/2014/main" id="{37084E27-22CA-4CB0-940A-2165A44F6FC8}"/>
              </a:ext>
            </a:extLst>
          </p:cNvPr>
          <p:cNvSpPr>
            <a:spLocks noGrp="1"/>
          </p:cNvSpPr>
          <p:nvPr/>
        </p:nvSpPr>
        <p:spPr>
          <a:xfrm>
            <a:off x="8734425" y="2790825"/>
            <a:ext cx="333375" cy="2857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/>
          <a:lstStyle/>
          <a:p>
            <a:pPr algn="ctr">
              <a:defRPr sz="1950" b="1">
                <a:solidFill>
                  <a:srgbClr val="000000"/>
                </a:solidFill>
              </a:defRPr>
            </a:pPr>
            <a:r>
              <a:rPr sz="1950" b="1">
                <a:solidFill>
                  <a:srgbClr val="000000"/>
                </a:solidFill>
              </a:rPr>
              <a:t>→</a:t>
            </a:r>
          </a:p>
        </p:txBody>
      </p:sp>
      <p:sp>
        <p:nvSpPr>
          <p:cNvPr id="21" name="Rectangle: Rounded Corners 20">
            <a:extLst>
              <a:ext uri="{FF2B5EF4-FFF2-40B4-BE49-F238E27FC236}">
                <a16:creationId xmlns:a16="http://schemas.microsoft.com/office/drawing/2014/main" id="{1853A55A-DCF2-46EA-8AE7-4F0BC07228EB}"/>
              </a:ext>
            </a:extLst>
          </p:cNvPr>
          <p:cNvSpPr>
            <a:spLocks noGrp="1"/>
          </p:cNvSpPr>
          <p:nvPr/>
        </p:nvSpPr>
        <p:spPr>
          <a:xfrm>
            <a:off x="9067800" y="2533650"/>
            <a:ext cx="1714500" cy="838200"/>
          </a:xfrm>
          <a:prstGeom prst="roundRect">
            <a:avLst>
              <a:gd name="adj" fmla="val 9091"/>
            </a:avLst>
          </a:prstGeom>
          <a:solidFill>
            <a:srgbClr val="F7F7F7"/>
          </a:solidFill>
          <a:ln w="9525">
            <a:solidFill>
              <a:srgbClr val="B5B5B5"/>
            </a:solidFill>
            <a:prstDash val="solid"/>
          </a:ln>
        </p:spPr>
      </p:sp>
      <p:sp>
        <p:nvSpPr>
          <p:cNvPr id="22" name="Rectangle 21">
            <a:extLst>
              <a:ext uri="{FF2B5EF4-FFF2-40B4-BE49-F238E27FC236}">
                <a16:creationId xmlns:a16="http://schemas.microsoft.com/office/drawing/2014/main" id="{DC6EECAD-6EF3-4076-B184-C7E5A1906435}"/>
              </a:ext>
            </a:extLst>
          </p:cNvPr>
          <p:cNvSpPr>
            <a:spLocks noGrp="1"/>
          </p:cNvSpPr>
          <p:nvPr/>
        </p:nvSpPr>
        <p:spPr>
          <a:xfrm>
            <a:off x="9067800" y="2647950"/>
            <a:ext cx="1714500" cy="2667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/>
          <a:lstStyle/>
          <a:p>
            <a:pPr algn="ctr">
              <a:defRPr sz="1800" b="1">
                <a:solidFill>
                  <a:srgbClr val="000000"/>
                </a:solidFill>
              </a:defRPr>
            </a:pPr>
            <a:r>
              <a:rPr sz="1800" b="1">
                <a:solidFill>
                  <a:srgbClr val="000000"/>
                </a:solidFill>
              </a:rPr>
              <a:t>WB</a:t>
            </a:r>
          </a:p>
        </p:txBody>
      </p:sp>
      <p:sp>
        <p:nvSpPr>
          <p:cNvPr id="23" name="Rectangle 22">
            <a:extLst>
              <a:ext uri="{FF2B5EF4-FFF2-40B4-BE49-F238E27FC236}">
                <a16:creationId xmlns:a16="http://schemas.microsoft.com/office/drawing/2014/main" id="{F726DF24-C230-4EAC-9ED8-239C9A90E0FB}"/>
              </a:ext>
            </a:extLst>
          </p:cNvPr>
          <p:cNvSpPr>
            <a:spLocks noGrp="1"/>
          </p:cNvSpPr>
          <p:nvPr/>
        </p:nvSpPr>
        <p:spPr>
          <a:xfrm>
            <a:off x="9067800" y="2952750"/>
            <a:ext cx="1714500" cy="2095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/>
          <a:lstStyle/>
          <a:p>
            <a:pPr algn="ctr">
              <a:defRPr sz="1125" b="0">
                <a:solidFill>
                  <a:srgbClr val="000000"/>
                </a:solidFill>
              </a:defRPr>
            </a:pPr>
            <a:r>
              <a:rPr sz="1125" b="0">
                <a:solidFill>
                  <a:srgbClr val="000000"/>
                </a:solidFill>
              </a:rPr>
              <a:t>Write-back</a:t>
            </a:r>
          </a:p>
        </p:txBody>
      </p:sp>
      <p:sp>
        <p:nvSpPr>
          <p:cNvPr id="24" name="Rectangle 23">
            <a:extLst>
              <a:ext uri="{FF2B5EF4-FFF2-40B4-BE49-F238E27FC236}">
                <a16:creationId xmlns:a16="http://schemas.microsoft.com/office/drawing/2014/main" id="{EF753284-965F-4621-9D50-0163FB5366C2}"/>
              </a:ext>
            </a:extLst>
          </p:cNvPr>
          <p:cNvSpPr>
            <a:spLocks noGrp="1"/>
          </p:cNvSpPr>
          <p:nvPr/>
        </p:nvSpPr>
        <p:spPr>
          <a:xfrm>
            <a:off x="876300" y="3596830"/>
            <a:ext cx="9715500" cy="5524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/>
          <a:lstStyle/>
          <a:p>
            <a:pPr algn="l">
              <a:defRPr sz="1650" b="0">
                <a:solidFill>
                  <a:srgbClr val="000000"/>
                </a:solidFill>
              </a:defRPr>
            </a:pPr>
            <a:r>
              <a:rPr sz="1650" b="0" dirty="0">
                <a:solidFill>
                  <a:srgbClr val="000000"/>
                </a:solidFill>
              </a:rPr>
              <a:t>Hardware forwarding  |  Load-use stall logic  |  Branch prediction</a:t>
            </a:r>
          </a:p>
          <a:p>
            <a:pPr algn="l">
              <a:defRPr sz="1650" b="0">
                <a:solidFill>
                  <a:srgbClr val="000000"/>
                </a:solidFill>
              </a:defRPr>
            </a:pPr>
            <a:r>
              <a:rPr sz="1650" b="0" dirty="0">
                <a:solidFill>
                  <a:srgbClr val="000000"/>
                </a:solidFill>
              </a:rPr>
              <a:t>Subroutine calls  |  Exceptions  |  UART  |  ADC  |  GPIO  |  PWM</a:t>
            </a:r>
          </a:p>
        </p:txBody>
      </p:sp>
      <p:sp>
        <p:nvSpPr>
          <p:cNvPr id="25" name="Rectangle 24">
            <a:extLst>
              <a:ext uri="{FF2B5EF4-FFF2-40B4-BE49-F238E27FC236}">
                <a16:creationId xmlns:a16="http://schemas.microsoft.com/office/drawing/2014/main" id="{E9F67224-1EA8-4C4B-B026-EA0B99EE2D24}"/>
              </a:ext>
            </a:extLst>
          </p:cNvPr>
          <p:cNvSpPr>
            <a:spLocks noGrp="1"/>
          </p:cNvSpPr>
          <p:nvPr/>
        </p:nvSpPr>
        <p:spPr>
          <a:xfrm>
            <a:off x="685800" y="6496050"/>
            <a:ext cx="7048500" cy="1714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/>
          <a:lstStyle/>
          <a:p>
            <a:pPr algn="l">
              <a:defRPr sz="825" b="0">
                <a:solidFill>
                  <a:srgbClr val="000000"/>
                </a:solidFill>
              </a:defRPr>
            </a:pPr>
            <a:r>
              <a:rPr sz="825" b="0">
                <a:solidFill>
                  <a:srgbClr val="000000"/>
                </a:solidFill>
              </a:rPr>
              <a:t>Team VOLTERE | 8-bit Pipelined Microprocessor</a:t>
            </a:r>
          </a:p>
        </p:txBody>
      </p:sp>
      <p:sp>
        <p:nvSpPr>
          <p:cNvPr id="26" name="Rectangle 25">
            <a:extLst>
              <a:ext uri="{FF2B5EF4-FFF2-40B4-BE49-F238E27FC236}">
                <a16:creationId xmlns:a16="http://schemas.microsoft.com/office/drawing/2014/main" id="{F30AF536-27C9-47C3-896F-097265C748B3}"/>
              </a:ext>
            </a:extLst>
          </p:cNvPr>
          <p:cNvSpPr>
            <a:spLocks noGrp="1"/>
          </p:cNvSpPr>
          <p:nvPr/>
        </p:nvSpPr>
        <p:spPr>
          <a:xfrm>
            <a:off x="11001375" y="6477000"/>
            <a:ext cx="495300" cy="1714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/>
          <a:lstStyle/>
          <a:p>
            <a:pPr algn="r">
              <a:defRPr sz="825" b="1">
                <a:solidFill>
                  <a:srgbClr val="000000"/>
                </a:solidFill>
              </a:defRPr>
            </a:pPr>
            <a:r>
              <a:rPr sz="825" b="1">
                <a:solidFill>
                  <a:srgbClr val="000000"/>
                </a:solidFill>
              </a:rPr>
              <a:t>03</a:t>
            </a:r>
          </a:p>
        </p:txBody>
      </p:sp>
      <p:sp>
        <p:nvSpPr>
          <p:cNvPr id="29" name="Rectangle: Rounded Corners 28">
            <a:extLst>
              <a:ext uri="{FF2B5EF4-FFF2-40B4-BE49-F238E27FC236}">
                <a16:creationId xmlns:a16="http://schemas.microsoft.com/office/drawing/2014/main" id="{70261446-DA06-9D82-C03B-C2D88B828542}"/>
              </a:ext>
            </a:extLst>
          </p:cNvPr>
          <p:cNvSpPr>
            <a:spLocks noGrp="1"/>
          </p:cNvSpPr>
          <p:nvPr/>
        </p:nvSpPr>
        <p:spPr>
          <a:xfrm>
            <a:off x="876300" y="4476750"/>
            <a:ext cx="9906000" cy="1619250"/>
          </a:xfrm>
          <a:prstGeom prst="roundRect">
            <a:avLst>
              <a:gd name="adj" fmla="val 4706"/>
            </a:avLst>
          </a:prstGeom>
          <a:solidFill>
            <a:srgbClr val="F7F7F7"/>
          </a:solidFill>
          <a:ln w="9525">
            <a:solidFill>
              <a:srgbClr val="B5B5B5"/>
            </a:solidFill>
            <a:prstDash val="solid"/>
          </a:ln>
        </p:spPr>
      </p:sp>
      <p:sp>
        <p:nvSpPr>
          <p:cNvPr id="31" name="Rectangle 30">
            <a:extLst>
              <a:ext uri="{FF2B5EF4-FFF2-40B4-BE49-F238E27FC236}">
                <a16:creationId xmlns:a16="http://schemas.microsoft.com/office/drawing/2014/main" id="{FE6ACCF4-EEB5-5076-ED20-33B36BC4F512}"/>
              </a:ext>
            </a:extLst>
          </p:cNvPr>
          <p:cNvSpPr>
            <a:spLocks noGrp="1"/>
          </p:cNvSpPr>
          <p:nvPr/>
        </p:nvSpPr>
        <p:spPr>
          <a:xfrm>
            <a:off x="1209675" y="4800600"/>
            <a:ext cx="9239250" cy="109537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/>
          <a:lstStyle/>
          <a:p>
            <a:pPr algn="ctr">
              <a:defRPr sz="1500" b="0">
                <a:solidFill>
                  <a:srgbClr val="000000"/>
                </a:solidFill>
              </a:defRPr>
            </a:pPr>
            <a:r>
              <a:rPr sz="1500" b="0" dirty="0">
                <a:solidFill>
                  <a:srgbClr val="000000"/>
                </a:solidFill>
              </a:rPr>
              <a:t>IF: PC, Instruction Memory, Branch Predictor</a:t>
            </a:r>
          </a:p>
          <a:p>
            <a:pPr algn="ctr">
              <a:defRPr sz="1500" b="0">
                <a:solidFill>
                  <a:srgbClr val="000000"/>
                </a:solidFill>
              </a:defRPr>
            </a:pPr>
            <a:r>
              <a:rPr sz="1500" b="0" dirty="0">
                <a:solidFill>
                  <a:srgbClr val="000000"/>
                </a:solidFill>
              </a:rPr>
              <a:t>ID: Control Unit, Register File, Immediate Extension</a:t>
            </a:r>
          </a:p>
          <a:p>
            <a:pPr algn="ctr">
              <a:defRPr sz="1500" b="0">
                <a:solidFill>
                  <a:srgbClr val="000000"/>
                </a:solidFill>
              </a:defRPr>
            </a:pPr>
            <a:r>
              <a:rPr sz="1500" b="0" dirty="0">
                <a:solidFill>
                  <a:srgbClr val="000000"/>
                </a:solidFill>
              </a:rPr>
              <a:t>EX: ALU, MAC, Forwarding Unit, Branch Resolution, CP0</a:t>
            </a:r>
          </a:p>
          <a:p>
            <a:pPr algn="ctr">
              <a:defRPr sz="1500" b="0">
                <a:solidFill>
                  <a:srgbClr val="000000"/>
                </a:solidFill>
              </a:defRPr>
            </a:pPr>
            <a:r>
              <a:rPr sz="1500" b="0" dirty="0">
                <a:solidFill>
                  <a:srgbClr val="000000"/>
                </a:solidFill>
              </a:rPr>
              <a:t>MEM: Data Memory, UART, ADC, GPIO, PWM</a:t>
            </a:r>
          </a:p>
          <a:p>
            <a:pPr algn="ctr">
              <a:defRPr sz="1500" b="0">
                <a:solidFill>
                  <a:srgbClr val="000000"/>
                </a:solidFill>
              </a:defRPr>
            </a:pPr>
            <a:r>
              <a:rPr sz="1500" b="0" dirty="0">
                <a:solidFill>
                  <a:srgbClr val="000000"/>
                </a:solidFill>
              </a:rPr>
              <a:t>WB: ALU result, memory data, immediate, or JAL return address</a:t>
            </a:r>
          </a:p>
        </p:txBody>
      </p:sp>
    </p:spTree>
    <p:extLst>
      <p:ext uri="{BB962C8B-B14F-4D97-AF65-F5344CB8AC3E}">
        <p14:creationId xmlns:p14="http://schemas.microsoft.com/office/powerpoint/2010/main" val="766554858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" name="Rectangle 25">
            <a:extLst>
              <a:ext uri="{FF2B5EF4-FFF2-40B4-BE49-F238E27FC236}">
                <a16:creationId xmlns:a16="http://schemas.microsoft.com/office/drawing/2014/main" id="{40E1832F-D879-48DD-92F9-314036CAF55F}"/>
              </a:ext>
            </a:extLst>
          </p:cNvPr>
          <p:cNvSpPr>
            <a:spLocks noGrp="1"/>
          </p:cNvSpPr>
          <p:nvPr/>
        </p:nvSpPr>
        <p:spPr>
          <a:xfrm>
            <a:off x="685800" y="342900"/>
            <a:ext cx="5715000" cy="2095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/>
          <a:lstStyle/>
          <a:p>
            <a:pPr algn="l">
              <a:defRPr sz="975" b="1">
                <a:solidFill>
                  <a:srgbClr val="000000"/>
                </a:solidFill>
              </a:defRPr>
            </a:pPr>
            <a:r>
              <a:rPr sz="975" b="1">
                <a:solidFill>
                  <a:srgbClr val="000000"/>
                </a:solidFill>
              </a:rPr>
              <a:t>TEAM VOLTERE | IITISoC 2026</a:t>
            </a:r>
          </a:p>
        </p:txBody>
      </p:sp>
      <p:sp>
        <p:nvSpPr>
          <p:cNvPr id="2" name="Rectangle 1">
            <a:extLst>
              <a:ext uri="{FF2B5EF4-FFF2-40B4-BE49-F238E27FC236}">
                <a16:creationId xmlns:a16="http://schemas.microsoft.com/office/drawing/2014/main" id="{A1D8B1AB-2821-4117-9B38-32D46C2C2231}"/>
              </a:ext>
            </a:extLst>
          </p:cNvPr>
          <p:cNvSpPr>
            <a:spLocks noGrp="1"/>
          </p:cNvSpPr>
          <p:nvPr/>
        </p:nvSpPr>
        <p:spPr>
          <a:xfrm>
            <a:off x="685800" y="628650"/>
            <a:ext cx="10763250" cy="5143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/>
          <a:lstStyle/>
          <a:p>
            <a:pPr algn="l">
              <a:defRPr sz="2550" b="1">
                <a:solidFill>
                  <a:srgbClr val="000000"/>
                </a:solidFill>
              </a:defRPr>
            </a:pPr>
            <a:r>
              <a:rPr lang="en-US" sz="2550" b="1" dirty="0">
                <a:solidFill>
                  <a:srgbClr val="000000"/>
                </a:solidFill>
              </a:rPr>
              <a:t>The Entire Architecture at a glance</a:t>
            </a:r>
            <a:endParaRPr sz="2550" b="1" dirty="0">
              <a:solidFill>
                <a:srgbClr val="000000"/>
              </a:solidFill>
            </a:endParaRPr>
          </a:p>
        </p:txBody>
      </p:sp>
      <p:sp>
        <p:nvSpPr>
          <p:cNvPr id="24" name="Rectangle 23">
            <a:extLst>
              <a:ext uri="{FF2B5EF4-FFF2-40B4-BE49-F238E27FC236}">
                <a16:creationId xmlns:a16="http://schemas.microsoft.com/office/drawing/2014/main" id="{D97B91B7-BB71-4DD3-9986-49F65B7F492E}"/>
              </a:ext>
            </a:extLst>
          </p:cNvPr>
          <p:cNvSpPr>
            <a:spLocks noGrp="1"/>
          </p:cNvSpPr>
          <p:nvPr/>
        </p:nvSpPr>
        <p:spPr>
          <a:xfrm>
            <a:off x="685800" y="6496050"/>
            <a:ext cx="7048500" cy="1714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/>
          <a:lstStyle/>
          <a:p>
            <a:pPr algn="l">
              <a:defRPr sz="825" b="0">
                <a:solidFill>
                  <a:srgbClr val="000000"/>
                </a:solidFill>
              </a:defRPr>
            </a:pPr>
            <a:r>
              <a:rPr sz="825" b="0">
                <a:solidFill>
                  <a:srgbClr val="000000"/>
                </a:solidFill>
              </a:rPr>
              <a:t>Team VOLTERE | 8-bit Pipelined Microprocessor</a:t>
            </a:r>
          </a:p>
        </p:txBody>
      </p:sp>
      <p:sp>
        <p:nvSpPr>
          <p:cNvPr id="25" name="Rectangle 24">
            <a:extLst>
              <a:ext uri="{FF2B5EF4-FFF2-40B4-BE49-F238E27FC236}">
                <a16:creationId xmlns:a16="http://schemas.microsoft.com/office/drawing/2014/main" id="{87406D9B-3005-4324-AA98-9A40F1E91510}"/>
              </a:ext>
            </a:extLst>
          </p:cNvPr>
          <p:cNvSpPr>
            <a:spLocks noGrp="1"/>
          </p:cNvSpPr>
          <p:nvPr/>
        </p:nvSpPr>
        <p:spPr>
          <a:xfrm>
            <a:off x="11001375" y="6477000"/>
            <a:ext cx="495300" cy="1714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/>
          <a:lstStyle/>
          <a:p>
            <a:pPr algn="r">
              <a:defRPr sz="825" b="1">
                <a:solidFill>
                  <a:srgbClr val="000000"/>
                </a:solidFill>
              </a:defRPr>
            </a:pPr>
            <a:r>
              <a:rPr sz="825" b="1">
                <a:solidFill>
                  <a:srgbClr val="000000"/>
                </a:solidFill>
              </a:rPr>
              <a:t>04</a:t>
            </a:r>
          </a:p>
        </p:txBody>
      </p:sp>
      <p:pic>
        <p:nvPicPr>
          <p:cNvPr id="28" name="Graphic 27">
            <a:extLst>
              <a:ext uri="{FF2B5EF4-FFF2-40B4-BE49-F238E27FC236}">
                <a16:creationId xmlns:a16="http://schemas.microsoft.com/office/drawing/2014/main" id="{39F3E54D-09D5-00C5-4DC2-13853F9B9D33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786384" y="1313208"/>
            <a:ext cx="10689229" cy="491614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657504288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" name="Rectangle 20">
            <a:extLst>
              <a:ext uri="{FF2B5EF4-FFF2-40B4-BE49-F238E27FC236}">
                <a16:creationId xmlns:a16="http://schemas.microsoft.com/office/drawing/2014/main" id="{5348E377-368F-4B38-9CBD-5E71B636A5E8}"/>
              </a:ext>
            </a:extLst>
          </p:cNvPr>
          <p:cNvSpPr>
            <a:spLocks noGrp="1"/>
          </p:cNvSpPr>
          <p:nvPr/>
        </p:nvSpPr>
        <p:spPr>
          <a:xfrm>
            <a:off x="685800" y="342900"/>
            <a:ext cx="5715000" cy="2095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/>
          <a:lstStyle/>
          <a:p>
            <a:pPr algn="l">
              <a:defRPr sz="975" b="1">
                <a:solidFill>
                  <a:srgbClr val="000000"/>
                </a:solidFill>
              </a:defRPr>
            </a:pPr>
            <a:r>
              <a:rPr sz="975" b="1">
                <a:solidFill>
                  <a:srgbClr val="000000"/>
                </a:solidFill>
              </a:rPr>
              <a:t>TEAM VOLTERE | IITISoC 2026</a:t>
            </a:r>
          </a:p>
        </p:txBody>
      </p:sp>
      <p:sp>
        <p:nvSpPr>
          <p:cNvPr id="2" name="Rectangle 1">
            <a:extLst>
              <a:ext uri="{FF2B5EF4-FFF2-40B4-BE49-F238E27FC236}">
                <a16:creationId xmlns:a16="http://schemas.microsoft.com/office/drawing/2014/main" id="{8BA62A36-6190-450C-830D-808625D9D0FB}"/>
              </a:ext>
            </a:extLst>
          </p:cNvPr>
          <p:cNvSpPr>
            <a:spLocks noGrp="1"/>
          </p:cNvSpPr>
          <p:nvPr/>
        </p:nvSpPr>
        <p:spPr>
          <a:xfrm>
            <a:off x="685800" y="628650"/>
            <a:ext cx="10763250" cy="5143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/>
          <a:lstStyle/>
          <a:p>
            <a:pPr algn="l">
              <a:defRPr sz="2550" b="1">
                <a:solidFill>
                  <a:srgbClr val="000000"/>
                </a:solidFill>
              </a:defRPr>
            </a:pPr>
            <a:r>
              <a:rPr sz="2550" b="1">
                <a:solidFill>
                  <a:srgbClr val="000000"/>
                </a:solidFill>
              </a:rPr>
              <a:t>A compact register file and 256-byte address space simplify the CPU</a:t>
            </a:r>
          </a:p>
        </p:txBody>
      </p:sp>
      <p:sp>
        <p:nvSpPr>
          <p:cNvPr id="3" name="Rectangle: Rounded Corners 2">
            <a:extLst>
              <a:ext uri="{FF2B5EF4-FFF2-40B4-BE49-F238E27FC236}">
                <a16:creationId xmlns:a16="http://schemas.microsoft.com/office/drawing/2014/main" id="{0736F395-6C51-4127-8BBF-C91A3ADF2F1C}"/>
              </a:ext>
            </a:extLst>
          </p:cNvPr>
          <p:cNvSpPr>
            <a:spLocks noGrp="1"/>
          </p:cNvSpPr>
          <p:nvPr/>
        </p:nvSpPr>
        <p:spPr>
          <a:xfrm>
            <a:off x="685800" y="1381126"/>
            <a:ext cx="4857750" cy="1966911"/>
          </a:xfrm>
          <a:prstGeom prst="roundRect">
            <a:avLst>
              <a:gd name="adj" fmla="val 1798"/>
            </a:avLst>
          </a:prstGeom>
          <a:solidFill>
            <a:srgbClr val="F7F7F7"/>
          </a:solidFill>
          <a:ln w="9525">
            <a:solidFill>
              <a:srgbClr val="B5B5B5"/>
            </a:solidFill>
            <a:prstDash val="solid"/>
          </a:ln>
        </p:spPr>
        <p:txBody>
          <a:bodyPr/>
          <a:lstStyle/>
          <a:p>
            <a:endParaRPr lang="en-US" dirty="0"/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CF41EC40-79A0-4AF1-92CA-ED8921B13A1E}"/>
              </a:ext>
            </a:extLst>
          </p:cNvPr>
          <p:cNvSpPr>
            <a:spLocks noGrp="1"/>
          </p:cNvSpPr>
          <p:nvPr/>
        </p:nvSpPr>
        <p:spPr>
          <a:xfrm>
            <a:off x="952500" y="1666875"/>
            <a:ext cx="2857500" cy="2667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/>
          <a:lstStyle/>
          <a:p>
            <a:pPr algn="l">
              <a:defRPr sz="1350" b="1">
                <a:solidFill>
                  <a:srgbClr val="000000"/>
                </a:solidFill>
              </a:defRPr>
            </a:pPr>
            <a:r>
              <a:rPr sz="1350" b="1">
                <a:solidFill>
                  <a:srgbClr val="000000"/>
                </a:solidFill>
              </a:rPr>
              <a:t>REGISTER FILE</a:t>
            </a:r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F968E902-1A91-4EBC-9732-A0E0A73A4281}"/>
              </a:ext>
            </a:extLst>
          </p:cNvPr>
          <p:cNvSpPr>
            <a:spLocks noGrp="1"/>
          </p:cNvSpPr>
          <p:nvPr/>
        </p:nvSpPr>
        <p:spPr>
          <a:xfrm>
            <a:off x="952500" y="2143125"/>
            <a:ext cx="4095750" cy="2857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/>
          <a:lstStyle/>
          <a:p>
            <a:pPr algn="l">
              <a:defRPr sz="1350" b="0">
                <a:solidFill>
                  <a:srgbClr val="000000"/>
                </a:solidFill>
              </a:defRPr>
            </a:pPr>
            <a:r>
              <a:rPr sz="1350" b="0" dirty="0">
                <a:solidFill>
                  <a:srgbClr val="000000"/>
                </a:solidFill>
              </a:rPr>
              <a:t>•  R0-R7, each 8 bits wide</a:t>
            </a:r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952A9372-1130-4CAF-9C66-8831712E4F4D}"/>
              </a:ext>
            </a:extLst>
          </p:cNvPr>
          <p:cNvSpPr>
            <a:spLocks noGrp="1"/>
          </p:cNvSpPr>
          <p:nvPr/>
        </p:nvSpPr>
        <p:spPr>
          <a:xfrm>
            <a:off x="952500" y="2505075"/>
            <a:ext cx="4095750" cy="2857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/>
          <a:lstStyle/>
          <a:p>
            <a:pPr algn="l">
              <a:defRPr sz="1350" b="0">
                <a:solidFill>
                  <a:srgbClr val="000000"/>
                </a:solidFill>
              </a:defRPr>
            </a:pPr>
            <a:r>
              <a:rPr sz="1350" b="0">
                <a:solidFill>
                  <a:srgbClr val="000000"/>
                </a:solidFill>
              </a:rPr>
              <a:t>•  R0 is hardwired to zero</a:t>
            </a:r>
          </a:p>
        </p:txBody>
      </p:sp>
      <p:sp>
        <p:nvSpPr>
          <p:cNvPr id="8" name="Rectangle 7">
            <a:extLst>
              <a:ext uri="{FF2B5EF4-FFF2-40B4-BE49-F238E27FC236}">
                <a16:creationId xmlns:a16="http://schemas.microsoft.com/office/drawing/2014/main" id="{3BAFD1F4-E121-4B11-9EF0-4F50C6C19526}"/>
              </a:ext>
            </a:extLst>
          </p:cNvPr>
          <p:cNvSpPr>
            <a:spLocks noGrp="1"/>
          </p:cNvSpPr>
          <p:nvPr/>
        </p:nvSpPr>
        <p:spPr>
          <a:xfrm>
            <a:off x="952500" y="3228975"/>
            <a:ext cx="4095750" cy="2857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/>
          <a:lstStyle/>
          <a:p>
            <a:pPr algn="l">
              <a:defRPr sz="1350" b="0">
                <a:solidFill>
                  <a:srgbClr val="000000"/>
                </a:solidFill>
              </a:defRPr>
            </a:pPr>
            <a:endParaRPr sz="1350" b="0" dirty="0">
              <a:solidFill>
                <a:srgbClr val="000000"/>
              </a:solidFill>
            </a:endParaRPr>
          </a:p>
        </p:txBody>
      </p:sp>
      <p:sp>
        <p:nvSpPr>
          <p:cNvPr id="9" name="Rectangle 8">
            <a:extLst>
              <a:ext uri="{FF2B5EF4-FFF2-40B4-BE49-F238E27FC236}">
                <a16:creationId xmlns:a16="http://schemas.microsoft.com/office/drawing/2014/main" id="{5435F1C7-1BE9-4B2D-8320-9D8A007B1168}"/>
              </a:ext>
            </a:extLst>
          </p:cNvPr>
          <p:cNvSpPr>
            <a:spLocks noGrp="1"/>
          </p:cNvSpPr>
          <p:nvPr/>
        </p:nvSpPr>
        <p:spPr>
          <a:xfrm>
            <a:off x="942975" y="2824162"/>
            <a:ext cx="4095750" cy="2857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/>
          <a:lstStyle/>
          <a:p>
            <a:pPr algn="l">
              <a:defRPr sz="1350" b="0">
                <a:solidFill>
                  <a:srgbClr val="000000"/>
                </a:solidFill>
              </a:defRPr>
            </a:pPr>
            <a:r>
              <a:rPr sz="1350" b="0" dirty="0">
                <a:solidFill>
                  <a:srgbClr val="000000"/>
                </a:solidFill>
              </a:rPr>
              <a:t>•  Three read ports support MAC</a:t>
            </a:r>
          </a:p>
        </p:txBody>
      </p:sp>
      <p:sp>
        <p:nvSpPr>
          <p:cNvPr id="10" name="Rectangle: Rounded Corners 9">
            <a:extLst>
              <a:ext uri="{FF2B5EF4-FFF2-40B4-BE49-F238E27FC236}">
                <a16:creationId xmlns:a16="http://schemas.microsoft.com/office/drawing/2014/main" id="{F766768A-E1B8-46BD-B35E-D3A2F747031F}"/>
              </a:ext>
            </a:extLst>
          </p:cNvPr>
          <p:cNvSpPr>
            <a:spLocks noGrp="1"/>
          </p:cNvSpPr>
          <p:nvPr/>
        </p:nvSpPr>
        <p:spPr>
          <a:xfrm>
            <a:off x="6000750" y="1381125"/>
            <a:ext cx="5238750" cy="3236595"/>
          </a:xfrm>
          <a:prstGeom prst="roundRect">
            <a:avLst>
              <a:gd name="adj" fmla="val 1798"/>
            </a:avLst>
          </a:prstGeom>
          <a:solidFill>
            <a:srgbClr val="F7F7F7"/>
          </a:solidFill>
          <a:ln w="9525">
            <a:solidFill>
              <a:srgbClr val="B5B5B5"/>
            </a:solidFill>
            <a:prstDash val="solid"/>
          </a:ln>
        </p:spPr>
        <p:txBody>
          <a:bodyPr/>
          <a:lstStyle/>
          <a:p>
            <a:endParaRPr lang="en-US" dirty="0"/>
          </a:p>
        </p:txBody>
      </p:sp>
      <p:sp>
        <p:nvSpPr>
          <p:cNvPr id="11" name="Rectangle 10">
            <a:extLst>
              <a:ext uri="{FF2B5EF4-FFF2-40B4-BE49-F238E27FC236}">
                <a16:creationId xmlns:a16="http://schemas.microsoft.com/office/drawing/2014/main" id="{4B6CAC50-798B-48F4-A0DE-505EEF907E15}"/>
              </a:ext>
            </a:extLst>
          </p:cNvPr>
          <p:cNvSpPr>
            <a:spLocks noGrp="1"/>
          </p:cNvSpPr>
          <p:nvPr/>
        </p:nvSpPr>
        <p:spPr>
          <a:xfrm>
            <a:off x="6462522" y="1647634"/>
            <a:ext cx="2857500" cy="2667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/>
          <a:lstStyle/>
          <a:p>
            <a:pPr algn="l">
              <a:defRPr sz="1350" b="1">
                <a:solidFill>
                  <a:srgbClr val="000000"/>
                </a:solidFill>
              </a:defRPr>
            </a:pPr>
            <a:r>
              <a:rPr lang="en-US" sz="1350" b="1" dirty="0">
                <a:solidFill>
                  <a:srgbClr val="000000"/>
                </a:solidFill>
              </a:rPr>
              <a:t>DATA </a:t>
            </a:r>
            <a:r>
              <a:rPr sz="1350" b="1" dirty="0">
                <a:solidFill>
                  <a:srgbClr val="000000"/>
                </a:solidFill>
              </a:rPr>
              <a:t>MEMORY</a:t>
            </a:r>
          </a:p>
        </p:txBody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1D91D647-2341-4341-92D4-31EAEB8AE0FE}"/>
              </a:ext>
            </a:extLst>
          </p:cNvPr>
          <p:cNvSpPr>
            <a:spLocks noGrp="1"/>
          </p:cNvSpPr>
          <p:nvPr/>
        </p:nvSpPr>
        <p:spPr>
          <a:xfrm>
            <a:off x="6436995" y="2276475"/>
            <a:ext cx="762000" cy="2286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/>
          <a:lstStyle/>
          <a:p>
            <a:pPr>
              <a:defRPr sz="1425" b="1">
                <a:solidFill>
                  <a:srgbClr val="000000"/>
                </a:solidFill>
              </a:defRPr>
            </a:pPr>
            <a:r>
              <a:rPr sz="1425" b="1" dirty="0">
                <a:solidFill>
                  <a:srgbClr val="000000"/>
                </a:solidFill>
              </a:rPr>
              <a:t>0x00</a:t>
            </a:r>
            <a:r>
              <a:rPr lang="en-US" sz="1425" b="1" dirty="0">
                <a:solidFill>
                  <a:srgbClr val="000000"/>
                </a:solidFill>
              </a:rPr>
              <a:t> - 0xF9</a:t>
            </a:r>
          </a:p>
          <a:p>
            <a:pPr algn="l">
              <a:defRPr sz="1425" b="1">
                <a:solidFill>
                  <a:srgbClr val="000000"/>
                </a:solidFill>
              </a:defRPr>
            </a:pPr>
            <a:endParaRPr sz="1425" b="1" dirty="0">
              <a:solidFill>
                <a:srgbClr val="000000"/>
              </a:solidFill>
            </a:endParaRPr>
          </a:p>
        </p:txBody>
      </p:sp>
      <p:sp>
        <p:nvSpPr>
          <p:cNvPr id="13" name="Rectangle 12">
            <a:extLst>
              <a:ext uri="{FF2B5EF4-FFF2-40B4-BE49-F238E27FC236}">
                <a16:creationId xmlns:a16="http://schemas.microsoft.com/office/drawing/2014/main" id="{C6FA121A-D567-4839-A2E6-673F208232B6}"/>
              </a:ext>
            </a:extLst>
          </p:cNvPr>
          <p:cNvSpPr>
            <a:spLocks noGrp="1"/>
          </p:cNvSpPr>
          <p:nvPr/>
        </p:nvSpPr>
        <p:spPr>
          <a:xfrm>
            <a:off x="7734300" y="2029421"/>
            <a:ext cx="2762250" cy="2286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/>
          <a:lstStyle/>
          <a:p>
            <a:pPr algn="l">
              <a:defRPr sz="1425" b="0">
                <a:solidFill>
                  <a:srgbClr val="000000"/>
                </a:solidFill>
              </a:defRPr>
            </a:pPr>
            <a:r>
              <a:rPr sz="1425" b="0" dirty="0">
                <a:solidFill>
                  <a:srgbClr val="000000"/>
                </a:solidFill>
              </a:rPr>
              <a:t>General-purpose RAM</a:t>
            </a:r>
          </a:p>
        </p:txBody>
      </p:sp>
      <p:sp>
        <p:nvSpPr>
          <p:cNvPr id="14" name="Rectangle 13">
            <a:extLst>
              <a:ext uri="{FF2B5EF4-FFF2-40B4-BE49-F238E27FC236}">
                <a16:creationId xmlns:a16="http://schemas.microsoft.com/office/drawing/2014/main" id="{E223864A-1C1A-4E69-A133-97DD2E4DADE9}"/>
              </a:ext>
            </a:extLst>
          </p:cNvPr>
          <p:cNvSpPr>
            <a:spLocks noGrp="1"/>
          </p:cNvSpPr>
          <p:nvPr/>
        </p:nvSpPr>
        <p:spPr>
          <a:xfrm>
            <a:off x="6924675" y="2614612"/>
            <a:ext cx="381000" cy="4000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/>
          <a:lstStyle/>
          <a:p>
            <a:pPr algn="l">
              <a:defRPr sz="2250" b="1">
                <a:solidFill>
                  <a:srgbClr val="000000"/>
                </a:solidFill>
              </a:defRPr>
            </a:pPr>
            <a:endParaRPr sz="2250" b="1" dirty="0">
              <a:solidFill>
                <a:srgbClr val="000000"/>
              </a:solidFill>
            </a:endParaRPr>
          </a:p>
        </p:txBody>
      </p:sp>
      <p:sp>
        <p:nvSpPr>
          <p:cNvPr id="15" name="Rectangle 14">
            <a:extLst>
              <a:ext uri="{FF2B5EF4-FFF2-40B4-BE49-F238E27FC236}">
                <a16:creationId xmlns:a16="http://schemas.microsoft.com/office/drawing/2014/main" id="{133331D6-E1BD-44C7-9C92-16F1634D1120}"/>
              </a:ext>
            </a:extLst>
          </p:cNvPr>
          <p:cNvSpPr>
            <a:spLocks noGrp="1"/>
          </p:cNvSpPr>
          <p:nvPr/>
        </p:nvSpPr>
        <p:spPr>
          <a:xfrm>
            <a:off x="6667500" y="3119437"/>
            <a:ext cx="762000" cy="2286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/>
          <a:lstStyle/>
          <a:p>
            <a:pPr algn="l">
              <a:defRPr sz="1425" b="1">
                <a:solidFill>
                  <a:srgbClr val="000000"/>
                </a:solidFill>
              </a:defRPr>
            </a:pPr>
            <a:endParaRPr sz="1425" b="1" dirty="0">
              <a:solidFill>
                <a:srgbClr val="000000"/>
              </a:solidFill>
            </a:endParaRPr>
          </a:p>
        </p:txBody>
      </p:sp>
      <p:sp>
        <p:nvSpPr>
          <p:cNvPr id="17" name="Rectangle 16">
            <a:extLst>
              <a:ext uri="{FF2B5EF4-FFF2-40B4-BE49-F238E27FC236}">
                <a16:creationId xmlns:a16="http://schemas.microsoft.com/office/drawing/2014/main" id="{FD068EFB-A0EF-4173-BCE2-95E403A67E67}"/>
              </a:ext>
            </a:extLst>
          </p:cNvPr>
          <p:cNvSpPr>
            <a:spLocks noGrp="1"/>
          </p:cNvSpPr>
          <p:nvPr/>
        </p:nvSpPr>
        <p:spPr>
          <a:xfrm>
            <a:off x="6448806" y="2609849"/>
            <a:ext cx="1047750" cy="2203133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/>
          <a:lstStyle/>
          <a:p>
            <a:pPr algn="l">
              <a:defRPr sz="1425" b="1">
                <a:solidFill>
                  <a:srgbClr val="000000"/>
                </a:solidFill>
              </a:defRPr>
            </a:pPr>
            <a:r>
              <a:rPr sz="1425" b="1" dirty="0">
                <a:solidFill>
                  <a:srgbClr val="000000"/>
                </a:solidFill>
              </a:rPr>
              <a:t>0xFA</a:t>
            </a:r>
            <a:br>
              <a:rPr lang="en-US" sz="1425" b="1" dirty="0">
                <a:solidFill>
                  <a:srgbClr val="000000"/>
                </a:solidFill>
              </a:rPr>
            </a:br>
            <a:r>
              <a:rPr lang="en-US" sz="1425" b="1" dirty="0">
                <a:solidFill>
                  <a:srgbClr val="000000"/>
                </a:solidFill>
              </a:rPr>
              <a:t>0xFB</a:t>
            </a:r>
            <a:br>
              <a:rPr lang="en-US" sz="1425" b="1" dirty="0">
                <a:solidFill>
                  <a:srgbClr val="000000"/>
                </a:solidFill>
              </a:rPr>
            </a:br>
            <a:r>
              <a:rPr lang="en-US" sz="1425" b="1" dirty="0">
                <a:solidFill>
                  <a:srgbClr val="000000"/>
                </a:solidFill>
              </a:rPr>
              <a:t>0xFC</a:t>
            </a:r>
            <a:br>
              <a:rPr lang="en-US" sz="1425" b="1" dirty="0">
                <a:solidFill>
                  <a:srgbClr val="000000"/>
                </a:solidFill>
              </a:rPr>
            </a:br>
            <a:r>
              <a:rPr lang="en-US" sz="1425" b="1" dirty="0">
                <a:solidFill>
                  <a:srgbClr val="000000"/>
                </a:solidFill>
              </a:rPr>
              <a:t>0xFD</a:t>
            </a:r>
            <a:br>
              <a:rPr lang="en-US" sz="1425" b="1" dirty="0">
                <a:solidFill>
                  <a:srgbClr val="000000"/>
                </a:solidFill>
              </a:rPr>
            </a:br>
            <a:r>
              <a:rPr lang="en-US" sz="1425" b="1" dirty="0">
                <a:solidFill>
                  <a:srgbClr val="000000"/>
                </a:solidFill>
              </a:rPr>
              <a:t>0xFE</a:t>
            </a:r>
            <a:br>
              <a:rPr lang="en-US" sz="1425" b="1" dirty="0">
                <a:solidFill>
                  <a:srgbClr val="000000"/>
                </a:solidFill>
              </a:rPr>
            </a:br>
            <a:r>
              <a:rPr lang="en-US" sz="1425" b="1" dirty="0">
                <a:solidFill>
                  <a:srgbClr val="000000"/>
                </a:solidFill>
              </a:rPr>
              <a:t>0xFF</a:t>
            </a:r>
            <a:br>
              <a:rPr lang="en-US" sz="1425" b="1" dirty="0">
                <a:solidFill>
                  <a:srgbClr val="000000"/>
                </a:solidFill>
              </a:rPr>
            </a:br>
            <a:endParaRPr sz="1425" b="1" dirty="0">
              <a:solidFill>
                <a:srgbClr val="000000"/>
              </a:solidFill>
            </a:endParaRPr>
          </a:p>
        </p:txBody>
      </p:sp>
      <p:sp>
        <p:nvSpPr>
          <p:cNvPr id="18" name="Rectangle 17">
            <a:extLst>
              <a:ext uri="{FF2B5EF4-FFF2-40B4-BE49-F238E27FC236}">
                <a16:creationId xmlns:a16="http://schemas.microsoft.com/office/drawing/2014/main" id="{7F27D0FD-DE2D-48B0-9E32-E3FB70972EF6}"/>
              </a:ext>
            </a:extLst>
          </p:cNvPr>
          <p:cNvSpPr>
            <a:spLocks noGrp="1"/>
          </p:cNvSpPr>
          <p:nvPr/>
        </p:nvSpPr>
        <p:spPr>
          <a:xfrm>
            <a:off x="7734300" y="2615754"/>
            <a:ext cx="2952750" cy="2203133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/>
          <a:lstStyle/>
          <a:p>
            <a:pPr algn="l">
              <a:defRPr sz="1425" b="0">
                <a:solidFill>
                  <a:srgbClr val="000000"/>
                </a:solidFill>
              </a:defRPr>
            </a:pPr>
            <a:endParaRPr sz="1425" b="0" dirty="0">
              <a:solidFill>
                <a:srgbClr val="000000"/>
              </a:solidFill>
            </a:endParaRPr>
          </a:p>
        </p:txBody>
      </p:sp>
      <p:sp>
        <p:nvSpPr>
          <p:cNvPr id="19" name="Rectangle 18">
            <a:extLst>
              <a:ext uri="{FF2B5EF4-FFF2-40B4-BE49-F238E27FC236}">
                <a16:creationId xmlns:a16="http://schemas.microsoft.com/office/drawing/2014/main" id="{E3044912-BFDA-43B1-9134-C616564E9C08}"/>
              </a:ext>
            </a:extLst>
          </p:cNvPr>
          <p:cNvSpPr>
            <a:spLocks noGrp="1"/>
          </p:cNvSpPr>
          <p:nvPr/>
        </p:nvSpPr>
        <p:spPr>
          <a:xfrm>
            <a:off x="685800" y="6496050"/>
            <a:ext cx="7048500" cy="1714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/>
          <a:lstStyle/>
          <a:p>
            <a:pPr algn="l">
              <a:defRPr sz="825" b="0">
                <a:solidFill>
                  <a:srgbClr val="000000"/>
                </a:solidFill>
              </a:defRPr>
            </a:pPr>
            <a:r>
              <a:rPr sz="825" b="0">
                <a:solidFill>
                  <a:srgbClr val="000000"/>
                </a:solidFill>
              </a:rPr>
              <a:t>Team VOLTERE | 8-bit Pipelined Microprocessor</a:t>
            </a:r>
          </a:p>
        </p:txBody>
      </p:sp>
      <p:sp>
        <p:nvSpPr>
          <p:cNvPr id="20" name="Rectangle 19">
            <a:extLst>
              <a:ext uri="{FF2B5EF4-FFF2-40B4-BE49-F238E27FC236}">
                <a16:creationId xmlns:a16="http://schemas.microsoft.com/office/drawing/2014/main" id="{81695689-EC63-4008-9FB5-60A80872AFC3}"/>
              </a:ext>
            </a:extLst>
          </p:cNvPr>
          <p:cNvSpPr>
            <a:spLocks noGrp="1"/>
          </p:cNvSpPr>
          <p:nvPr/>
        </p:nvSpPr>
        <p:spPr>
          <a:xfrm>
            <a:off x="11001375" y="6477000"/>
            <a:ext cx="495300" cy="1714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/>
          <a:lstStyle/>
          <a:p>
            <a:pPr algn="r">
              <a:defRPr sz="825" b="1">
                <a:solidFill>
                  <a:srgbClr val="000000"/>
                </a:solidFill>
              </a:defRPr>
            </a:pPr>
            <a:r>
              <a:rPr sz="825" b="1">
                <a:solidFill>
                  <a:srgbClr val="000000"/>
                </a:solidFill>
              </a:rPr>
              <a:t>06</a:t>
            </a:r>
          </a:p>
        </p:txBody>
      </p:sp>
      <p:sp>
        <p:nvSpPr>
          <p:cNvPr id="23" name="TextBox 22">
            <a:extLst>
              <a:ext uri="{FF2B5EF4-FFF2-40B4-BE49-F238E27FC236}">
                <a16:creationId xmlns:a16="http://schemas.microsoft.com/office/drawing/2014/main" id="{134686A3-AA99-0342-3E11-77AD361B43AF}"/>
              </a:ext>
            </a:extLst>
          </p:cNvPr>
          <p:cNvSpPr txBox="1"/>
          <p:nvPr/>
        </p:nvSpPr>
        <p:spPr>
          <a:xfrm>
            <a:off x="685800" y="3690539"/>
            <a:ext cx="4857750" cy="83099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1600" dirty="0"/>
              <a:t>Three read ports allow the MAC instruction to read its accumulator and two input operands in one cycle, avoiding an extra pipeline stage or cycle.</a:t>
            </a:r>
          </a:p>
        </p:txBody>
      </p:sp>
      <p:sp>
        <p:nvSpPr>
          <p:cNvPr id="25" name="Rectangle 24">
            <a:extLst>
              <a:ext uri="{FF2B5EF4-FFF2-40B4-BE49-F238E27FC236}">
                <a16:creationId xmlns:a16="http://schemas.microsoft.com/office/drawing/2014/main" id="{FDA42337-F0F1-8B87-5EF2-881ACCEB8424}"/>
              </a:ext>
            </a:extLst>
          </p:cNvPr>
          <p:cNvSpPr>
            <a:spLocks noGrp="1"/>
          </p:cNvSpPr>
          <p:nvPr/>
        </p:nvSpPr>
        <p:spPr>
          <a:xfrm>
            <a:off x="7667244" y="2882027"/>
            <a:ext cx="2762250" cy="1461667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/>
          <a:lstStyle/>
          <a:p>
            <a:pPr>
              <a:defRPr sz="1425" b="0">
                <a:solidFill>
                  <a:srgbClr val="000000"/>
                </a:solidFill>
              </a:defRPr>
            </a:pPr>
            <a:r>
              <a:rPr lang="en-US" sz="1425" dirty="0">
                <a:solidFill>
                  <a:srgbClr val="000000"/>
                </a:solidFill>
              </a:rPr>
              <a:t>UART Status</a:t>
            </a:r>
            <a:br>
              <a:rPr lang="en-US" sz="1425" dirty="0">
                <a:solidFill>
                  <a:srgbClr val="000000"/>
                </a:solidFill>
              </a:rPr>
            </a:br>
            <a:r>
              <a:rPr lang="en-US" sz="1425" dirty="0"/>
              <a:t>UART Receiver Data Register</a:t>
            </a:r>
            <a:br>
              <a:rPr lang="en-US" sz="1425" dirty="0"/>
            </a:br>
            <a:r>
              <a:rPr lang="en-US" sz="1425" dirty="0"/>
              <a:t>UART Transmitter Data Register</a:t>
            </a:r>
            <a:br>
              <a:rPr lang="en-US" sz="1425" dirty="0"/>
            </a:br>
            <a:r>
              <a:rPr lang="en-US" sz="1425" dirty="0"/>
              <a:t>External ADC Inputs</a:t>
            </a:r>
            <a:br>
              <a:rPr lang="en-US" sz="1425" dirty="0"/>
            </a:br>
            <a:r>
              <a:rPr lang="en-US" sz="1425" dirty="0"/>
              <a:t>External Digital Inputs</a:t>
            </a:r>
            <a:br>
              <a:rPr lang="en-US" sz="1425" dirty="0"/>
            </a:br>
            <a:r>
              <a:rPr lang="en-US" sz="1425" dirty="0"/>
              <a:t>PWM Motor Duty Cycle</a:t>
            </a:r>
            <a:endParaRPr sz="1425" dirty="0">
              <a:solidFill>
                <a:srgbClr val="000000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063185350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" name="Rectangle 20">
            <a:extLst>
              <a:ext uri="{FF2B5EF4-FFF2-40B4-BE49-F238E27FC236}">
                <a16:creationId xmlns:a16="http://schemas.microsoft.com/office/drawing/2014/main" id="{62E0F828-B833-405B-A7FA-F29B9229579A}"/>
              </a:ext>
            </a:extLst>
          </p:cNvPr>
          <p:cNvSpPr>
            <a:spLocks noGrp="1"/>
          </p:cNvSpPr>
          <p:nvPr/>
        </p:nvSpPr>
        <p:spPr>
          <a:xfrm>
            <a:off x="685800" y="342900"/>
            <a:ext cx="5715000" cy="2095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/>
          <a:lstStyle/>
          <a:p>
            <a:pPr algn="l">
              <a:defRPr sz="975" b="1">
                <a:solidFill>
                  <a:srgbClr val="000000"/>
                </a:solidFill>
              </a:defRPr>
            </a:pPr>
            <a:r>
              <a:rPr sz="975" b="1">
                <a:solidFill>
                  <a:srgbClr val="000000"/>
                </a:solidFill>
              </a:rPr>
              <a:t>TEAM VOLTERE | IITISoC 2026</a:t>
            </a:r>
          </a:p>
        </p:txBody>
      </p:sp>
      <p:sp>
        <p:nvSpPr>
          <p:cNvPr id="2" name="Rectangle 1">
            <a:extLst>
              <a:ext uri="{FF2B5EF4-FFF2-40B4-BE49-F238E27FC236}">
                <a16:creationId xmlns:a16="http://schemas.microsoft.com/office/drawing/2014/main" id="{5A352914-F4A6-4561-85A0-148C18133247}"/>
              </a:ext>
            </a:extLst>
          </p:cNvPr>
          <p:cNvSpPr>
            <a:spLocks noGrp="1"/>
          </p:cNvSpPr>
          <p:nvPr/>
        </p:nvSpPr>
        <p:spPr>
          <a:xfrm>
            <a:off x="685800" y="628650"/>
            <a:ext cx="10763250" cy="5143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/>
          <a:lstStyle/>
          <a:p>
            <a:pPr algn="l">
              <a:defRPr sz="2550" b="1">
                <a:solidFill>
                  <a:srgbClr val="000000"/>
                </a:solidFill>
              </a:defRPr>
            </a:pPr>
            <a:r>
              <a:rPr sz="2550" b="1" dirty="0">
                <a:solidFill>
                  <a:srgbClr val="000000"/>
                </a:solidFill>
              </a:rPr>
              <a:t>A fixed 16-bit encoding supports 28 instructions with simple decode</a:t>
            </a:r>
          </a:p>
        </p:txBody>
      </p:sp>
      <p:sp>
        <p:nvSpPr>
          <p:cNvPr id="3" name="Rectangle: Rounded Corners 2">
            <a:extLst>
              <a:ext uri="{FF2B5EF4-FFF2-40B4-BE49-F238E27FC236}">
                <a16:creationId xmlns:a16="http://schemas.microsoft.com/office/drawing/2014/main" id="{4476D70C-30EA-439C-BF51-8A719980133B}"/>
              </a:ext>
            </a:extLst>
          </p:cNvPr>
          <p:cNvSpPr>
            <a:spLocks noGrp="1"/>
          </p:cNvSpPr>
          <p:nvPr/>
        </p:nvSpPr>
        <p:spPr>
          <a:xfrm>
            <a:off x="876300" y="1476375"/>
            <a:ext cx="9906000" cy="504825"/>
          </a:xfrm>
          <a:prstGeom prst="roundRect">
            <a:avLst>
              <a:gd name="adj" fmla="val 15094"/>
            </a:avLst>
          </a:prstGeom>
          <a:solidFill>
            <a:srgbClr val="F7F7F7"/>
          </a:solidFill>
          <a:ln w="9525">
            <a:solidFill>
              <a:srgbClr val="B5B5B5"/>
            </a:solidFill>
            <a:prstDash val="solid"/>
          </a:ln>
        </p:spPr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EAEBF77D-245C-47A0-850E-22135C2B2F16}"/>
              </a:ext>
            </a:extLst>
          </p:cNvPr>
          <p:cNvSpPr>
            <a:spLocks noGrp="1"/>
          </p:cNvSpPr>
          <p:nvPr/>
        </p:nvSpPr>
        <p:spPr>
          <a:xfrm>
            <a:off x="1095375" y="1581150"/>
            <a:ext cx="1571625" cy="2667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/>
          <a:lstStyle/>
          <a:p>
            <a:pPr algn="l">
              <a:defRPr sz="1350" b="1">
                <a:solidFill>
                  <a:srgbClr val="000000"/>
                </a:solidFill>
              </a:defRPr>
            </a:pPr>
            <a:r>
              <a:rPr sz="1350" b="1">
                <a:solidFill>
                  <a:srgbClr val="000000"/>
                </a:solidFill>
              </a:rPr>
              <a:t>R-Type</a:t>
            </a:r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F6ED5E6D-8125-4C04-BBB1-B61F114CEA09}"/>
              </a:ext>
            </a:extLst>
          </p:cNvPr>
          <p:cNvSpPr>
            <a:spLocks noGrp="1"/>
          </p:cNvSpPr>
          <p:nvPr/>
        </p:nvSpPr>
        <p:spPr>
          <a:xfrm>
            <a:off x="2809875" y="1581150"/>
            <a:ext cx="7620000" cy="2667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/>
          <a:lstStyle/>
          <a:p>
            <a:pPr algn="l">
              <a:defRPr sz="1425" b="0">
                <a:solidFill>
                  <a:srgbClr val="000000"/>
                </a:solidFill>
              </a:defRPr>
            </a:pPr>
            <a:r>
              <a:rPr sz="1425" b="0">
                <a:solidFill>
                  <a:srgbClr val="000000"/>
                </a:solidFill>
              </a:rPr>
              <a:t>Opcode | Rd | Rs1 | Rs2 | Unused</a:t>
            </a:r>
          </a:p>
        </p:txBody>
      </p:sp>
      <p:sp>
        <p:nvSpPr>
          <p:cNvPr id="6" name="Rectangle: Rounded Corners 5">
            <a:extLst>
              <a:ext uri="{FF2B5EF4-FFF2-40B4-BE49-F238E27FC236}">
                <a16:creationId xmlns:a16="http://schemas.microsoft.com/office/drawing/2014/main" id="{49451695-9759-4B1D-8229-652B42CF45E3}"/>
              </a:ext>
            </a:extLst>
          </p:cNvPr>
          <p:cNvSpPr>
            <a:spLocks noGrp="1"/>
          </p:cNvSpPr>
          <p:nvPr/>
        </p:nvSpPr>
        <p:spPr>
          <a:xfrm>
            <a:off x="876300" y="2171700"/>
            <a:ext cx="9906000" cy="504825"/>
          </a:xfrm>
          <a:prstGeom prst="roundRect">
            <a:avLst>
              <a:gd name="adj" fmla="val 15094"/>
            </a:avLst>
          </a:prstGeom>
          <a:solidFill>
            <a:srgbClr val="F7F7F7"/>
          </a:solidFill>
          <a:ln w="9525">
            <a:solidFill>
              <a:srgbClr val="B5B5B5"/>
            </a:solidFill>
            <a:prstDash val="solid"/>
          </a:ln>
        </p:spPr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ED47CFE4-F819-4889-B145-789012BD1273}"/>
              </a:ext>
            </a:extLst>
          </p:cNvPr>
          <p:cNvSpPr>
            <a:spLocks noGrp="1"/>
          </p:cNvSpPr>
          <p:nvPr/>
        </p:nvSpPr>
        <p:spPr>
          <a:xfrm>
            <a:off x="1095375" y="2276475"/>
            <a:ext cx="1571625" cy="2667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/>
          <a:lstStyle/>
          <a:p>
            <a:pPr algn="l">
              <a:defRPr sz="1350" b="1">
                <a:solidFill>
                  <a:srgbClr val="000000"/>
                </a:solidFill>
              </a:defRPr>
            </a:pPr>
            <a:r>
              <a:rPr sz="1350" b="1">
                <a:solidFill>
                  <a:srgbClr val="000000"/>
                </a:solidFill>
              </a:rPr>
              <a:t>I-Type</a:t>
            </a:r>
          </a:p>
        </p:txBody>
      </p:sp>
      <p:sp>
        <p:nvSpPr>
          <p:cNvPr id="8" name="Rectangle 7">
            <a:extLst>
              <a:ext uri="{FF2B5EF4-FFF2-40B4-BE49-F238E27FC236}">
                <a16:creationId xmlns:a16="http://schemas.microsoft.com/office/drawing/2014/main" id="{BBDEB2E1-00DF-4F47-90D4-76AFEE372B02}"/>
              </a:ext>
            </a:extLst>
          </p:cNvPr>
          <p:cNvSpPr>
            <a:spLocks noGrp="1"/>
          </p:cNvSpPr>
          <p:nvPr/>
        </p:nvSpPr>
        <p:spPr>
          <a:xfrm>
            <a:off x="2809875" y="2276475"/>
            <a:ext cx="7620000" cy="2667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/>
          <a:lstStyle/>
          <a:p>
            <a:pPr algn="l">
              <a:defRPr sz="1425" b="0">
                <a:solidFill>
                  <a:srgbClr val="000000"/>
                </a:solidFill>
              </a:defRPr>
            </a:pPr>
            <a:r>
              <a:rPr sz="1425" b="0">
                <a:solidFill>
                  <a:srgbClr val="000000"/>
                </a:solidFill>
              </a:rPr>
              <a:t>Opcode | Rd | Immediate[7:0]</a:t>
            </a:r>
          </a:p>
        </p:txBody>
      </p:sp>
      <p:sp>
        <p:nvSpPr>
          <p:cNvPr id="9" name="Rectangle: Rounded Corners 8">
            <a:extLst>
              <a:ext uri="{FF2B5EF4-FFF2-40B4-BE49-F238E27FC236}">
                <a16:creationId xmlns:a16="http://schemas.microsoft.com/office/drawing/2014/main" id="{B5D5AA47-12CC-451F-8312-E0666474DB2C}"/>
              </a:ext>
            </a:extLst>
          </p:cNvPr>
          <p:cNvSpPr>
            <a:spLocks noGrp="1"/>
          </p:cNvSpPr>
          <p:nvPr/>
        </p:nvSpPr>
        <p:spPr>
          <a:xfrm>
            <a:off x="876300" y="2867025"/>
            <a:ext cx="9906000" cy="504825"/>
          </a:xfrm>
          <a:prstGeom prst="roundRect">
            <a:avLst>
              <a:gd name="adj" fmla="val 15094"/>
            </a:avLst>
          </a:prstGeom>
          <a:solidFill>
            <a:srgbClr val="F7F7F7"/>
          </a:solidFill>
          <a:ln w="9525">
            <a:solidFill>
              <a:srgbClr val="B5B5B5"/>
            </a:solidFill>
            <a:prstDash val="solid"/>
          </a:ln>
        </p:spPr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29CF29AB-82B9-4012-A587-3EFAD2C1856E}"/>
              </a:ext>
            </a:extLst>
          </p:cNvPr>
          <p:cNvSpPr>
            <a:spLocks noGrp="1"/>
          </p:cNvSpPr>
          <p:nvPr/>
        </p:nvSpPr>
        <p:spPr>
          <a:xfrm>
            <a:off x="1095375" y="2971800"/>
            <a:ext cx="1571625" cy="2667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/>
          <a:lstStyle/>
          <a:p>
            <a:pPr algn="l">
              <a:defRPr sz="1350" b="1">
                <a:solidFill>
                  <a:srgbClr val="000000"/>
                </a:solidFill>
              </a:defRPr>
            </a:pPr>
            <a:r>
              <a:rPr sz="1350" b="1">
                <a:solidFill>
                  <a:srgbClr val="000000"/>
                </a:solidFill>
              </a:rPr>
              <a:t>ADDI-Type</a:t>
            </a:r>
          </a:p>
        </p:txBody>
      </p:sp>
      <p:sp>
        <p:nvSpPr>
          <p:cNvPr id="11" name="Rectangle 10">
            <a:extLst>
              <a:ext uri="{FF2B5EF4-FFF2-40B4-BE49-F238E27FC236}">
                <a16:creationId xmlns:a16="http://schemas.microsoft.com/office/drawing/2014/main" id="{D46D87BC-E305-4F4C-A7D9-C7C5C17A9EED}"/>
              </a:ext>
            </a:extLst>
          </p:cNvPr>
          <p:cNvSpPr>
            <a:spLocks noGrp="1"/>
          </p:cNvSpPr>
          <p:nvPr/>
        </p:nvSpPr>
        <p:spPr>
          <a:xfrm>
            <a:off x="2809875" y="2971800"/>
            <a:ext cx="7620000" cy="2667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/>
          <a:lstStyle/>
          <a:p>
            <a:pPr algn="l">
              <a:defRPr sz="1425" b="0">
                <a:solidFill>
                  <a:srgbClr val="000000"/>
                </a:solidFill>
              </a:defRPr>
            </a:pPr>
            <a:r>
              <a:rPr sz="1425" b="0">
                <a:solidFill>
                  <a:srgbClr val="000000"/>
                </a:solidFill>
              </a:rPr>
              <a:t>Opcode | Rd | Rs1 | Immediate[4:0]</a:t>
            </a:r>
          </a:p>
        </p:txBody>
      </p:sp>
      <p:sp>
        <p:nvSpPr>
          <p:cNvPr id="12" name="Rectangle: Rounded Corners 11">
            <a:extLst>
              <a:ext uri="{FF2B5EF4-FFF2-40B4-BE49-F238E27FC236}">
                <a16:creationId xmlns:a16="http://schemas.microsoft.com/office/drawing/2014/main" id="{E9FC63A6-FA6E-459F-9741-4B85B906D8BB}"/>
              </a:ext>
            </a:extLst>
          </p:cNvPr>
          <p:cNvSpPr>
            <a:spLocks noGrp="1"/>
          </p:cNvSpPr>
          <p:nvPr/>
        </p:nvSpPr>
        <p:spPr>
          <a:xfrm>
            <a:off x="876300" y="3562350"/>
            <a:ext cx="9906000" cy="504825"/>
          </a:xfrm>
          <a:prstGeom prst="roundRect">
            <a:avLst>
              <a:gd name="adj" fmla="val 15094"/>
            </a:avLst>
          </a:prstGeom>
          <a:solidFill>
            <a:srgbClr val="F7F7F7"/>
          </a:solidFill>
          <a:ln w="9525">
            <a:solidFill>
              <a:srgbClr val="B5B5B5"/>
            </a:solidFill>
            <a:prstDash val="solid"/>
          </a:ln>
        </p:spPr>
      </p:sp>
      <p:sp>
        <p:nvSpPr>
          <p:cNvPr id="13" name="Rectangle 12">
            <a:extLst>
              <a:ext uri="{FF2B5EF4-FFF2-40B4-BE49-F238E27FC236}">
                <a16:creationId xmlns:a16="http://schemas.microsoft.com/office/drawing/2014/main" id="{F26C9F63-D6BB-4126-BB88-2B6DFB5BCCD5}"/>
              </a:ext>
            </a:extLst>
          </p:cNvPr>
          <p:cNvSpPr>
            <a:spLocks noGrp="1"/>
          </p:cNvSpPr>
          <p:nvPr/>
        </p:nvSpPr>
        <p:spPr>
          <a:xfrm>
            <a:off x="1095375" y="3667125"/>
            <a:ext cx="1571625" cy="2667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/>
          <a:lstStyle/>
          <a:p>
            <a:pPr algn="l">
              <a:defRPr sz="1350" b="1">
                <a:solidFill>
                  <a:srgbClr val="000000"/>
                </a:solidFill>
              </a:defRPr>
            </a:pPr>
            <a:r>
              <a:rPr sz="1350" b="1">
                <a:solidFill>
                  <a:srgbClr val="000000"/>
                </a:solidFill>
              </a:rPr>
              <a:t>Branch</a:t>
            </a:r>
          </a:p>
        </p:txBody>
      </p:sp>
      <p:sp>
        <p:nvSpPr>
          <p:cNvPr id="14" name="Rectangle 13">
            <a:extLst>
              <a:ext uri="{FF2B5EF4-FFF2-40B4-BE49-F238E27FC236}">
                <a16:creationId xmlns:a16="http://schemas.microsoft.com/office/drawing/2014/main" id="{6CC9FBFD-252F-4C0E-8BE8-D9D0E9A65097}"/>
              </a:ext>
            </a:extLst>
          </p:cNvPr>
          <p:cNvSpPr>
            <a:spLocks noGrp="1"/>
          </p:cNvSpPr>
          <p:nvPr/>
        </p:nvSpPr>
        <p:spPr>
          <a:xfrm>
            <a:off x="2809875" y="3667125"/>
            <a:ext cx="7620000" cy="2667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/>
          <a:lstStyle/>
          <a:p>
            <a:pPr algn="l">
              <a:defRPr sz="1425" b="0">
                <a:solidFill>
                  <a:srgbClr val="000000"/>
                </a:solidFill>
              </a:defRPr>
            </a:pPr>
            <a:r>
              <a:rPr sz="1425" b="0">
                <a:solidFill>
                  <a:srgbClr val="000000"/>
                </a:solidFill>
              </a:rPr>
              <a:t>Opcode | Rs1 / Rd | Target / Offset[7:0]</a:t>
            </a:r>
          </a:p>
        </p:txBody>
      </p:sp>
      <p:sp>
        <p:nvSpPr>
          <p:cNvPr id="15" name="Rectangle: Rounded Corners 14">
            <a:extLst>
              <a:ext uri="{FF2B5EF4-FFF2-40B4-BE49-F238E27FC236}">
                <a16:creationId xmlns:a16="http://schemas.microsoft.com/office/drawing/2014/main" id="{A5FD066E-585F-4D87-B9B9-BC57B7769A51}"/>
              </a:ext>
            </a:extLst>
          </p:cNvPr>
          <p:cNvSpPr>
            <a:spLocks noGrp="1"/>
          </p:cNvSpPr>
          <p:nvPr/>
        </p:nvSpPr>
        <p:spPr>
          <a:xfrm>
            <a:off x="876300" y="4257675"/>
            <a:ext cx="9906000" cy="504825"/>
          </a:xfrm>
          <a:prstGeom prst="roundRect">
            <a:avLst>
              <a:gd name="adj" fmla="val 15094"/>
            </a:avLst>
          </a:prstGeom>
          <a:solidFill>
            <a:srgbClr val="F7F7F7"/>
          </a:solidFill>
          <a:ln w="9525">
            <a:solidFill>
              <a:srgbClr val="B5B5B5"/>
            </a:solidFill>
            <a:prstDash val="solid"/>
          </a:ln>
        </p:spPr>
      </p:sp>
      <p:sp>
        <p:nvSpPr>
          <p:cNvPr id="16" name="Rectangle 15">
            <a:extLst>
              <a:ext uri="{FF2B5EF4-FFF2-40B4-BE49-F238E27FC236}">
                <a16:creationId xmlns:a16="http://schemas.microsoft.com/office/drawing/2014/main" id="{3D36626E-7422-4D1C-AFCF-ED2B79BA2C1F}"/>
              </a:ext>
            </a:extLst>
          </p:cNvPr>
          <p:cNvSpPr>
            <a:spLocks noGrp="1"/>
          </p:cNvSpPr>
          <p:nvPr/>
        </p:nvSpPr>
        <p:spPr>
          <a:xfrm>
            <a:off x="1095375" y="4362450"/>
            <a:ext cx="1571625" cy="2667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/>
          <a:lstStyle/>
          <a:p>
            <a:pPr algn="l">
              <a:defRPr sz="1350" b="1">
                <a:solidFill>
                  <a:srgbClr val="000000"/>
                </a:solidFill>
              </a:defRPr>
            </a:pPr>
            <a:r>
              <a:rPr sz="1350" b="1">
                <a:solidFill>
                  <a:srgbClr val="000000"/>
                </a:solidFill>
              </a:rPr>
              <a:t>System</a:t>
            </a:r>
          </a:p>
        </p:txBody>
      </p:sp>
      <p:sp>
        <p:nvSpPr>
          <p:cNvPr id="17" name="Rectangle 16">
            <a:extLst>
              <a:ext uri="{FF2B5EF4-FFF2-40B4-BE49-F238E27FC236}">
                <a16:creationId xmlns:a16="http://schemas.microsoft.com/office/drawing/2014/main" id="{27EC2388-76D8-4127-82C0-B2BA9F6A91A3}"/>
              </a:ext>
            </a:extLst>
          </p:cNvPr>
          <p:cNvSpPr>
            <a:spLocks noGrp="1"/>
          </p:cNvSpPr>
          <p:nvPr/>
        </p:nvSpPr>
        <p:spPr>
          <a:xfrm>
            <a:off x="2809875" y="4362450"/>
            <a:ext cx="7620000" cy="2667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/>
          <a:lstStyle/>
          <a:p>
            <a:pPr algn="l">
              <a:defRPr sz="1425" b="0">
                <a:solidFill>
                  <a:srgbClr val="000000"/>
                </a:solidFill>
              </a:defRPr>
            </a:pPr>
            <a:r>
              <a:rPr sz="1425" b="0">
                <a:solidFill>
                  <a:srgbClr val="000000"/>
                </a:solidFill>
              </a:rPr>
              <a:t>Opcode | Rs1 | Unused</a:t>
            </a:r>
          </a:p>
        </p:txBody>
      </p:sp>
      <p:sp>
        <p:nvSpPr>
          <p:cNvPr id="18" name="Rectangle 17">
            <a:extLst>
              <a:ext uri="{FF2B5EF4-FFF2-40B4-BE49-F238E27FC236}">
                <a16:creationId xmlns:a16="http://schemas.microsoft.com/office/drawing/2014/main" id="{53BA2210-9153-40F9-B00C-561B66D1B89E}"/>
              </a:ext>
            </a:extLst>
          </p:cNvPr>
          <p:cNvSpPr>
            <a:spLocks noGrp="1"/>
          </p:cNvSpPr>
          <p:nvPr/>
        </p:nvSpPr>
        <p:spPr>
          <a:xfrm>
            <a:off x="876300" y="5353050"/>
            <a:ext cx="5524500" cy="2857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/>
          <a:lstStyle/>
          <a:p>
            <a:pPr algn="l">
              <a:defRPr sz="1725" b="1">
                <a:solidFill>
                  <a:srgbClr val="000000"/>
                </a:solidFill>
              </a:defRPr>
            </a:pPr>
            <a:r>
              <a:rPr sz="1725" b="1" dirty="0">
                <a:solidFill>
                  <a:srgbClr val="000000"/>
                </a:solidFill>
              </a:rPr>
              <a:t>Opcode field: instruction[15:11]</a:t>
            </a:r>
          </a:p>
        </p:txBody>
      </p:sp>
      <p:sp>
        <p:nvSpPr>
          <p:cNvPr id="19" name="Rectangle 18">
            <a:extLst>
              <a:ext uri="{FF2B5EF4-FFF2-40B4-BE49-F238E27FC236}">
                <a16:creationId xmlns:a16="http://schemas.microsoft.com/office/drawing/2014/main" id="{BE0C7851-03F8-43B4-811F-7E7003F2EE81}"/>
              </a:ext>
            </a:extLst>
          </p:cNvPr>
          <p:cNvSpPr>
            <a:spLocks noGrp="1"/>
          </p:cNvSpPr>
          <p:nvPr/>
        </p:nvSpPr>
        <p:spPr>
          <a:xfrm>
            <a:off x="685800" y="6496050"/>
            <a:ext cx="7048500" cy="1714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/>
          <a:lstStyle/>
          <a:p>
            <a:pPr algn="l">
              <a:defRPr sz="825" b="0">
                <a:solidFill>
                  <a:srgbClr val="000000"/>
                </a:solidFill>
              </a:defRPr>
            </a:pPr>
            <a:r>
              <a:rPr sz="825" b="0">
                <a:solidFill>
                  <a:srgbClr val="000000"/>
                </a:solidFill>
              </a:rPr>
              <a:t>Team VOLTERE | 8-bit Pipelined Microprocessor</a:t>
            </a:r>
          </a:p>
        </p:txBody>
      </p:sp>
      <p:sp>
        <p:nvSpPr>
          <p:cNvPr id="20" name="Rectangle 19">
            <a:extLst>
              <a:ext uri="{FF2B5EF4-FFF2-40B4-BE49-F238E27FC236}">
                <a16:creationId xmlns:a16="http://schemas.microsoft.com/office/drawing/2014/main" id="{99069B3A-6C36-438D-BCEA-002CB3EA7EC8}"/>
              </a:ext>
            </a:extLst>
          </p:cNvPr>
          <p:cNvSpPr>
            <a:spLocks noGrp="1"/>
          </p:cNvSpPr>
          <p:nvPr/>
        </p:nvSpPr>
        <p:spPr>
          <a:xfrm>
            <a:off x="11001375" y="6477000"/>
            <a:ext cx="495300" cy="1714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/>
          <a:lstStyle/>
          <a:p>
            <a:pPr algn="r">
              <a:defRPr sz="825" b="1">
                <a:solidFill>
                  <a:srgbClr val="000000"/>
                </a:solidFill>
              </a:defRPr>
            </a:pPr>
            <a:r>
              <a:rPr sz="825" b="1">
                <a:solidFill>
                  <a:srgbClr val="000000"/>
                </a:solidFill>
              </a:rPr>
              <a:t>07</a:t>
            </a:r>
          </a:p>
        </p:txBody>
      </p:sp>
    </p:spTree>
    <p:extLst>
      <p:ext uri="{BB962C8B-B14F-4D97-AF65-F5344CB8AC3E}">
        <p14:creationId xmlns:p14="http://schemas.microsoft.com/office/powerpoint/2010/main" val="1103555082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Rectangle 16">
            <a:extLst>
              <a:ext uri="{FF2B5EF4-FFF2-40B4-BE49-F238E27FC236}">
                <a16:creationId xmlns:a16="http://schemas.microsoft.com/office/drawing/2014/main" id="{3D828CEF-A122-476B-90FF-8A35760672AF}"/>
              </a:ext>
            </a:extLst>
          </p:cNvPr>
          <p:cNvSpPr>
            <a:spLocks noGrp="1"/>
          </p:cNvSpPr>
          <p:nvPr/>
        </p:nvSpPr>
        <p:spPr>
          <a:xfrm>
            <a:off x="685800" y="342900"/>
            <a:ext cx="5715000" cy="2095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/>
          <a:lstStyle/>
          <a:p>
            <a:pPr algn="l">
              <a:defRPr sz="975" b="1">
                <a:solidFill>
                  <a:srgbClr val="000000"/>
                </a:solidFill>
              </a:defRPr>
            </a:pPr>
            <a:r>
              <a:rPr sz="975" b="1">
                <a:solidFill>
                  <a:srgbClr val="000000"/>
                </a:solidFill>
              </a:rPr>
              <a:t>TEAM VOLTERE | IITISoC 2026</a:t>
            </a:r>
          </a:p>
        </p:txBody>
      </p:sp>
      <p:sp>
        <p:nvSpPr>
          <p:cNvPr id="2" name="Rectangle 1">
            <a:extLst>
              <a:ext uri="{FF2B5EF4-FFF2-40B4-BE49-F238E27FC236}">
                <a16:creationId xmlns:a16="http://schemas.microsoft.com/office/drawing/2014/main" id="{2CEC544C-4B4D-416A-8CE7-5AAAFC7473B1}"/>
              </a:ext>
            </a:extLst>
          </p:cNvPr>
          <p:cNvSpPr>
            <a:spLocks noGrp="1"/>
          </p:cNvSpPr>
          <p:nvPr/>
        </p:nvSpPr>
        <p:spPr>
          <a:xfrm>
            <a:off x="685800" y="628650"/>
            <a:ext cx="10763250" cy="5143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/>
          <a:lstStyle/>
          <a:p>
            <a:pPr algn="l">
              <a:defRPr sz="2550" b="1">
                <a:solidFill>
                  <a:srgbClr val="000000"/>
                </a:solidFill>
              </a:defRPr>
            </a:pPr>
            <a:r>
              <a:rPr sz="2550" b="1">
                <a:solidFill>
                  <a:srgbClr val="000000"/>
                </a:solidFill>
              </a:rPr>
              <a:t>The ISA covers arithmetic, control flow, DSP, system control, and I/O access</a:t>
            </a:r>
          </a:p>
        </p:txBody>
      </p:sp>
      <p:sp>
        <p:nvSpPr>
          <p:cNvPr id="3" name="Rectangle: Rounded Corners 2">
            <a:extLst>
              <a:ext uri="{FF2B5EF4-FFF2-40B4-BE49-F238E27FC236}">
                <a16:creationId xmlns:a16="http://schemas.microsoft.com/office/drawing/2014/main" id="{8027B26C-18AF-4BF6-AC00-A6296595CA8B}"/>
              </a:ext>
            </a:extLst>
          </p:cNvPr>
          <p:cNvSpPr>
            <a:spLocks noGrp="1"/>
          </p:cNvSpPr>
          <p:nvPr/>
        </p:nvSpPr>
        <p:spPr>
          <a:xfrm>
            <a:off x="681037" y="1766570"/>
            <a:ext cx="2428875" cy="2190750"/>
          </a:xfrm>
          <a:prstGeom prst="roundRect">
            <a:avLst>
              <a:gd name="adj" fmla="val 3478"/>
            </a:avLst>
          </a:prstGeom>
          <a:solidFill>
            <a:srgbClr val="F7F7F7"/>
          </a:solidFill>
          <a:ln w="9525">
            <a:solidFill>
              <a:srgbClr val="B5B5B5"/>
            </a:solidFill>
            <a:prstDash val="solid"/>
          </a:ln>
        </p:spPr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AE4133C9-D5F6-41B3-B0F3-008B864769DE}"/>
              </a:ext>
            </a:extLst>
          </p:cNvPr>
          <p:cNvSpPr>
            <a:spLocks noGrp="1"/>
          </p:cNvSpPr>
          <p:nvPr/>
        </p:nvSpPr>
        <p:spPr>
          <a:xfrm>
            <a:off x="895350" y="2047875"/>
            <a:ext cx="2047875" cy="42862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/>
          <a:lstStyle/>
          <a:p>
            <a:pPr algn="l">
              <a:defRPr sz="1425" b="1">
                <a:solidFill>
                  <a:srgbClr val="000000"/>
                </a:solidFill>
              </a:defRPr>
            </a:pPr>
            <a:r>
              <a:rPr sz="1425" b="1">
                <a:solidFill>
                  <a:srgbClr val="000000"/>
                </a:solidFill>
              </a:rPr>
              <a:t>Arithmetic and logic</a:t>
            </a:r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55A0D8F4-FB5E-4547-9DD1-56D146701FE4}"/>
              </a:ext>
            </a:extLst>
          </p:cNvPr>
          <p:cNvSpPr>
            <a:spLocks noGrp="1"/>
          </p:cNvSpPr>
          <p:nvPr/>
        </p:nvSpPr>
        <p:spPr>
          <a:xfrm>
            <a:off x="895350" y="2762250"/>
            <a:ext cx="2000250" cy="7620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/>
          <a:lstStyle/>
          <a:p>
            <a:pPr algn="l">
              <a:defRPr sz="1350" b="0">
                <a:solidFill>
                  <a:srgbClr val="000000"/>
                </a:solidFill>
              </a:defRPr>
            </a:pPr>
            <a:r>
              <a:rPr sz="1350" b="0">
                <a:solidFill>
                  <a:srgbClr val="000000"/>
                </a:solidFill>
              </a:rPr>
              <a:t>ADD  SUB  AND  OR  XOR</a:t>
            </a:r>
          </a:p>
          <a:p>
            <a:pPr algn="l">
              <a:defRPr sz="1350" b="0">
                <a:solidFill>
                  <a:srgbClr val="000000"/>
                </a:solidFill>
              </a:defRPr>
            </a:pPr>
            <a:r>
              <a:rPr sz="1350" b="0">
                <a:solidFill>
                  <a:srgbClr val="000000"/>
                </a:solidFill>
              </a:rPr>
              <a:t>SHL  SHR  SLT  ROL  ROR</a:t>
            </a:r>
          </a:p>
        </p:txBody>
      </p:sp>
      <p:sp>
        <p:nvSpPr>
          <p:cNvPr id="6" name="Rectangle: Rounded Corners 5">
            <a:extLst>
              <a:ext uri="{FF2B5EF4-FFF2-40B4-BE49-F238E27FC236}">
                <a16:creationId xmlns:a16="http://schemas.microsoft.com/office/drawing/2014/main" id="{90462050-F8BF-4950-BEAA-A30E14E882A9}"/>
              </a:ext>
            </a:extLst>
          </p:cNvPr>
          <p:cNvSpPr>
            <a:spLocks noGrp="1"/>
          </p:cNvSpPr>
          <p:nvPr/>
        </p:nvSpPr>
        <p:spPr>
          <a:xfrm>
            <a:off x="3429000" y="1762125"/>
            <a:ext cx="2428875" cy="2190750"/>
          </a:xfrm>
          <a:prstGeom prst="roundRect">
            <a:avLst>
              <a:gd name="adj" fmla="val 3478"/>
            </a:avLst>
          </a:prstGeom>
          <a:solidFill>
            <a:srgbClr val="F7F7F7"/>
          </a:solidFill>
          <a:ln w="9525">
            <a:solidFill>
              <a:srgbClr val="B5B5B5"/>
            </a:solidFill>
            <a:prstDash val="solid"/>
          </a:ln>
        </p:spPr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D6D4DE1F-10D8-477A-A18C-A4DCA258E4F7}"/>
              </a:ext>
            </a:extLst>
          </p:cNvPr>
          <p:cNvSpPr>
            <a:spLocks noGrp="1"/>
          </p:cNvSpPr>
          <p:nvPr/>
        </p:nvSpPr>
        <p:spPr>
          <a:xfrm>
            <a:off x="3638550" y="2047875"/>
            <a:ext cx="2047875" cy="42862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/>
          <a:lstStyle/>
          <a:p>
            <a:pPr algn="l">
              <a:defRPr sz="1425" b="1">
                <a:solidFill>
                  <a:srgbClr val="000000"/>
                </a:solidFill>
              </a:defRPr>
            </a:pPr>
            <a:r>
              <a:rPr sz="1425" b="1">
                <a:solidFill>
                  <a:srgbClr val="000000"/>
                </a:solidFill>
              </a:rPr>
              <a:t>Data movement</a:t>
            </a:r>
          </a:p>
        </p:txBody>
      </p:sp>
      <p:sp>
        <p:nvSpPr>
          <p:cNvPr id="8" name="Rectangle 7">
            <a:extLst>
              <a:ext uri="{FF2B5EF4-FFF2-40B4-BE49-F238E27FC236}">
                <a16:creationId xmlns:a16="http://schemas.microsoft.com/office/drawing/2014/main" id="{F80783A6-FAD6-4FF0-BAB5-C7F88B4EE233}"/>
              </a:ext>
            </a:extLst>
          </p:cNvPr>
          <p:cNvSpPr>
            <a:spLocks noGrp="1"/>
          </p:cNvSpPr>
          <p:nvPr/>
        </p:nvSpPr>
        <p:spPr>
          <a:xfrm>
            <a:off x="3638550" y="2762250"/>
            <a:ext cx="2000250" cy="7620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/>
          <a:lstStyle/>
          <a:p>
            <a:pPr algn="l">
              <a:defRPr sz="1350" b="0">
                <a:solidFill>
                  <a:srgbClr val="000000"/>
                </a:solidFill>
              </a:defRPr>
            </a:pPr>
            <a:r>
              <a:rPr sz="1350" b="0">
                <a:solidFill>
                  <a:srgbClr val="000000"/>
                </a:solidFill>
              </a:rPr>
              <a:t>LDI  LDD  STR  STD</a:t>
            </a:r>
          </a:p>
          <a:p>
            <a:pPr algn="l">
              <a:defRPr sz="1350" b="0">
                <a:solidFill>
                  <a:srgbClr val="000000"/>
                </a:solidFill>
              </a:defRPr>
            </a:pPr>
            <a:r>
              <a:rPr sz="1350" b="0">
                <a:solidFill>
                  <a:srgbClr val="000000"/>
                </a:solidFill>
              </a:rPr>
              <a:t>ADDI</a:t>
            </a:r>
          </a:p>
        </p:txBody>
      </p:sp>
      <p:sp>
        <p:nvSpPr>
          <p:cNvPr id="9" name="Rectangle: Rounded Corners 8">
            <a:extLst>
              <a:ext uri="{FF2B5EF4-FFF2-40B4-BE49-F238E27FC236}">
                <a16:creationId xmlns:a16="http://schemas.microsoft.com/office/drawing/2014/main" id="{32CEA0F1-59FF-4B3E-A7BE-890E6F9619DB}"/>
              </a:ext>
            </a:extLst>
          </p:cNvPr>
          <p:cNvSpPr>
            <a:spLocks noGrp="1"/>
          </p:cNvSpPr>
          <p:nvPr/>
        </p:nvSpPr>
        <p:spPr>
          <a:xfrm>
            <a:off x="6172200" y="1762125"/>
            <a:ext cx="2428875" cy="2190750"/>
          </a:xfrm>
          <a:prstGeom prst="roundRect">
            <a:avLst>
              <a:gd name="adj" fmla="val 3478"/>
            </a:avLst>
          </a:prstGeom>
          <a:solidFill>
            <a:srgbClr val="F7F7F7"/>
          </a:solidFill>
          <a:ln w="9525">
            <a:solidFill>
              <a:srgbClr val="B5B5B5"/>
            </a:solidFill>
            <a:prstDash val="solid"/>
          </a:ln>
        </p:spPr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AB3C1267-E109-4BD1-949B-17CBC7F7C014}"/>
              </a:ext>
            </a:extLst>
          </p:cNvPr>
          <p:cNvSpPr>
            <a:spLocks noGrp="1"/>
          </p:cNvSpPr>
          <p:nvPr/>
        </p:nvSpPr>
        <p:spPr>
          <a:xfrm>
            <a:off x="6381750" y="2047875"/>
            <a:ext cx="2047875" cy="42862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/>
          <a:lstStyle/>
          <a:p>
            <a:pPr algn="l">
              <a:defRPr sz="1425" b="1">
                <a:solidFill>
                  <a:srgbClr val="000000"/>
                </a:solidFill>
              </a:defRPr>
            </a:pPr>
            <a:r>
              <a:rPr sz="1425" b="1">
                <a:solidFill>
                  <a:srgbClr val="000000"/>
                </a:solidFill>
              </a:rPr>
              <a:t>Control flow</a:t>
            </a:r>
          </a:p>
        </p:txBody>
      </p:sp>
      <p:sp>
        <p:nvSpPr>
          <p:cNvPr id="11" name="Rectangle 10">
            <a:extLst>
              <a:ext uri="{FF2B5EF4-FFF2-40B4-BE49-F238E27FC236}">
                <a16:creationId xmlns:a16="http://schemas.microsoft.com/office/drawing/2014/main" id="{81164B1C-7B13-465E-AC37-9AAB21DB3082}"/>
              </a:ext>
            </a:extLst>
          </p:cNvPr>
          <p:cNvSpPr>
            <a:spLocks noGrp="1"/>
          </p:cNvSpPr>
          <p:nvPr/>
        </p:nvSpPr>
        <p:spPr>
          <a:xfrm>
            <a:off x="6381750" y="2762250"/>
            <a:ext cx="2000250" cy="7620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/>
          <a:lstStyle/>
          <a:p>
            <a:pPr algn="l">
              <a:defRPr sz="1350" b="0">
                <a:solidFill>
                  <a:srgbClr val="000000"/>
                </a:solidFill>
              </a:defRPr>
            </a:pPr>
            <a:r>
              <a:rPr sz="1350" b="0">
                <a:solidFill>
                  <a:srgbClr val="000000"/>
                </a:solidFill>
              </a:rPr>
              <a:t>JMP  JZ  JNZ  JGT</a:t>
            </a:r>
          </a:p>
          <a:p>
            <a:pPr algn="l">
              <a:defRPr sz="1350" b="0">
                <a:solidFill>
                  <a:srgbClr val="000000"/>
                </a:solidFill>
              </a:defRPr>
            </a:pPr>
            <a:r>
              <a:rPr sz="1350" b="0">
                <a:solidFill>
                  <a:srgbClr val="000000"/>
                </a:solidFill>
              </a:rPr>
              <a:t>JAL  JR  HALT</a:t>
            </a:r>
          </a:p>
        </p:txBody>
      </p:sp>
      <p:sp>
        <p:nvSpPr>
          <p:cNvPr id="12" name="Rectangle: Rounded Corners 11">
            <a:extLst>
              <a:ext uri="{FF2B5EF4-FFF2-40B4-BE49-F238E27FC236}">
                <a16:creationId xmlns:a16="http://schemas.microsoft.com/office/drawing/2014/main" id="{5B17789B-EB2B-42AD-A63C-9234B9A60813}"/>
              </a:ext>
            </a:extLst>
          </p:cNvPr>
          <p:cNvSpPr>
            <a:spLocks noGrp="1"/>
          </p:cNvSpPr>
          <p:nvPr/>
        </p:nvSpPr>
        <p:spPr>
          <a:xfrm>
            <a:off x="8915400" y="1762125"/>
            <a:ext cx="2428875" cy="2190750"/>
          </a:xfrm>
          <a:prstGeom prst="roundRect">
            <a:avLst>
              <a:gd name="adj" fmla="val 3478"/>
            </a:avLst>
          </a:prstGeom>
          <a:solidFill>
            <a:srgbClr val="F7F7F7"/>
          </a:solidFill>
          <a:ln w="9525">
            <a:solidFill>
              <a:srgbClr val="B5B5B5"/>
            </a:solidFill>
            <a:prstDash val="solid"/>
          </a:ln>
        </p:spPr>
      </p:sp>
      <p:sp>
        <p:nvSpPr>
          <p:cNvPr id="13" name="Rectangle 12">
            <a:extLst>
              <a:ext uri="{FF2B5EF4-FFF2-40B4-BE49-F238E27FC236}">
                <a16:creationId xmlns:a16="http://schemas.microsoft.com/office/drawing/2014/main" id="{EBED0B18-38CB-463F-890E-E78D35CFD2E2}"/>
              </a:ext>
            </a:extLst>
          </p:cNvPr>
          <p:cNvSpPr>
            <a:spLocks noGrp="1"/>
          </p:cNvSpPr>
          <p:nvPr/>
        </p:nvSpPr>
        <p:spPr>
          <a:xfrm>
            <a:off x="9124950" y="2047875"/>
            <a:ext cx="2047875" cy="42862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/>
          <a:lstStyle/>
          <a:p>
            <a:pPr algn="l">
              <a:defRPr sz="1425" b="1">
                <a:solidFill>
                  <a:srgbClr val="000000"/>
                </a:solidFill>
              </a:defRPr>
            </a:pPr>
            <a:r>
              <a:rPr sz="1425" b="1">
                <a:solidFill>
                  <a:srgbClr val="000000"/>
                </a:solidFill>
              </a:rPr>
              <a:t>DSP and system</a:t>
            </a:r>
          </a:p>
        </p:txBody>
      </p:sp>
      <p:sp>
        <p:nvSpPr>
          <p:cNvPr id="14" name="Rectangle 13">
            <a:extLst>
              <a:ext uri="{FF2B5EF4-FFF2-40B4-BE49-F238E27FC236}">
                <a16:creationId xmlns:a16="http://schemas.microsoft.com/office/drawing/2014/main" id="{67155A1E-CC2D-4C83-8356-263032DE2AD5}"/>
              </a:ext>
            </a:extLst>
          </p:cNvPr>
          <p:cNvSpPr>
            <a:spLocks noGrp="1"/>
          </p:cNvSpPr>
          <p:nvPr/>
        </p:nvSpPr>
        <p:spPr>
          <a:xfrm>
            <a:off x="9124950" y="2762250"/>
            <a:ext cx="2000250" cy="7620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/>
          <a:lstStyle/>
          <a:p>
            <a:pPr algn="l">
              <a:defRPr sz="1350" b="0">
                <a:solidFill>
                  <a:srgbClr val="000000"/>
                </a:solidFill>
              </a:defRPr>
            </a:pPr>
            <a:r>
              <a:rPr sz="1350" b="0">
                <a:solidFill>
                  <a:srgbClr val="000000"/>
                </a:solidFill>
              </a:rPr>
              <a:t>MUL  MAC</a:t>
            </a:r>
          </a:p>
          <a:p>
            <a:pPr algn="l">
              <a:defRPr sz="1350" b="0">
                <a:solidFill>
                  <a:srgbClr val="000000"/>
                </a:solidFill>
              </a:defRPr>
            </a:pPr>
            <a:r>
              <a:rPr sz="1350" b="0">
                <a:solidFill>
                  <a:srgbClr val="000000"/>
                </a:solidFill>
              </a:rPr>
              <a:t>RETI  TRAP  ERET  MFC0</a:t>
            </a:r>
          </a:p>
        </p:txBody>
      </p:sp>
      <p:sp>
        <p:nvSpPr>
          <p:cNvPr id="15" name="Rectangle 14">
            <a:extLst>
              <a:ext uri="{FF2B5EF4-FFF2-40B4-BE49-F238E27FC236}">
                <a16:creationId xmlns:a16="http://schemas.microsoft.com/office/drawing/2014/main" id="{5179E7AD-D1E9-4BC0-BCEB-A76895147F9A}"/>
              </a:ext>
            </a:extLst>
          </p:cNvPr>
          <p:cNvSpPr>
            <a:spLocks noGrp="1"/>
          </p:cNvSpPr>
          <p:nvPr/>
        </p:nvSpPr>
        <p:spPr>
          <a:xfrm>
            <a:off x="685800" y="6496050"/>
            <a:ext cx="7048500" cy="1714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/>
          <a:lstStyle/>
          <a:p>
            <a:pPr algn="l">
              <a:defRPr sz="825" b="0">
                <a:solidFill>
                  <a:srgbClr val="000000"/>
                </a:solidFill>
              </a:defRPr>
            </a:pPr>
            <a:r>
              <a:rPr sz="825" b="0">
                <a:solidFill>
                  <a:srgbClr val="000000"/>
                </a:solidFill>
              </a:rPr>
              <a:t>Team VOLTERE | 8-bit Pipelined Microprocessor</a:t>
            </a:r>
          </a:p>
        </p:txBody>
      </p:sp>
      <p:sp>
        <p:nvSpPr>
          <p:cNvPr id="16" name="Rectangle 15">
            <a:extLst>
              <a:ext uri="{FF2B5EF4-FFF2-40B4-BE49-F238E27FC236}">
                <a16:creationId xmlns:a16="http://schemas.microsoft.com/office/drawing/2014/main" id="{263FFA58-062C-4527-8A72-C2357FB6B8B5}"/>
              </a:ext>
            </a:extLst>
          </p:cNvPr>
          <p:cNvSpPr>
            <a:spLocks noGrp="1"/>
          </p:cNvSpPr>
          <p:nvPr/>
        </p:nvSpPr>
        <p:spPr>
          <a:xfrm>
            <a:off x="11001375" y="6477000"/>
            <a:ext cx="495300" cy="1714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/>
          <a:lstStyle/>
          <a:p>
            <a:pPr algn="r">
              <a:defRPr sz="825" b="1">
                <a:solidFill>
                  <a:srgbClr val="000000"/>
                </a:solidFill>
              </a:defRPr>
            </a:pPr>
            <a:r>
              <a:rPr sz="825" b="1">
                <a:solidFill>
                  <a:srgbClr val="000000"/>
                </a:solidFill>
              </a:rPr>
              <a:t>08</a:t>
            </a:r>
          </a:p>
        </p:txBody>
      </p:sp>
    </p:spTree>
    <p:extLst>
      <p:ext uri="{BB962C8B-B14F-4D97-AF65-F5344CB8AC3E}">
        <p14:creationId xmlns:p14="http://schemas.microsoft.com/office/powerpoint/2010/main" val="548075964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" name="Rectangle 28">
            <a:extLst>
              <a:ext uri="{FF2B5EF4-FFF2-40B4-BE49-F238E27FC236}">
                <a16:creationId xmlns:a16="http://schemas.microsoft.com/office/drawing/2014/main" id="{E4884472-9772-4F2E-BFF0-9793B1708D86}"/>
              </a:ext>
            </a:extLst>
          </p:cNvPr>
          <p:cNvSpPr>
            <a:spLocks noGrp="1"/>
          </p:cNvSpPr>
          <p:nvPr/>
        </p:nvSpPr>
        <p:spPr>
          <a:xfrm>
            <a:off x="685800" y="342900"/>
            <a:ext cx="5715000" cy="2095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/>
          <a:lstStyle/>
          <a:p>
            <a:pPr algn="l">
              <a:defRPr sz="975" b="1">
                <a:solidFill>
                  <a:srgbClr val="000000"/>
                </a:solidFill>
              </a:defRPr>
            </a:pPr>
            <a:r>
              <a:rPr sz="975" b="1">
                <a:solidFill>
                  <a:srgbClr val="000000"/>
                </a:solidFill>
              </a:rPr>
              <a:t>TEAM VOLTERE | IITISoC 2026</a:t>
            </a:r>
          </a:p>
        </p:txBody>
      </p:sp>
      <p:sp>
        <p:nvSpPr>
          <p:cNvPr id="2" name="Rectangle 1">
            <a:extLst>
              <a:ext uri="{FF2B5EF4-FFF2-40B4-BE49-F238E27FC236}">
                <a16:creationId xmlns:a16="http://schemas.microsoft.com/office/drawing/2014/main" id="{61042147-3BF0-4E0F-83FD-1DDA708F5CB0}"/>
              </a:ext>
            </a:extLst>
          </p:cNvPr>
          <p:cNvSpPr>
            <a:spLocks noGrp="1"/>
          </p:cNvSpPr>
          <p:nvPr/>
        </p:nvSpPr>
        <p:spPr>
          <a:xfrm>
            <a:off x="685800" y="628650"/>
            <a:ext cx="10763250" cy="5143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/>
          <a:lstStyle/>
          <a:p>
            <a:pPr algn="l">
              <a:defRPr sz="2550" b="1">
                <a:solidFill>
                  <a:srgbClr val="000000"/>
                </a:solidFill>
              </a:defRPr>
            </a:pPr>
            <a:r>
              <a:rPr sz="2550" b="1" dirty="0">
                <a:solidFill>
                  <a:srgbClr val="000000"/>
                </a:solidFill>
              </a:rPr>
              <a:t>Forwarding resolves immediate register dependencies without NOPs</a:t>
            </a:r>
          </a:p>
        </p:txBody>
      </p:sp>
      <p:sp>
        <p:nvSpPr>
          <p:cNvPr id="3" name="Rectangle 2">
            <a:extLst>
              <a:ext uri="{FF2B5EF4-FFF2-40B4-BE49-F238E27FC236}">
                <a16:creationId xmlns:a16="http://schemas.microsoft.com/office/drawing/2014/main" id="{C88EFB20-0682-467B-BDA2-4581BD3604EA}"/>
              </a:ext>
            </a:extLst>
          </p:cNvPr>
          <p:cNvSpPr>
            <a:spLocks noGrp="1"/>
          </p:cNvSpPr>
          <p:nvPr/>
        </p:nvSpPr>
        <p:spPr>
          <a:xfrm>
            <a:off x="685800" y="2967850"/>
            <a:ext cx="7793356" cy="3171647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/>
          <a:lstStyle/>
          <a:p>
            <a:pPr>
              <a:defRPr sz="1875" b="1">
                <a:solidFill>
                  <a:srgbClr val="000000"/>
                </a:solidFill>
              </a:defRPr>
            </a:pPr>
            <a:r>
              <a:rPr lang="en-US" sz="1600" b="1" dirty="0">
                <a:solidFill>
                  <a:srgbClr val="000000"/>
                </a:solidFill>
              </a:rPr>
              <a:t>Without forwarding (2 NOPs wasted):</a:t>
            </a:r>
          </a:p>
          <a:p>
            <a:pPr>
              <a:defRPr sz="1875" b="1">
                <a:solidFill>
                  <a:srgbClr val="000000"/>
                </a:solidFill>
              </a:defRPr>
            </a:pPr>
            <a:r>
              <a:rPr lang="en-US" sz="1600" b="1" dirty="0">
                <a:solidFill>
                  <a:srgbClr val="000000"/>
                </a:solidFill>
              </a:rPr>
              <a:t>  Cycle     :    1         2         3         4         5         6         7         8</a:t>
            </a:r>
          </a:p>
          <a:p>
            <a:pPr>
              <a:defRPr sz="1875" b="1">
                <a:solidFill>
                  <a:srgbClr val="000000"/>
                </a:solidFill>
              </a:defRPr>
            </a:pPr>
            <a:r>
              <a:rPr lang="en-US" sz="1600" b="1" dirty="0">
                <a:solidFill>
                  <a:srgbClr val="000000"/>
                </a:solidFill>
              </a:rPr>
              <a:t>  ADD r3  :   IF        ID       EX       MEM WB   </a:t>
            </a:r>
          </a:p>
          <a:p>
            <a:pPr>
              <a:defRPr sz="1875" b="1">
                <a:solidFill>
                  <a:srgbClr val="000000"/>
                </a:solidFill>
              </a:defRPr>
            </a:pPr>
            <a:r>
              <a:rPr lang="en-US" sz="1600" b="1" dirty="0">
                <a:solidFill>
                  <a:srgbClr val="000000"/>
                </a:solidFill>
              </a:rPr>
              <a:t>  NOP       :              IF        ID        EX      MEM WB</a:t>
            </a:r>
          </a:p>
          <a:p>
            <a:pPr>
              <a:defRPr sz="1875" b="1">
                <a:solidFill>
                  <a:srgbClr val="000000"/>
                </a:solidFill>
              </a:defRPr>
            </a:pPr>
            <a:r>
              <a:rPr lang="en-US" sz="1600" b="1" dirty="0">
                <a:solidFill>
                  <a:srgbClr val="000000"/>
                </a:solidFill>
              </a:rPr>
              <a:t>  NOP       :                         IF         ID       EX      MEM  WB</a:t>
            </a:r>
          </a:p>
          <a:p>
            <a:pPr>
              <a:defRPr sz="1875" b="1">
                <a:solidFill>
                  <a:srgbClr val="000000"/>
                </a:solidFill>
              </a:defRPr>
            </a:pPr>
            <a:r>
              <a:rPr lang="en-US" sz="1600" b="1" dirty="0">
                <a:solidFill>
                  <a:srgbClr val="000000"/>
                </a:solidFill>
              </a:rPr>
              <a:t>  SUB r4   :                                     IF        ID      EX        MEM WB   ← reads r3 from </a:t>
            </a:r>
            <a:r>
              <a:rPr lang="en-US" sz="1600" b="1" dirty="0" err="1">
                <a:solidFill>
                  <a:srgbClr val="000000"/>
                </a:solidFill>
              </a:rPr>
              <a:t>regfile</a:t>
            </a:r>
            <a:r>
              <a:rPr lang="en-US" sz="1600" b="1" dirty="0">
                <a:solidFill>
                  <a:srgbClr val="000000"/>
                </a:solidFill>
              </a:rPr>
              <a:t> in WB</a:t>
            </a:r>
          </a:p>
          <a:p>
            <a:pPr>
              <a:defRPr sz="1875" b="1">
                <a:solidFill>
                  <a:srgbClr val="000000"/>
                </a:solidFill>
              </a:defRPr>
            </a:pPr>
            <a:endParaRPr lang="en-US" sz="1600" b="1" dirty="0">
              <a:solidFill>
                <a:srgbClr val="000000"/>
              </a:solidFill>
            </a:endParaRPr>
          </a:p>
          <a:p>
            <a:pPr>
              <a:defRPr sz="1875" b="1">
                <a:solidFill>
                  <a:srgbClr val="000000"/>
                </a:solidFill>
              </a:defRPr>
            </a:pPr>
            <a:r>
              <a:rPr lang="en-US" sz="1600" b="1" dirty="0">
                <a:solidFill>
                  <a:srgbClr val="000000"/>
                </a:solidFill>
              </a:rPr>
              <a:t>With forwarding (0 NOPs, 0 stalls):</a:t>
            </a:r>
          </a:p>
          <a:p>
            <a:pPr>
              <a:defRPr sz="1875" b="1">
                <a:solidFill>
                  <a:srgbClr val="000000"/>
                </a:solidFill>
              </a:defRPr>
            </a:pPr>
            <a:r>
              <a:rPr lang="en-US" sz="1600" b="1" dirty="0">
                <a:solidFill>
                  <a:srgbClr val="000000"/>
                </a:solidFill>
              </a:rPr>
              <a:t>  Cycle     :    1         2         3         4          5 </a:t>
            </a:r>
          </a:p>
          <a:p>
            <a:pPr>
              <a:defRPr sz="1875" b="1">
                <a:solidFill>
                  <a:srgbClr val="000000"/>
                </a:solidFill>
              </a:defRPr>
            </a:pPr>
            <a:r>
              <a:rPr lang="en-US" sz="1600" b="1" dirty="0">
                <a:solidFill>
                  <a:srgbClr val="000000"/>
                </a:solidFill>
              </a:rPr>
              <a:t>  ADD r3  :    IF        ID       EX      MEM  WB  </a:t>
            </a:r>
            <a:br>
              <a:rPr lang="en-US" sz="1600" b="1" dirty="0">
                <a:solidFill>
                  <a:srgbClr val="000000"/>
                </a:solidFill>
              </a:rPr>
            </a:br>
            <a:r>
              <a:rPr lang="en-US" sz="1600" b="1" dirty="0">
                <a:solidFill>
                  <a:srgbClr val="000000"/>
                </a:solidFill>
              </a:rPr>
              <a:t>  SUB r4   :                IF       ID      EX     ← r3 forwarded from EX/MEM</a:t>
            </a:r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61D12FB9-3304-4ACE-A803-1F95D36C6D3F}"/>
              </a:ext>
            </a:extLst>
          </p:cNvPr>
          <p:cNvSpPr>
            <a:spLocks noGrp="1"/>
          </p:cNvSpPr>
          <p:nvPr/>
        </p:nvSpPr>
        <p:spPr>
          <a:xfrm>
            <a:off x="685800" y="1185862"/>
            <a:ext cx="5186680" cy="100012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/>
          <a:lstStyle/>
          <a:p>
            <a:pPr algn="l">
              <a:defRPr sz="1575" b="0">
                <a:solidFill>
                  <a:srgbClr val="000000"/>
                </a:solidFill>
              </a:defRPr>
            </a:pPr>
            <a:r>
              <a:rPr sz="1575" b="1" dirty="0">
                <a:solidFill>
                  <a:srgbClr val="000000"/>
                </a:solidFill>
              </a:rPr>
              <a:t>Forwarding is available for RS1, RS2, and RS3..</a:t>
            </a:r>
          </a:p>
        </p:txBody>
      </p:sp>
      <p:sp>
        <p:nvSpPr>
          <p:cNvPr id="26" name="Rectangle 25">
            <a:extLst>
              <a:ext uri="{FF2B5EF4-FFF2-40B4-BE49-F238E27FC236}">
                <a16:creationId xmlns:a16="http://schemas.microsoft.com/office/drawing/2014/main" id="{3BFCDF25-44BB-4ADB-AB1E-7C45C562532D}"/>
              </a:ext>
            </a:extLst>
          </p:cNvPr>
          <p:cNvSpPr>
            <a:spLocks noGrp="1"/>
          </p:cNvSpPr>
          <p:nvPr/>
        </p:nvSpPr>
        <p:spPr>
          <a:xfrm>
            <a:off x="939800" y="2171877"/>
            <a:ext cx="4229100" cy="7239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/>
          <a:lstStyle/>
          <a:p>
            <a:pPr algn="l">
              <a:defRPr sz="1350" b="0">
                <a:solidFill>
                  <a:srgbClr val="000000"/>
                </a:solidFill>
              </a:defRPr>
            </a:pPr>
            <a:endParaRPr sz="1350" b="0" dirty="0">
              <a:solidFill>
                <a:srgbClr val="000000"/>
              </a:solidFill>
            </a:endParaRPr>
          </a:p>
        </p:txBody>
      </p:sp>
      <p:sp>
        <p:nvSpPr>
          <p:cNvPr id="27" name="Rectangle 26">
            <a:extLst>
              <a:ext uri="{FF2B5EF4-FFF2-40B4-BE49-F238E27FC236}">
                <a16:creationId xmlns:a16="http://schemas.microsoft.com/office/drawing/2014/main" id="{2A767827-8E5A-435B-BC0B-C9937CCB8121}"/>
              </a:ext>
            </a:extLst>
          </p:cNvPr>
          <p:cNvSpPr>
            <a:spLocks noGrp="1"/>
          </p:cNvSpPr>
          <p:nvPr/>
        </p:nvSpPr>
        <p:spPr>
          <a:xfrm>
            <a:off x="685800" y="6496050"/>
            <a:ext cx="7048500" cy="1714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/>
          <a:lstStyle/>
          <a:p>
            <a:pPr algn="l">
              <a:defRPr sz="825" b="0">
                <a:solidFill>
                  <a:srgbClr val="000000"/>
                </a:solidFill>
              </a:defRPr>
            </a:pPr>
            <a:r>
              <a:rPr sz="825" b="0">
                <a:solidFill>
                  <a:srgbClr val="000000"/>
                </a:solidFill>
              </a:rPr>
              <a:t>Team VOLTERE | 8-bit Pipelined Microprocessor</a:t>
            </a:r>
          </a:p>
        </p:txBody>
      </p:sp>
      <p:sp>
        <p:nvSpPr>
          <p:cNvPr id="28" name="Rectangle 27">
            <a:extLst>
              <a:ext uri="{FF2B5EF4-FFF2-40B4-BE49-F238E27FC236}">
                <a16:creationId xmlns:a16="http://schemas.microsoft.com/office/drawing/2014/main" id="{C41D0DB0-D7F3-4179-AD14-2DB02388D3EB}"/>
              </a:ext>
            </a:extLst>
          </p:cNvPr>
          <p:cNvSpPr>
            <a:spLocks noGrp="1"/>
          </p:cNvSpPr>
          <p:nvPr/>
        </p:nvSpPr>
        <p:spPr>
          <a:xfrm>
            <a:off x="11001375" y="6477000"/>
            <a:ext cx="495300" cy="1714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/>
          <a:lstStyle/>
          <a:p>
            <a:pPr algn="r">
              <a:defRPr sz="825" b="1">
                <a:solidFill>
                  <a:srgbClr val="000000"/>
                </a:solidFill>
              </a:defRPr>
            </a:pPr>
            <a:r>
              <a:rPr sz="825" b="1">
                <a:solidFill>
                  <a:srgbClr val="000000"/>
                </a:solidFill>
              </a:rPr>
              <a:t>09</a:t>
            </a:r>
          </a:p>
        </p:txBody>
      </p:sp>
      <p:sp>
        <p:nvSpPr>
          <p:cNvPr id="33" name="Rectangle: Rounded Corners 32">
            <a:extLst>
              <a:ext uri="{FF2B5EF4-FFF2-40B4-BE49-F238E27FC236}">
                <a16:creationId xmlns:a16="http://schemas.microsoft.com/office/drawing/2014/main" id="{E58D72EF-74C8-CD2D-7B17-84AA2ABB4A78}"/>
              </a:ext>
            </a:extLst>
          </p:cNvPr>
          <p:cNvSpPr>
            <a:spLocks noGrp="1"/>
          </p:cNvSpPr>
          <p:nvPr/>
        </p:nvSpPr>
        <p:spPr>
          <a:xfrm>
            <a:off x="685800" y="2171877"/>
            <a:ext cx="4000500" cy="642443"/>
          </a:xfrm>
          <a:prstGeom prst="roundRect">
            <a:avLst>
              <a:gd name="adj" fmla="val 8696"/>
            </a:avLst>
          </a:prstGeom>
          <a:solidFill>
            <a:srgbClr val="F7F7F7"/>
          </a:solidFill>
          <a:ln w="9525">
            <a:solidFill>
              <a:srgbClr val="B5B5B5"/>
            </a:solidFill>
            <a:prstDash val="solid"/>
          </a:ln>
        </p:spPr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sz="1350" b="0">
                <a:solidFill>
                  <a:srgbClr val="000000"/>
                </a:solidFill>
              </a:defRPr>
            </a:pPr>
            <a:r>
              <a:rPr kumimoji="0" lang="pt-BR" sz="135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/>
                <a:ea typeface="Calibri"/>
                <a:cs typeface="Calibri"/>
              </a:rPr>
              <a:t>ADD r3, r1, r2</a:t>
            </a: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sz="1350" b="0">
                <a:solidFill>
                  <a:srgbClr val="000000"/>
                </a:solidFill>
              </a:defRPr>
            </a:pPr>
            <a:r>
              <a:rPr kumimoji="0" lang="pt-BR" sz="135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/>
                <a:ea typeface="Calibri"/>
                <a:cs typeface="Calibri"/>
              </a:rPr>
              <a:t>SUB r4, r3, r5   ← receives r3 through forwarding</a:t>
            </a:r>
          </a:p>
        </p:txBody>
      </p:sp>
    </p:spTree>
    <p:extLst>
      <p:ext uri="{BB962C8B-B14F-4D97-AF65-F5344CB8AC3E}">
        <p14:creationId xmlns:p14="http://schemas.microsoft.com/office/powerpoint/2010/main" val="1109356102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Rectangle 16">
            <a:extLst>
              <a:ext uri="{FF2B5EF4-FFF2-40B4-BE49-F238E27FC236}">
                <a16:creationId xmlns:a16="http://schemas.microsoft.com/office/drawing/2014/main" id="{1579CA87-B891-4F18-9EC8-8995B617C706}"/>
              </a:ext>
            </a:extLst>
          </p:cNvPr>
          <p:cNvSpPr>
            <a:spLocks noGrp="1"/>
          </p:cNvSpPr>
          <p:nvPr/>
        </p:nvSpPr>
        <p:spPr>
          <a:xfrm>
            <a:off x="685800" y="342900"/>
            <a:ext cx="5715000" cy="2095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/>
          <a:lstStyle/>
          <a:p>
            <a:pPr algn="l">
              <a:defRPr sz="975" b="1">
                <a:solidFill>
                  <a:srgbClr val="000000"/>
                </a:solidFill>
              </a:defRPr>
            </a:pPr>
            <a:r>
              <a:rPr sz="975" b="1">
                <a:solidFill>
                  <a:srgbClr val="000000"/>
                </a:solidFill>
              </a:rPr>
              <a:t>TEAM VOLTERE | IITISoC 2026</a:t>
            </a:r>
          </a:p>
        </p:txBody>
      </p:sp>
      <p:sp>
        <p:nvSpPr>
          <p:cNvPr id="2" name="Rectangle 1">
            <a:extLst>
              <a:ext uri="{FF2B5EF4-FFF2-40B4-BE49-F238E27FC236}">
                <a16:creationId xmlns:a16="http://schemas.microsoft.com/office/drawing/2014/main" id="{AD1F102F-1C47-47F1-A0B3-A7471559E6FF}"/>
              </a:ext>
            </a:extLst>
          </p:cNvPr>
          <p:cNvSpPr>
            <a:spLocks noGrp="1"/>
          </p:cNvSpPr>
          <p:nvPr/>
        </p:nvSpPr>
        <p:spPr>
          <a:xfrm>
            <a:off x="685800" y="628650"/>
            <a:ext cx="10763250" cy="5143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/>
          <a:lstStyle/>
          <a:p>
            <a:pPr algn="l">
              <a:defRPr sz="2550" b="1">
                <a:solidFill>
                  <a:srgbClr val="000000"/>
                </a:solidFill>
              </a:defRPr>
            </a:pPr>
            <a:r>
              <a:rPr sz="2550" b="1" dirty="0">
                <a:solidFill>
                  <a:srgbClr val="000000"/>
                </a:solidFill>
              </a:rPr>
              <a:t>The only unavoidable RAW dependency receives one controlled bubble</a:t>
            </a:r>
          </a:p>
        </p:txBody>
      </p:sp>
      <p:sp>
        <p:nvSpPr>
          <p:cNvPr id="3" name="Rectangle: Rounded Corners 2">
            <a:extLst>
              <a:ext uri="{FF2B5EF4-FFF2-40B4-BE49-F238E27FC236}">
                <a16:creationId xmlns:a16="http://schemas.microsoft.com/office/drawing/2014/main" id="{99B1B9C2-A911-40C3-8185-5B04DC1E3EAC}"/>
              </a:ext>
            </a:extLst>
          </p:cNvPr>
          <p:cNvSpPr>
            <a:spLocks noGrp="1"/>
          </p:cNvSpPr>
          <p:nvPr/>
        </p:nvSpPr>
        <p:spPr>
          <a:xfrm>
            <a:off x="916781" y="1818727"/>
            <a:ext cx="4000500" cy="876300"/>
          </a:xfrm>
          <a:prstGeom prst="roundRect">
            <a:avLst>
              <a:gd name="adj" fmla="val 8696"/>
            </a:avLst>
          </a:prstGeom>
          <a:solidFill>
            <a:srgbClr val="F7F7F7"/>
          </a:solidFill>
          <a:ln w="9525">
            <a:solidFill>
              <a:srgbClr val="B5B5B5"/>
            </a:solidFill>
            <a:prstDash val="solid"/>
          </a:ln>
        </p:spPr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8ACBA3C1-35E2-4266-9D40-A6DA267515F6}"/>
              </a:ext>
            </a:extLst>
          </p:cNvPr>
          <p:cNvSpPr>
            <a:spLocks noGrp="1"/>
          </p:cNvSpPr>
          <p:nvPr/>
        </p:nvSpPr>
        <p:spPr>
          <a:xfrm>
            <a:off x="916781" y="1933027"/>
            <a:ext cx="3657600" cy="6477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/>
          <a:lstStyle/>
          <a:p>
            <a:pPr algn="l">
              <a:defRPr sz="1500" b="0">
                <a:solidFill>
                  <a:srgbClr val="000000"/>
                </a:solidFill>
              </a:defRPr>
            </a:pPr>
            <a:r>
              <a:rPr sz="1500" b="0" dirty="0">
                <a:solidFill>
                  <a:srgbClr val="000000"/>
                </a:solidFill>
              </a:rPr>
              <a:t>LDD r5, [r1 + 0]</a:t>
            </a:r>
          </a:p>
          <a:p>
            <a:pPr algn="l">
              <a:defRPr sz="1500" b="0">
                <a:solidFill>
                  <a:srgbClr val="000000"/>
                </a:solidFill>
              </a:defRPr>
            </a:pPr>
            <a:r>
              <a:rPr sz="1500" b="0" dirty="0">
                <a:solidFill>
                  <a:srgbClr val="000000"/>
                </a:solidFill>
              </a:rPr>
              <a:t>ADD r4, r5, r2</a:t>
            </a:r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A8243DAA-C98E-411B-A336-508B620F25B5}"/>
              </a:ext>
            </a:extLst>
          </p:cNvPr>
          <p:cNvSpPr>
            <a:spLocks noGrp="1"/>
          </p:cNvSpPr>
          <p:nvPr/>
        </p:nvSpPr>
        <p:spPr>
          <a:xfrm>
            <a:off x="916781" y="2884416"/>
            <a:ext cx="4762500" cy="3238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/>
          <a:lstStyle/>
          <a:p>
            <a:pPr algn="l">
              <a:defRPr sz="1575" b="0">
                <a:solidFill>
                  <a:srgbClr val="000000"/>
                </a:solidFill>
              </a:defRPr>
            </a:pPr>
            <a:r>
              <a:rPr sz="1575" b="0" dirty="0">
                <a:solidFill>
                  <a:srgbClr val="000000"/>
                </a:solidFill>
              </a:rPr>
              <a:t>The loaded value is available only after the M</a:t>
            </a:r>
            <a:r>
              <a:rPr lang="en-US" sz="1575" b="0" dirty="0">
                <a:solidFill>
                  <a:srgbClr val="000000"/>
                </a:solidFill>
              </a:rPr>
              <a:t>E</a:t>
            </a:r>
            <a:r>
              <a:rPr sz="1575" b="0" dirty="0">
                <a:solidFill>
                  <a:srgbClr val="000000"/>
                </a:solidFill>
              </a:rPr>
              <a:t>M stage.</a:t>
            </a:r>
          </a:p>
        </p:txBody>
      </p:sp>
      <p:sp>
        <p:nvSpPr>
          <p:cNvPr id="6" name="Rectangle: Rounded Corners 5">
            <a:extLst>
              <a:ext uri="{FF2B5EF4-FFF2-40B4-BE49-F238E27FC236}">
                <a16:creationId xmlns:a16="http://schemas.microsoft.com/office/drawing/2014/main" id="{4BF20FC3-50E6-41E1-845A-F1EFAF0F925F}"/>
              </a:ext>
            </a:extLst>
          </p:cNvPr>
          <p:cNvSpPr>
            <a:spLocks noGrp="1"/>
          </p:cNvSpPr>
          <p:nvPr/>
        </p:nvSpPr>
        <p:spPr>
          <a:xfrm>
            <a:off x="6633212" y="1907694"/>
            <a:ext cx="3790950" cy="514351"/>
          </a:xfrm>
          <a:prstGeom prst="roundRect">
            <a:avLst>
              <a:gd name="adj" fmla="val 14545"/>
            </a:avLst>
          </a:prstGeom>
          <a:solidFill>
            <a:srgbClr val="F7F7F7"/>
          </a:solidFill>
          <a:ln w="9525">
            <a:solidFill>
              <a:srgbClr val="B5B5B5"/>
            </a:solidFill>
            <a:prstDash val="solid"/>
          </a:ln>
        </p:spPr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8A225739-5ECC-4449-AE07-BACDB8E7A7F0}"/>
              </a:ext>
            </a:extLst>
          </p:cNvPr>
          <p:cNvSpPr>
            <a:spLocks noGrp="1"/>
          </p:cNvSpPr>
          <p:nvPr/>
        </p:nvSpPr>
        <p:spPr>
          <a:xfrm>
            <a:off x="6899912" y="2021994"/>
            <a:ext cx="3339646" cy="261851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/>
          <a:lstStyle/>
          <a:p>
            <a:pPr algn="l">
              <a:defRPr sz="1500" b="0">
                <a:solidFill>
                  <a:srgbClr val="000000"/>
                </a:solidFill>
              </a:defRPr>
            </a:pPr>
            <a:r>
              <a:rPr sz="1500" b="0">
                <a:solidFill>
                  <a:srgbClr val="000000"/>
                </a:solidFill>
              </a:rPr>
              <a:t>1.  Freeze PC</a:t>
            </a:r>
          </a:p>
        </p:txBody>
      </p:sp>
      <p:sp>
        <p:nvSpPr>
          <p:cNvPr id="8" name="Rectangle: Rounded Corners 7">
            <a:extLst>
              <a:ext uri="{FF2B5EF4-FFF2-40B4-BE49-F238E27FC236}">
                <a16:creationId xmlns:a16="http://schemas.microsoft.com/office/drawing/2014/main" id="{007CD139-026A-49B2-B76D-145DA8EA293C}"/>
              </a:ext>
            </a:extLst>
          </p:cNvPr>
          <p:cNvSpPr>
            <a:spLocks noGrp="1"/>
          </p:cNvSpPr>
          <p:nvPr/>
        </p:nvSpPr>
        <p:spPr>
          <a:xfrm>
            <a:off x="6633212" y="2650644"/>
            <a:ext cx="3790950" cy="514351"/>
          </a:xfrm>
          <a:prstGeom prst="roundRect">
            <a:avLst>
              <a:gd name="adj" fmla="val 14545"/>
            </a:avLst>
          </a:prstGeom>
          <a:solidFill>
            <a:srgbClr val="F7F7F7"/>
          </a:solidFill>
          <a:ln w="9525">
            <a:solidFill>
              <a:srgbClr val="B5B5B5"/>
            </a:solidFill>
            <a:prstDash val="solid"/>
          </a:ln>
        </p:spPr>
      </p:sp>
      <p:sp>
        <p:nvSpPr>
          <p:cNvPr id="9" name="Rectangle 8">
            <a:extLst>
              <a:ext uri="{FF2B5EF4-FFF2-40B4-BE49-F238E27FC236}">
                <a16:creationId xmlns:a16="http://schemas.microsoft.com/office/drawing/2014/main" id="{A255A43D-7B57-4FA2-9BB0-34EDC471D544}"/>
              </a:ext>
            </a:extLst>
          </p:cNvPr>
          <p:cNvSpPr>
            <a:spLocks noGrp="1"/>
          </p:cNvSpPr>
          <p:nvPr/>
        </p:nvSpPr>
        <p:spPr>
          <a:xfrm>
            <a:off x="6899912" y="2764944"/>
            <a:ext cx="3339646" cy="261851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/>
          <a:lstStyle/>
          <a:p>
            <a:pPr algn="l">
              <a:defRPr sz="1500" b="0">
                <a:solidFill>
                  <a:srgbClr val="000000"/>
                </a:solidFill>
              </a:defRPr>
            </a:pPr>
            <a:r>
              <a:rPr sz="1500" b="0">
                <a:solidFill>
                  <a:srgbClr val="000000"/>
                </a:solidFill>
              </a:rPr>
              <a:t>2.  Freeze IF/ID</a:t>
            </a:r>
          </a:p>
        </p:txBody>
      </p:sp>
      <p:sp>
        <p:nvSpPr>
          <p:cNvPr id="10" name="Rectangle: Rounded Corners 9">
            <a:extLst>
              <a:ext uri="{FF2B5EF4-FFF2-40B4-BE49-F238E27FC236}">
                <a16:creationId xmlns:a16="http://schemas.microsoft.com/office/drawing/2014/main" id="{15BE8F5C-5EE5-402D-A092-C5519878F976}"/>
              </a:ext>
            </a:extLst>
          </p:cNvPr>
          <p:cNvSpPr>
            <a:spLocks noGrp="1"/>
          </p:cNvSpPr>
          <p:nvPr/>
        </p:nvSpPr>
        <p:spPr>
          <a:xfrm>
            <a:off x="6633212" y="3393594"/>
            <a:ext cx="3790950" cy="514351"/>
          </a:xfrm>
          <a:prstGeom prst="roundRect">
            <a:avLst>
              <a:gd name="adj" fmla="val 14545"/>
            </a:avLst>
          </a:prstGeom>
          <a:solidFill>
            <a:srgbClr val="F7F7F7"/>
          </a:solidFill>
          <a:ln w="9525">
            <a:solidFill>
              <a:srgbClr val="B5B5B5"/>
            </a:solidFill>
            <a:prstDash val="solid"/>
          </a:ln>
        </p:spPr>
      </p:sp>
      <p:sp>
        <p:nvSpPr>
          <p:cNvPr id="11" name="Rectangle 10">
            <a:extLst>
              <a:ext uri="{FF2B5EF4-FFF2-40B4-BE49-F238E27FC236}">
                <a16:creationId xmlns:a16="http://schemas.microsoft.com/office/drawing/2014/main" id="{4239787A-42E4-4F64-98E2-EA520DAB1713}"/>
              </a:ext>
            </a:extLst>
          </p:cNvPr>
          <p:cNvSpPr>
            <a:spLocks noGrp="1"/>
          </p:cNvSpPr>
          <p:nvPr/>
        </p:nvSpPr>
        <p:spPr>
          <a:xfrm>
            <a:off x="6899912" y="3507894"/>
            <a:ext cx="3339646" cy="261851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/>
          <a:lstStyle/>
          <a:p>
            <a:pPr algn="l">
              <a:defRPr sz="1500" b="1">
                <a:solidFill>
                  <a:srgbClr val="000000"/>
                </a:solidFill>
              </a:defRPr>
            </a:pPr>
            <a:r>
              <a:rPr sz="1500" b="1" dirty="0">
                <a:solidFill>
                  <a:srgbClr val="000000"/>
                </a:solidFill>
              </a:rPr>
              <a:t>3.  Insert bubble into ID/EX</a:t>
            </a:r>
          </a:p>
        </p:txBody>
      </p:sp>
      <p:sp>
        <p:nvSpPr>
          <p:cNvPr id="12" name="Rectangle: Rounded Corners 11">
            <a:extLst>
              <a:ext uri="{FF2B5EF4-FFF2-40B4-BE49-F238E27FC236}">
                <a16:creationId xmlns:a16="http://schemas.microsoft.com/office/drawing/2014/main" id="{ABF4E450-97FB-4DE1-9DC0-6D2CD4CCDBAE}"/>
              </a:ext>
            </a:extLst>
          </p:cNvPr>
          <p:cNvSpPr>
            <a:spLocks noGrp="1"/>
          </p:cNvSpPr>
          <p:nvPr/>
        </p:nvSpPr>
        <p:spPr>
          <a:xfrm>
            <a:off x="6633212" y="4136544"/>
            <a:ext cx="3790950" cy="514351"/>
          </a:xfrm>
          <a:prstGeom prst="roundRect">
            <a:avLst>
              <a:gd name="adj" fmla="val 14545"/>
            </a:avLst>
          </a:prstGeom>
          <a:solidFill>
            <a:srgbClr val="F7F7F7"/>
          </a:solidFill>
          <a:ln w="9525">
            <a:solidFill>
              <a:srgbClr val="B5B5B5"/>
            </a:solidFill>
            <a:prstDash val="solid"/>
          </a:ln>
        </p:spPr>
      </p:sp>
      <p:sp>
        <p:nvSpPr>
          <p:cNvPr id="13" name="Rectangle 12">
            <a:extLst>
              <a:ext uri="{FF2B5EF4-FFF2-40B4-BE49-F238E27FC236}">
                <a16:creationId xmlns:a16="http://schemas.microsoft.com/office/drawing/2014/main" id="{CABF8D07-9A9A-4E67-BFB7-7098D3235E57}"/>
              </a:ext>
            </a:extLst>
          </p:cNvPr>
          <p:cNvSpPr>
            <a:spLocks noGrp="1"/>
          </p:cNvSpPr>
          <p:nvPr/>
        </p:nvSpPr>
        <p:spPr>
          <a:xfrm>
            <a:off x="6899912" y="4250844"/>
            <a:ext cx="3339646" cy="261851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/>
          <a:lstStyle/>
          <a:p>
            <a:pPr algn="l">
              <a:defRPr sz="1500" b="0">
                <a:solidFill>
                  <a:srgbClr val="000000"/>
                </a:solidFill>
              </a:defRPr>
            </a:pPr>
            <a:r>
              <a:rPr sz="1500" b="0">
                <a:solidFill>
                  <a:srgbClr val="000000"/>
                </a:solidFill>
              </a:rPr>
              <a:t>4.  Forward loaded value after MEM</a:t>
            </a:r>
          </a:p>
        </p:txBody>
      </p:sp>
      <p:sp>
        <p:nvSpPr>
          <p:cNvPr id="14" name="Rectangle 13">
            <a:extLst>
              <a:ext uri="{FF2B5EF4-FFF2-40B4-BE49-F238E27FC236}">
                <a16:creationId xmlns:a16="http://schemas.microsoft.com/office/drawing/2014/main" id="{41EA54D6-F9FF-49D2-A5B5-1C349A560813}"/>
              </a:ext>
            </a:extLst>
          </p:cNvPr>
          <p:cNvSpPr>
            <a:spLocks noGrp="1"/>
          </p:cNvSpPr>
          <p:nvPr/>
        </p:nvSpPr>
        <p:spPr>
          <a:xfrm>
            <a:off x="916781" y="5108777"/>
            <a:ext cx="5484019" cy="622579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/>
          <a:lstStyle/>
          <a:p>
            <a:pPr algn="ctr">
              <a:defRPr sz="1725" b="1">
                <a:solidFill>
                  <a:srgbClr val="000000"/>
                </a:solidFill>
              </a:defRPr>
            </a:pPr>
            <a:r>
              <a:rPr sz="1725" b="1" dirty="0">
                <a:solidFill>
                  <a:srgbClr val="000000"/>
                </a:solidFill>
              </a:rPr>
              <a:t>One bubble preserves correctness without stalling unrelated instructions.</a:t>
            </a:r>
          </a:p>
        </p:txBody>
      </p:sp>
      <p:sp>
        <p:nvSpPr>
          <p:cNvPr id="15" name="Rectangle 14">
            <a:extLst>
              <a:ext uri="{FF2B5EF4-FFF2-40B4-BE49-F238E27FC236}">
                <a16:creationId xmlns:a16="http://schemas.microsoft.com/office/drawing/2014/main" id="{571D803C-F79D-41AB-9118-3E58DF0ED4AE}"/>
              </a:ext>
            </a:extLst>
          </p:cNvPr>
          <p:cNvSpPr>
            <a:spLocks noGrp="1"/>
          </p:cNvSpPr>
          <p:nvPr/>
        </p:nvSpPr>
        <p:spPr>
          <a:xfrm>
            <a:off x="685800" y="6496050"/>
            <a:ext cx="7048500" cy="1714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/>
          <a:lstStyle/>
          <a:p>
            <a:pPr algn="l">
              <a:defRPr sz="825" b="0">
                <a:solidFill>
                  <a:srgbClr val="000000"/>
                </a:solidFill>
              </a:defRPr>
            </a:pPr>
            <a:r>
              <a:rPr sz="825" b="0">
                <a:solidFill>
                  <a:srgbClr val="000000"/>
                </a:solidFill>
              </a:rPr>
              <a:t>Team VOLTERE | 8-bit Pipelined Microprocessor</a:t>
            </a:r>
          </a:p>
        </p:txBody>
      </p:sp>
      <p:sp>
        <p:nvSpPr>
          <p:cNvPr id="16" name="Rectangle 15">
            <a:extLst>
              <a:ext uri="{FF2B5EF4-FFF2-40B4-BE49-F238E27FC236}">
                <a16:creationId xmlns:a16="http://schemas.microsoft.com/office/drawing/2014/main" id="{D8DD5816-1EEB-4616-9C98-0BEEA65F4FBF}"/>
              </a:ext>
            </a:extLst>
          </p:cNvPr>
          <p:cNvSpPr>
            <a:spLocks noGrp="1"/>
          </p:cNvSpPr>
          <p:nvPr/>
        </p:nvSpPr>
        <p:spPr>
          <a:xfrm>
            <a:off x="11001375" y="6477000"/>
            <a:ext cx="495300" cy="1714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/>
          <a:lstStyle/>
          <a:p>
            <a:pPr algn="r">
              <a:defRPr sz="825" b="1">
                <a:solidFill>
                  <a:srgbClr val="000000"/>
                </a:solidFill>
              </a:defRPr>
            </a:pPr>
            <a:r>
              <a:rPr sz="825" b="1">
                <a:solidFill>
                  <a:srgbClr val="000000"/>
                </a:solidFill>
              </a:rPr>
              <a:t>10</a:t>
            </a:r>
          </a:p>
        </p:txBody>
      </p:sp>
      <p:sp>
        <p:nvSpPr>
          <p:cNvPr id="19" name="TextBox 18">
            <a:extLst>
              <a:ext uri="{FF2B5EF4-FFF2-40B4-BE49-F238E27FC236}">
                <a16:creationId xmlns:a16="http://schemas.microsoft.com/office/drawing/2014/main" id="{479011CA-196A-E15A-1554-0A028D2D4A16}"/>
              </a:ext>
            </a:extLst>
          </p:cNvPr>
          <p:cNvSpPr txBox="1"/>
          <p:nvPr/>
        </p:nvSpPr>
        <p:spPr>
          <a:xfrm>
            <a:off x="916781" y="3507337"/>
            <a:ext cx="5362099" cy="206210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875" b="1">
                <a:solidFill>
                  <a:srgbClr val="000000"/>
                </a:solidFill>
              </a:defRPr>
            </a:pPr>
            <a:r>
              <a:rPr lang="en-US" sz="1600" b="1" dirty="0"/>
              <a:t>Cycle     </a:t>
            </a:r>
            <a:r>
              <a:rPr lang="en-US" sz="1600" b="1" dirty="0">
                <a:solidFill>
                  <a:srgbClr val="000000"/>
                </a:solidFill>
              </a:rPr>
              <a:t>:    1         2         3         4         5         6         7         8</a:t>
            </a:r>
          </a:p>
          <a:p>
            <a:r>
              <a:rPr lang="en-US" sz="1600" b="1" dirty="0"/>
              <a:t>LDD r5  :    IF        ID       EX      MEM  WB</a:t>
            </a:r>
          </a:p>
          <a:p>
            <a:r>
              <a:rPr lang="en-US" sz="1600" b="1" dirty="0"/>
              <a:t>                                                               ↑</a:t>
            </a:r>
          </a:p>
          <a:p>
            <a:r>
              <a:rPr lang="en-US" sz="1600" b="1" dirty="0"/>
              <a:t>                                                   data appears HERE (start of WB)</a:t>
            </a:r>
          </a:p>
          <a:p>
            <a:br>
              <a:rPr lang="en-US" sz="1600" b="1" dirty="0"/>
            </a:br>
            <a:r>
              <a:rPr lang="en-US" sz="1600" b="1" dirty="0"/>
              <a:t>ADD r4  :              IF        ID      EX ← needs r5 HERE</a:t>
            </a:r>
          </a:p>
          <a:p>
            <a:r>
              <a:rPr lang="en-US" sz="1600" b="1" dirty="0"/>
              <a:t>                              </a:t>
            </a:r>
          </a:p>
          <a:p>
            <a:r>
              <a:rPr lang="en-US" sz="1600" b="1" dirty="0"/>
              <a:t>                     </a:t>
            </a:r>
          </a:p>
        </p:txBody>
      </p:sp>
      <p:sp>
        <p:nvSpPr>
          <p:cNvPr id="21" name="TextBox 20">
            <a:extLst>
              <a:ext uri="{FF2B5EF4-FFF2-40B4-BE49-F238E27FC236}">
                <a16:creationId xmlns:a16="http://schemas.microsoft.com/office/drawing/2014/main" id="{97F74241-2951-5D1F-ED37-BF8AD0B0B9E1}"/>
              </a:ext>
            </a:extLst>
          </p:cNvPr>
          <p:cNvSpPr txBox="1"/>
          <p:nvPr/>
        </p:nvSpPr>
        <p:spPr>
          <a:xfrm>
            <a:off x="6633212" y="1285815"/>
            <a:ext cx="1862606" cy="40011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2000" b="1" dirty="0">
                <a:solidFill>
                  <a:srgbClr val="000000"/>
                </a:solidFill>
              </a:rPr>
              <a:t>The Solution</a:t>
            </a:r>
            <a:endParaRPr lang="en-US" sz="2000" b="1" dirty="0"/>
          </a:p>
        </p:txBody>
      </p:sp>
      <p:sp>
        <p:nvSpPr>
          <p:cNvPr id="23" name="TextBox 22">
            <a:extLst>
              <a:ext uri="{FF2B5EF4-FFF2-40B4-BE49-F238E27FC236}">
                <a16:creationId xmlns:a16="http://schemas.microsoft.com/office/drawing/2014/main" id="{12C1FE98-9984-23A1-4502-99A9B30663AC}"/>
              </a:ext>
            </a:extLst>
          </p:cNvPr>
          <p:cNvSpPr txBox="1"/>
          <p:nvPr/>
        </p:nvSpPr>
        <p:spPr>
          <a:xfrm>
            <a:off x="826625" y="1209103"/>
            <a:ext cx="1710762" cy="40011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2000" b="1" dirty="0">
                <a:solidFill>
                  <a:srgbClr val="000000"/>
                </a:solidFill>
              </a:rPr>
              <a:t>The Problem</a:t>
            </a:r>
            <a:endParaRPr lang="en-US" sz="2000" b="1" dirty="0"/>
          </a:p>
        </p:txBody>
      </p:sp>
    </p:spTree>
    <p:extLst>
      <p:ext uri="{BB962C8B-B14F-4D97-AF65-F5344CB8AC3E}">
        <p14:creationId xmlns:p14="http://schemas.microsoft.com/office/powerpoint/2010/main" val="1975471405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Rectangle 16">
            <a:extLst>
              <a:ext uri="{FF2B5EF4-FFF2-40B4-BE49-F238E27FC236}">
                <a16:creationId xmlns:a16="http://schemas.microsoft.com/office/drawing/2014/main" id="{E6C311C0-7C12-4F0D-890D-EBA22A35C005}"/>
              </a:ext>
            </a:extLst>
          </p:cNvPr>
          <p:cNvSpPr>
            <a:spLocks noGrp="1"/>
          </p:cNvSpPr>
          <p:nvPr/>
        </p:nvSpPr>
        <p:spPr>
          <a:xfrm>
            <a:off x="685800" y="342900"/>
            <a:ext cx="5715000" cy="2095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/>
          <a:lstStyle/>
          <a:p>
            <a:pPr algn="l">
              <a:defRPr sz="975" b="1">
                <a:solidFill>
                  <a:srgbClr val="000000"/>
                </a:solidFill>
              </a:defRPr>
            </a:pPr>
            <a:r>
              <a:rPr sz="975" b="1">
                <a:solidFill>
                  <a:srgbClr val="000000"/>
                </a:solidFill>
              </a:rPr>
              <a:t>TEAM VOLTERE | IITISoC 2026</a:t>
            </a:r>
          </a:p>
        </p:txBody>
      </p:sp>
      <p:sp>
        <p:nvSpPr>
          <p:cNvPr id="2" name="Rectangle 1">
            <a:extLst>
              <a:ext uri="{FF2B5EF4-FFF2-40B4-BE49-F238E27FC236}">
                <a16:creationId xmlns:a16="http://schemas.microsoft.com/office/drawing/2014/main" id="{6CAEBC1F-9F5D-49D9-8351-540F85CB8130}"/>
              </a:ext>
            </a:extLst>
          </p:cNvPr>
          <p:cNvSpPr>
            <a:spLocks noGrp="1"/>
          </p:cNvSpPr>
          <p:nvPr/>
        </p:nvSpPr>
        <p:spPr>
          <a:xfrm>
            <a:off x="685800" y="628650"/>
            <a:ext cx="10763250" cy="5143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/>
          <a:lstStyle/>
          <a:p>
            <a:pPr algn="l">
              <a:defRPr sz="2550" b="1">
                <a:solidFill>
                  <a:srgbClr val="000000"/>
                </a:solidFill>
              </a:defRPr>
            </a:pPr>
            <a:r>
              <a:rPr sz="2550" b="1" dirty="0">
                <a:solidFill>
                  <a:srgbClr val="000000"/>
                </a:solidFill>
              </a:rPr>
              <a:t>A 32-entry BTB and BHT reduce control-hazard cost</a:t>
            </a:r>
          </a:p>
        </p:txBody>
      </p:sp>
      <p:sp>
        <p:nvSpPr>
          <p:cNvPr id="3" name="Rectangle: Rounded Corners 2">
            <a:extLst>
              <a:ext uri="{FF2B5EF4-FFF2-40B4-BE49-F238E27FC236}">
                <a16:creationId xmlns:a16="http://schemas.microsoft.com/office/drawing/2014/main" id="{23B8AEE5-0E03-4E09-B2F7-6659B39BF30D}"/>
              </a:ext>
            </a:extLst>
          </p:cNvPr>
          <p:cNvSpPr>
            <a:spLocks noGrp="1"/>
          </p:cNvSpPr>
          <p:nvPr/>
        </p:nvSpPr>
        <p:spPr>
          <a:xfrm>
            <a:off x="1814512" y="1564572"/>
            <a:ext cx="3016290" cy="2812166"/>
          </a:xfrm>
          <a:prstGeom prst="roundRect">
            <a:avLst>
              <a:gd name="adj" fmla="val 4571"/>
            </a:avLst>
          </a:prstGeom>
          <a:solidFill>
            <a:srgbClr val="F7F7F7"/>
          </a:solidFill>
          <a:ln w="9525">
            <a:solidFill>
              <a:srgbClr val="B5B5B5"/>
            </a:solidFill>
            <a:prstDash val="solid"/>
          </a:ln>
        </p:spPr>
        <p:txBody>
          <a:bodyPr/>
          <a:lstStyle/>
          <a:p>
            <a:endParaRPr lang="en-US" dirty="0"/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B0340838-947A-4925-B11E-4924D01B4255}"/>
              </a:ext>
            </a:extLst>
          </p:cNvPr>
          <p:cNvSpPr>
            <a:spLocks noGrp="1"/>
          </p:cNvSpPr>
          <p:nvPr/>
        </p:nvSpPr>
        <p:spPr>
          <a:xfrm>
            <a:off x="2052637" y="1812222"/>
            <a:ext cx="2190750" cy="2667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/>
          <a:lstStyle/>
          <a:p>
            <a:pPr algn="ctr">
              <a:defRPr sz="1500" b="1">
                <a:solidFill>
                  <a:srgbClr val="000000"/>
                </a:solidFill>
              </a:defRPr>
            </a:pPr>
            <a:r>
              <a:rPr lang="en-US" sz="1500" b="1" dirty="0">
                <a:solidFill>
                  <a:srgbClr val="000000"/>
                </a:solidFill>
              </a:rPr>
              <a:t>Branch Target Buffer</a:t>
            </a:r>
            <a:endParaRPr sz="1500" b="1" dirty="0">
              <a:solidFill>
                <a:srgbClr val="000000"/>
              </a:solidFill>
            </a:endParaRPr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EABBB5D0-68C4-4A09-B891-797357FF352E}"/>
              </a:ext>
            </a:extLst>
          </p:cNvPr>
          <p:cNvSpPr>
            <a:spLocks noGrp="1"/>
          </p:cNvSpPr>
          <p:nvPr/>
        </p:nvSpPr>
        <p:spPr>
          <a:xfrm>
            <a:off x="1957387" y="2140954"/>
            <a:ext cx="2419350" cy="2050167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/>
          <a:lstStyle/>
          <a:p>
            <a:pPr algn="ctr">
              <a:defRPr sz="1425" b="0">
                <a:solidFill>
                  <a:srgbClr val="000000"/>
                </a:solidFill>
              </a:defRPr>
            </a:pPr>
            <a:r>
              <a:rPr lang="en-US" sz="1425" dirty="0">
                <a:solidFill>
                  <a:srgbClr val="000000"/>
                </a:solidFill>
              </a:rPr>
              <a:t>32 entries, indexed by PC[4:0]</a:t>
            </a:r>
          </a:p>
          <a:p>
            <a:pPr algn="ctr">
              <a:defRPr sz="1425" b="0">
                <a:solidFill>
                  <a:srgbClr val="000000"/>
                </a:solidFill>
              </a:defRPr>
            </a:pPr>
            <a:r>
              <a:rPr lang="en-US" sz="1425" dirty="0">
                <a:solidFill>
                  <a:srgbClr val="000000"/>
                </a:solidFill>
              </a:rPr>
              <a:t>Each entry stores:</a:t>
            </a:r>
          </a:p>
          <a:p>
            <a:pPr algn="ctr">
              <a:defRPr sz="1425" b="0">
                <a:solidFill>
                  <a:srgbClr val="000000"/>
                </a:solidFill>
              </a:defRPr>
            </a:pPr>
            <a:r>
              <a:rPr lang="en-US" sz="1425" dirty="0">
                <a:solidFill>
                  <a:srgbClr val="000000"/>
                </a:solidFill>
              </a:rPr>
              <a:t>  • Valid bit</a:t>
            </a:r>
          </a:p>
          <a:p>
            <a:pPr algn="ctr">
              <a:defRPr sz="1425" b="0">
                <a:solidFill>
                  <a:srgbClr val="000000"/>
                </a:solidFill>
              </a:defRPr>
            </a:pPr>
            <a:r>
              <a:rPr lang="en-US" sz="1425" dirty="0">
                <a:solidFill>
                  <a:srgbClr val="000000"/>
                </a:solidFill>
              </a:rPr>
              <a:t>  • Tag (full PC address)</a:t>
            </a:r>
          </a:p>
          <a:p>
            <a:pPr algn="ctr">
              <a:defRPr sz="1425" b="0">
                <a:solidFill>
                  <a:srgbClr val="000000"/>
                </a:solidFill>
              </a:defRPr>
            </a:pPr>
            <a:r>
              <a:rPr lang="en-US" sz="1425" dirty="0">
                <a:solidFill>
                  <a:srgbClr val="000000"/>
                </a:solidFill>
              </a:rPr>
              <a:t>  • Predicted Target Address</a:t>
            </a:r>
          </a:p>
          <a:p>
            <a:pPr algn="ctr">
              <a:defRPr sz="1425" b="0">
                <a:solidFill>
                  <a:srgbClr val="000000"/>
                </a:solidFill>
              </a:defRPr>
            </a:pPr>
            <a:endParaRPr lang="en-US" sz="1425" dirty="0">
              <a:solidFill>
                <a:srgbClr val="000000"/>
              </a:solidFill>
            </a:endParaRPr>
          </a:p>
          <a:p>
            <a:pPr algn="ctr">
              <a:defRPr sz="1425" b="0">
                <a:solidFill>
                  <a:srgbClr val="000000"/>
                </a:solidFill>
              </a:defRPr>
            </a:pPr>
            <a:r>
              <a:rPr lang="en-US" sz="1425" dirty="0">
                <a:solidFill>
                  <a:srgbClr val="000000"/>
                </a:solidFill>
              </a:rPr>
              <a:t>Hit condition:</a:t>
            </a:r>
          </a:p>
          <a:p>
            <a:pPr algn="ctr">
              <a:defRPr sz="1425" b="0">
                <a:solidFill>
                  <a:srgbClr val="000000"/>
                </a:solidFill>
              </a:defRPr>
            </a:pPr>
            <a:r>
              <a:rPr lang="en-US" sz="1425" dirty="0">
                <a:solidFill>
                  <a:srgbClr val="000000"/>
                </a:solidFill>
              </a:rPr>
              <a:t>  </a:t>
            </a:r>
            <a:r>
              <a:rPr lang="en-US" sz="1425" dirty="0" err="1">
                <a:solidFill>
                  <a:srgbClr val="000000"/>
                </a:solidFill>
              </a:rPr>
              <a:t>valid_btb</a:t>
            </a:r>
            <a:r>
              <a:rPr lang="en-US" sz="1425" dirty="0">
                <a:solidFill>
                  <a:srgbClr val="000000"/>
                </a:solidFill>
              </a:rPr>
              <a:t>[PC[4:0]] == 1</a:t>
            </a:r>
          </a:p>
          <a:p>
            <a:pPr algn="ctr">
              <a:defRPr sz="1425" b="0">
                <a:solidFill>
                  <a:srgbClr val="000000"/>
                </a:solidFill>
              </a:defRPr>
            </a:pPr>
            <a:r>
              <a:rPr lang="en-US" sz="1425" dirty="0">
                <a:solidFill>
                  <a:srgbClr val="000000"/>
                </a:solidFill>
              </a:rPr>
              <a:t>  AND tag == current PC</a:t>
            </a:r>
            <a:endParaRPr sz="1425" b="0" dirty="0">
              <a:solidFill>
                <a:srgbClr val="000000"/>
              </a:solidFill>
            </a:endParaRPr>
          </a:p>
        </p:txBody>
      </p:sp>
      <p:sp>
        <p:nvSpPr>
          <p:cNvPr id="7" name="Rectangle: Rounded Corners 6">
            <a:extLst>
              <a:ext uri="{FF2B5EF4-FFF2-40B4-BE49-F238E27FC236}">
                <a16:creationId xmlns:a16="http://schemas.microsoft.com/office/drawing/2014/main" id="{1CE72EC1-5F09-4860-8098-ED61AE5C5CA8}"/>
              </a:ext>
            </a:extLst>
          </p:cNvPr>
          <p:cNvSpPr>
            <a:spLocks noGrp="1"/>
          </p:cNvSpPr>
          <p:nvPr/>
        </p:nvSpPr>
        <p:spPr>
          <a:xfrm>
            <a:off x="6875424" y="1564573"/>
            <a:ext cx="2792151" cy="2812166"/>
          </a:xfrm>
          <a:prstGeom prst="roundRect">
            <a:avLst>
              <a:gd name="adj" fmla="val 4571"/>
            </a:avLst>
          </a:prstGeom>
          <a:solidFill>
            <a:srgbClr val="F7F7F7"/>
          </a:solidFill>
          <a:ln w="9525">
            <a:solidFill>
              <a:srgbClr val="B5B5B5"/>
            </a:solidFill>
            <a:prstDash val="solid"/>
          </a:ln>
        </p:spPr>
        <p:txBody>
          <a:bodyPr/>
          <a:lstStyle/>
          <a:p>
            <a:endParaRPr lang="en-US" dirty="0"/>
          </a:p>
        </p:txBody>
      </p:sp>
      <p:sp>
        <p:nvSpPr>
          <p:cNvPr id="8" name="Rectangle 7">
            <a:extLst>
              <a:ext uri="{FF2B5EF4-FFF2-40B4-BE49-F238E27FC236}">
                <a16:creationId xmlns:a16="http://schemas.microsoft.com/office/drawing/2014/main" id="{A66EBED7-368F-4BD2-987C-06C202859DAF}"/>
              </a:ext>
            </a:extLst>
          </p:cNvPr>
          <p:cNvSpPr>
            <a:spLocks noGrp="1"/>
          </p:cNvSpPr>
          <p:nvPr/>
        </p:nvSpPr>
        <p:spPr>
          <a:xfrm>
            <a:off x="7126101" y="1881188"/>
            <a:ext cx="2190750" cy="2667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/>
          <a:lstStyle/>
          <a:p>
            <a:pPr algn="ctr">
              <a:defRPr sz="1500" b="1">
                <a:solidFill>
                  <a:srgbClr val="000000"/>
                </a:solidFill>
              </a:defRPr>
            </a:pPr>
            <a:r>
              <a:rPr lang="en-US" sz="1500" b="1" dirty="0">
                <a:solidFill>
                  <a:srgbClr val="000000"/>
                </a:solidFill>
              </a:rPr>
              <a:t>Branch History Table</a:t>
            </a:r>
            <a:endParaRPr sz="1500" b="1" dirty="0">
              <a:solidFill>
                <a:srgbClr val="000000"/>
              </a:solidFill>
            </a:endParaRPr>
          </a:p>
        </p:txBody>
      </p:sp>
      <p:sp>
        <p:nvSpPr>
          <p:cNvPr id="9" name="Rectangle 8">
            <a:extLst>
              <a:ext uri="{FF2B5EF4-FFF2-40B4-BE49-F238E27FC236}">
                <a16:creationId xmlns:a16="http://schemas.microsoft.com/office/drawing/2014/main" id="{684EC407-DB51-4876-BFB4-05E001FA39A4}"/>
              </a:ext>
            </a:extLst>
          </p:cNvPr>
          <p:cNvSpPr>
            <a:spLocks noGrp="1"/>
          </p:cNvSpPr>
          <p:nvPr/>
        </p:nvSpPr>
        <p:spPr>
          <a:xfrm>
            <a:off x="6837110" y="2388394"/>
            <a:ext cx="2768733" cy="1624857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/>
          <a:lstStyle/>
          <a:p>
            <a:pPr algn="ctr">
              <a:defRPr sz="1425" b="0">
                <a:solidFill>
                  <a:srgbClr val="000000"/>
                </a:solidFill>
              </a:defRPr>
            </a:pPr>
            <a:r>
              <a:rPr lang="en-US" sz="1425" dirty="0">
                <a:solidFill>
                  <a:srgbClr val="000000"/>
                </a:solidFill>
              </a:rPr>
              <a:t>32 entries, 1-bit per entry</a:t>
            </a:r>
          </a:p>
          <a:p>
            <a:pPr algn="ctr">
              <a:defRPr sz="1425" b="0">
                <a:solidFill>
                  <a:srgbClr val="000000"/>
                </a:solidFill>
              </a:defRPr>
            </a:pPr>
            <a:r>
              <a:rPr lang="en-US" sz="1425" dirty="0">
                <a:solidFill>
                  <a:srgbClr val="000000"/>
                </a:solidFill>
              </a:rPr>
              <a:t>  1 = predict TAKEN → fetch from BTB target</a:t>
            </a:r>
          </a:p>
          <a:p>
            <a:pPr algn="ctr">
              <a:defRPr sz="1425" b="0">
                <a:solidFill>
                  <a:srgbClr val="000000"/>
                </a:solidFill>
              </a:defRPr>
            </a:pPr>
            <a:r>
              <a:rPr lang="en-US" sz="1425" dirty="0">
                <a:solidFill>
                  <a:srgbClr val="000000"/>
                </a:solidFill>
              </a:rPr>
              <a:t>  0 = predict NOT TAKEN → fetch PC + 1</a:t>
            </a:r>
          </a:p>
          <a:p>
            <a:pPr algn="ctr">
              <a:defRPr sz="1425" b="0">
                <a:solidFill>
                  <a:srgbClr val="000000"/>
                </a:solidFill>
              </a:defRPr>
            </a:pPr>
            <a:endParaRPr lang="en-US" sz="1425" dirty="0">
              <a:solidFill>
                <a:srgbClr val="000000"/>
              </a:solidFill>
            </a:endParaRPr>
          </a:p>
          <a:p>
            <a:pPr algn="ctr">
              <a:defRPr sz="1425" b="0">
                <a:solidFill>
                  <a:srgbClr val="000000"/>
                </a:solidFill>
              </a:defRPr>
            </a:pPr>
            <a:r>
              <a:rPr lang="en-US" sz="1425" dirty="0">
                <a:solidFill>
                  <a:srgbClr val="000000"/>
                </a:solidFill>
              </a:rPr>
              <a:t>Updated every time branch resolves in EX</a:t>
            </a:r>
          </a:p>
        </p:txBody>
      </p:sp>
      <p:sp>
        <p:nvSpPr>
          <p:cNvPr id="14" name="Rectangle 13">
            <a:extLst>
              <a:ext uri="{FF2B5EF4-FFF2-40B4-BE49-F238E27FC236}">
                <a16:creationId xmlns:a16="http://schemas.microsoft.com/office/drawing/2014/main" id="{F2EF1638-AD95-4157-A2AC-4B2FD25D2208}"/>
              </a:ext>
            </a:extLst>
          </p:cNvPr>
          <p:cNvSpPr>
            <a:spLocks noGrp="1"/>
          </p:cNvSpPr>
          <p:nvPr/>
        </p:nvSpPr>
        <p:spPr>
          <a:xfrm>
            <a:off x="852818" y="4837072"/>
            <a:ext cx="10429214" cy="688272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/>
          <a:lstStyle/>
          <a:p>
            <a:pPr algn="ctr">
              <a:defRPr sz="1650" b="1">
                <a:solidFill>
                  <a:srgbClr val="000000"/>
                </a:solidFill>
              </a:defRPr>
            </a:pPr>
            <a:r>
              <a:rPr lang="en-US" sz="1650" b="1" dirty="0"/>
              <a:t>JR/RETI/ERET always flush:</a:t>
            </a:r>
            <a:r>
              <a:rPr lang="en-US" sz="1650" dirty="0"/>
              <a:t> Their target addresses live in registers (rs1, EPC) which are only known in the EX stage — the BTB cannot cache a value it has never seen at fetch time.</a:t>
            </a:r>
            <a:endParaRPr sz="1650" b="1" dirty="0">
              <a:solidFill>
                <a:srgbClr val="000000"/>
              </a:solidFill>
            </a:endParaRPr>
          </a:p>
        </p:txBody>
      </p:sp>
      <p:sp>
        <p:nvSpPr>
          <p:cNvPr id="15" name="Rectangle 14">
            <a:extLst>
              <a:ext uri="{FF2B5EF4-FFF2-40B4-BE49-F238E27FC236}">
                <a16:creationId xmlns:a16="http://schemas.microsoft.com/office/drawing/2014/main" id="{5FC83F2E-BAD4-4C2E-AAAC-8F8773EBEEC2}"/>
              </a:ext>
            </a:extLst>
          </p:cNvPr>
          <p:cNvSpPr>
            <a:spLocks noGrp="1"/>
          </p:cNvSpPr>
          <p:nvPr/>
        </p:nvSpPr>
        <p:spPr>
          <a:xfrm>
            <a:off x="685800" y="6496050"/>
            <a:ext cx="7048500" cy="1714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/>
          <a:lstStyle/>
          <a:p>
            <a:pPr algn="l">
              <a:defRPr sz="825" b="0">
                <a:solidFill>
                  <a:srgbClr val="000000"/>
                </a:solidFill>
              </a:defRPr>
            </a:pPr>
            <a:r>
              <a:rPr sz="825" b="0">
                <a:solidFill>
                  <a:srgbClr val="000000"/>
                </a:solidFill>
              </a:rPr>
              <a:t>Team VOLTERE | 8-bit Pipelined Microprocessor</a:t>
            </a:r>
          </a:p>
        </p:txBody>
      </p:sp>
      <p:sp>
        <p:nvSpPr>
          <p:cNvPr id="16" name="Rectangle 15">
            <a:extLst>
              <a:ext uri="{FF2B5EF4-FFF2-40B4-BE49-F238E27FC236}">
                <a16:creationId xmlns:a16="http://schemas.microsoft.com/office/drawing/2014/main" id="{9329F368-ACE6-4059-9761-3B44CC1FB5E7}"/>
              </a:ext>
            </a:extLst>
          </p:cNvPr>
          <p:cNvSpPr>
            <a:spLocks noGrp="1"/>
          </p:cNvSpPr>
          <p:nvPr/>
        </p:nvSpPr>
        <p:spPr>
          <a:xfrm>
            <a:off x="11001375" y="6477000"/>
            <a:ext cx="495300" cy="1714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/>
          <a:lstStyle/>
          <a:p>
            <a:pPr algn="r">
              <a:defRPr sz="825" b="1">
                <a:solidFill>
                  <a:srgbClr val="000000"/>
                </a:solidFill>
              </a:defRPr>
            </a:pPr>
            <a:r>
              <a:rPr sz="825" b="1">
                <a:solidFill>
                  <a:srgbClr val="000000"/>
                </a:solidFill>
              </a:rPr>
              <a:t>11</a:t>
            </a:r>
          </a:p>
        </p:txBody>
      </p:sp>
    </p:spTree>
    <p:extLst>
      <p:ext uri="{BB962C8B-B14F-4D97-AF65-F5344CB8AC3E}">
        <p14:creationId xmlns:p14="http://schemas.microsoft.com/office/powerpoint/2010/main" val="1878523567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Rectangle 11">
            <a:extLst>
              <a:ext uri="{FF2B5EF4-FFF2-40B4-BE49-F238E27FC236}">
                <a16:creationId xmlns:a16="http://schemas.microsoft.com/office/drawing/2014/main" id="{B05C6CB9-E3D1-46F9-B896-05D833F69598}"/>
              </a:ext>
            </a:extLst>
          </p:cNvPr>
          <p:cNvSpPr>
            <a:spLocks noGrp="1"/>
          </p:cNvSpPr>
          <p:nvPr/>
        </p:nvSpPr>
        <p:spPr>
          <a:xfrm>
            <a:off x="685800" y="342900"/>
            <a:ext cx="5715000" cy="2095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/>
          <a:lstStyle/>
          <a:p>
            <a:pPr algn="l">
              <a:defRPr sz="975" b="1">
                <a:solidFill>
                  <a:srgbClr val="000000"/>
                </a:solidFill>
              </a:defRPr>
            </a:pPr>
            <a:r>
              <a:rPr sz="975" b="1">
                <a:solidFill>
                  <a:srgbClr val="000000"/>
                </a:solidFill>
              </a:rPr>
              <a:t>TEAM VOLTERE | IITISoC 2026</a:t>
            </a:r>
          </a:p>
        </p:txBody>
      </p:sp>
      <p:sp>
        <p:nvSpPr>
          <p:cNvPr id="2" name="Rectangle 1">
            <a:extLst>
              <a:ext uri="{FF2B5EF4-FFF2-40B4-BE49-F238E27FC236}">
                <a16:creationId xmlns:a16="http://schemas.microsoft.com/office/drawing/2014/main" id="{0C827887-7811-48E6-999E-B6598382B497}"/>
              </a:ext>
            </a:extLst>
          </p:cNvPr>
          <p:cNvSpPr>
            <a:spLocks noGrp="1"/>
          </p:cNvSpPr>
          <p:nvPr/>
        </p:nvSpPr>
        <p:spPr>
          <a:xfrm>
            <a:off x="685800" y="628650"/>
            <a:ext cx="10763250" cy="5143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/>
          <a:lstStyle/>
          <a:p>
            <a:pPr algn="l">
              <a:defRPr sz="2550" b="1">
                <a:solidFill>
                  <a:srgbClr val="000000"/>
                </a:solidFill>
              </a:defRPr>
            </a:pPr>
            <a:r>
              <a:rPr sz="2550" b="1" dirty="0">
                <a:solidFill>
                  <a:srgbClr val="000000"/>
                </a:solidFill>
              </a:rPr>
              <a:t>Both </a:t>
            </a:r>
            <a:r>
              <a:rPr sz="2550" b="1" dirty="0" err="1">
                <a:solidFill>
                  <a:srgbClr val="000000"/>
                </a:solidFill>
              </a:rPr>
              <a:t>IITISoC</a:t>
            </a:r>
            <a:r>
              <a:rPr sz="2550" b="1" dirty="0">
                <a:solidFill>
                  <a:srgbClr val="000000"/>
                </a:solidFill>
              </a:rPr>
              <a:t> bonus tasks were implemented and verified</a:t>
            </a:r>
          </a:p>
        </p:txBody>
      </p:sp>
      <p:sp>
        <p:nvSpPr>
          <p:cNvPr id="3" name="Rectangle: Rounded Corners 2">
            <a:extLst>
              <a:ext uri="{FF2B5EF4-FFF2-40B4-BE49-F238E27FC236}">
                <a16:creationId xmlns:a16="http://schemas.microsoft.com/office/drawing/2014/main" id="{4F07DB10-4A9D-484E-B390-689D5460B550}"/>
              </a:ext>
            </a:extLst>
          </p:cNvPr>
          <p:cNvSpPr>
            <a:spLocks noGrp="1"/>
          </p:cNvSpPr>
          <p:nvPr/>
        </p:nvSpPr>
        <p:spPr>
          <a:xfrm>
            <a:off x="762000" y="1524000"/>
            <a:ext cx="4762500" cy="2857500"/>
          </a:xfrm>
          <a:prstGeom prst="roundRect">
            <a:avLst>
              <a:gd name="adj" fmla="val 2667"/>
            </a:avLst>
          </a:prstGeom>
          <a:solidFill>
            <a:srgbClr val="F7F7F7"/>
          </a:solidFill>
          <a:ln w="9525">
            <a:solidFill>
              <a:srgbClr val="B5B5B5"/>
            </a:solidFill>
            <a:prstDash val="solid"/>
          </a:ln>
        </p:spPr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3D8E3A5A-4F2A-4DB3-A13D-67A6BEF7EB6A}"/>
              </a:ext>
            </a:extLst>
          </p:cNvPr>
          <p:cNvSpPr>
            <a:spLocks noGrp="1"/>
          </p:cNvSpPr>
          <p:nvPr/>
        </p:nvSpPr>
        <p:spPr>
          <a:xfrm>
            <a:off x="1095375" y="1828800"/>
            <a:ext cx="3333750" cy="2857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/>
          <a:lstStyle/>
          <a:p>
            <a:pPr algn="l">
              <a:defRPr sz="1875" b="1">
                <a:solidFill>
                  <a:srgbClr val="000000"/>
                </a:solidFill>
              </a:defRPr>
            </a:pPr>
            <a:r>
              <a:rPr sz="1875" b="1">
                <a:solidFill>
                  <a:srgbClr val="000000"/>
                </a:solidFill>
              </a:rPr>
              <a:t>BONUS 1</a:t>
            </a:r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72987D01-50E0-4374-965C-E7BFC4722E67}"/>
              </a:ext>
            </a:extLst>
          </p:cNvPr>
          <p:cNvSpPr>
            <a:spLocks noGrp="1"/>
          </p:cNvSpPr>
          <p:nvPr/>
        </p:nvSpPr>
        <p:spPr>
          <a:xfrm>
            <a:off x="1095375" y="2333625"/>
            <a:ext cx="3667125" cy="138112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/>
          <a:lstStyle/>
          <a:p>
            <a:pPr algn="l">
              <a:defRPr sz="1725" b="0">
                <a:solidFill>
                  <a:srgbClr val="000000"/>
                </a:solidFill>
              </a:defRPr>
            </a:pPr>
            <a:r>
              <a:rPr sz="1725" b="0">
                <a:solidFill>
                  <a:srgbClr val="000000"/>
                </a:solidFill>
              </a:rPr>
              <a:t>Recursive subroutine calls</a:t>
            </a:r>
          </a:p>
          <a:p>
            <a:endParaRPr sz="1725" b="0">
              <a:solidFill>
                <a:srgbClr val="000000"/>
              </a:solidFill>
            </a:endParaRPr>
          </a:p>
          <a:p>
            <a:pPr algn="l">
              <a:defRPr sz="1725" b="0">
                <a:solidFill>
                  <a:srgbClr val="000000"/>
                </a:solidFill>
              </a:defRPr>
            </a:pPr>
            <a:r>
              <a:rPr sz="1725" b="0">
                <a:solidFill>
                  <a:srgbClr val="000000"/>
                </a:solidFill>
              </a:rPr>
              <a:t>JAL + JR + software stack</a:t>
            </a:r>
          </a:p>
          <a:p>
            <a:pPr algn="l">
              <a:defRPr sz="1725" b="0">
                <a:solidFill>
                  <a:srgbClr val="000000"/>
                </a:solidFill>
              </a:defRPr>
            </a:pPr>
            <a:r>
              <a:rPr sz="1725" b="0">
                <a:solidFill>
                  <a:srgbClr val="000000"/>
                </a:solidFill>
              </a:rPr>
              <a:t>Verified with recursive factorial</a:t>
            </a:r>
          </a:p>
        </p:txBody>
      </p:sp>
      <p:sp>
        <p:nvSpPr>
          <p:cNvPr id="6" name="Rectangle: Rounded Corners 5">
            <a:extLst>
              <a:ext uri="{FF2B5EF4-FFF2-40B4-BE49-F238E27FC236}">
                <a16:creationId xmlns:a16="http://schemas.microsoft.com/office/drawing/2014/main" id="{4B0D96F7-E1C4-494C-ADD7-007CCEB6DB21}"/>
              </a:ext>
            </a:extLst>
          </p:cNvPr>
          <p:cNvSpPr>
            <a:spLocks noGrp="1"/>
          </p:cNvSpPr>
          <p:nvPr/>
        </p:nvSpPr>
        <p:spPr>
          <a:xfrm>
            <a:off x="6667500" y="1524000"/>
            <a:ext cx="4762500" cy="2857500"/>
          </a:xfrm>
          <a:prstGeom prst="roundRect">
            <a:avLst>
              <a:gd name="adj" fmla="val 2667"/>
            </a:avLst>
          </a:prstGeom>
          <a:solidFill>
            <a:srgbClr val="F7F7F7"/>
          </a:solidFill>
          <a:ln w="9525">
            <a:solidFill>
              <a:srgbClr val="B5B5B5"/>
            </a:solidFill>
            <a:prstDash val="solid"/>
          </a:ln>
        </p:spPr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B278CFCD-DF06-4182-BD53-15EEF7433929}"/>
              </a:ext>
            </a:extLst>
          </p:cNvPr>
          <p:cNvSpPr>
            <a:spLocks noGrp="1"/>
          </p:cNvSpPr>
          <p:nvPr/>
        </p:nvSpPr>
        <p:spPr>
          <a:xfrm>
            <a:off x="7000875" y="1828800"/>
            <a:ext cx="3333750" cy="2857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/>
          <a:lstStyle/>
          <a:p>
            <a:pPr algn="l">
              <a:defRPr sz="1875" b="1">
                <a:solidFill>
                  <a:srgbClr val="000000"/>
                </a:solidFill>
              </a:defRPr>
            </a:pPr>
            <a:r>
              <a:rPr sz="1875" b="1">
                <a:solidFill>
                  <a:srgbClr val="000000"/>
                </a:solidFill>
              </a:rPr>
              <a:t>BONUS 2</a:t>
            </a:r>
          </a:p>
        </p:txBody>
      </p:sp>
      <p:sp>
        <p:nvSpPr>
          <p:cNvPr id="8" name="Rectangle 7">
            <a:extLst>
              <a:ext uri="{FF2B5EF4-FFF2-40B4-BE49-F238E27FC236}">
                <a16:creationId xmlns:a16="http://schemas.microsoft.com/office/drawing/2014/main" id="{349BD43E-7F3D-4DFA-A5F3-8152C816E927}"/>
              </a:ext>
            </a:extLst>
          </p:cNvPr>
          <p:cNvSpPr>
            <a:spLocks noGrp="1"/>
          </p:cNvSpPr>
          <p:nvPr/>
        </p:nvSpPr>
        <p:spPr>
          <a:xfrm>
            <a:off x="7000875" y="2333625"/>
            <a:ext cx="3810000" cy="138112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/>
          <a:lstStyle/>
          <a:p>
            <a:pPr algn="l">
              <a:defRPr sz="1725" b="0">
                <a:solidFill>
                  <a:srgbClr val="000000"/>
                </a:solidFill>
              </a:defRPr>
            </a:pPr>
            <a:r>
              <a:rPr sz="1725" b="0">
                <a:solidFill>
                  <a:srgbClr val="000000"/>
                </a:solidFill>
              </a:rPr>
              <a:t>Precise exception handling</a:t>
            </a:r>
          </a:p>
          <a:p>
            <a:endParaRPr sz="1725" b="0">
              <a:solidFill>
                <a:srgbClr val="000000"/>
              </a:solidFill>
            </a:endParaRPr>
          </a:p>
          <a:p>
            <a:pPr algn="l">
              <a:defRPr sz="1725" b="0">
                <a:solidFill>
                  <a:srgbClr val="000000"/>
                </a:solidFill>
              </a:defRPr>
            </a:pPr>
            <a:r>
              <a:rPr sz="1725" b="0">
                <a:solidFill>
                  <a:srgbClr val="000000"/>
                </a:solidFill>
              </a:rPr>
              <a:t>EPC + CAUSE + vector + ERET</a:t>
            </a:r>
          </a:p>
          <a:p>
            <a:pPr algn="l">
              <a:defRPr sz="1725" b="0">
                <a:solidFill>
                  <a:srgbClr val="000000"/>
                </a:solidFill>
              </a:defRPr>
            </a:pPr>
            <a:r>
              <a:rPr sz="1725" b="0">
                <a:solidFill>
                  <a:srgbClr val="000000"/>
                </a:solidFill>
              </a:rPr>
              <a:t>Overflow, illegal instruction, TRAP</a:t>
            </a:r>
          </a:p>
        </p:txBody>
      </p:sp>
      <p:sp>
        <p:nvSpPr>
          <p:cNvPr id="9" name="Rectangle 8">
            <a:extLst>
              <a:ext uri="{FF2B5EF4-FFF2-40B4-BE49-F238E27FC236}">
                <a16:creationId xmlns:a16="http://schemas.microsoft.com/office/drawing/2014/main" id="{48B47450-C642-4A51-AE8F-74AF0677F2A6}"/>
              </a:ext>
            </a:extLst>
          </p:cNvPr>
          <p:cNvSpPr>
            <a:spLocks noGrp="1"/>
          </p:cNvSpPr>
          <p:nvPr/>
        </p:nvSpPr>
        <p:spPr>
          <a:xfrm>
            <a:off x="952500" y="5095875"/>
            <a:ext cx="10287000" cy="3238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/>
          <a:lstStyle/>
          <a:p>
            <a:pPr algn="ctr">
              <a:defRPr sz="1725" b="1">
                <a:solidFill>
                  <a:srgbClr val="000000"/>
                </a:solidFill>
              </a:defRPr>
            </a:pPr>
            <a:r>
              <a:rPr sz="1725" b="1">
                <a:solidFill>
                  <a:srgbClr val="000000"/>
                </a:solidFill>
              </a:rPr>
              <a:t>These are fully synthesizable RTL features, not software-only demonstrations.</a:t>
            </a:r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5C97789B-B3D1-4E77-85DF-B90E849DEA50}"/>
              </a:ext>
            </a:extLst>
          </p:cNvPr>
          <p:cNvSpPr>
            <a:spLocks noGrp="1"/>
          </p:cNvSpPr>
          <p:nvPr/>
        </p:nvSpPr>
        <p:spPr>
          <a:xfrm>
            <a:off x="685800" y="6496050"/>
            <a:ext cx="7048500" cy="1714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/>
          <a:lstStyle/>
          <a:p>
            <a:pPr algn="l">
              <a:defRPr sz="825" b="0">
                <a:solidFill>
                  <a:srgbClr val="000000"/>
                </a:solidFill>
              </a:defRPr>
            </a:pPr>
            <a:r>
              <a:rPr sz="825" b="0">
                <a:solidFill>
                  <a:srgbClr val="000000"/>
                </a:solidFill>
              </a:rPr>
              <a:t>Team VOLTERE | 8-bit Pipelined Microprocessor</a:t>
            </a:r>
          </a:p>
        </p:txBody>
      </p:sp>
      <p:sp>
        <p:nvSpPr>
          <p:cNvPr id="11" name="Rectangle 10">
            <a:extLst>
              <a:ext uri="{FF2B5EF4-FFF2-40B4-BE49-F238E27FC236}">
                <a16:creationId xmlns:a16="http://schemas.microsoft.com/office/drawing/2014/main" id="{1361AA87-F0D8-430D-98AE-F4040683AFD8}"/>
              </a:ext>
            </a:extLst>
          </p:cNvPr>
          <p:cNvSpPr>
            <a:spLocks noGrp="1"/>
          </p:cNvSpPr>
          <p:nvPr/>
        </p:nvSpPr>
        <p:spPr>
          <a:xfrm>
            <a:off x="11001375" y="6477000"/>
            <a:ext cx="495300" cy="1714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/>
          <a:lstStyle/>
          <a:p>
            <a:pPr algn="r">
              <a:defRPr sz="825" b="1">
                <a:solidFill>
                  <a:srgbClr val="000000"/>
                </a:solidFill>
              </a:defRPr>
            </a:pPr>
            <a:r>
              <a:rPr sz="825" b="1">
                <a:solidFill>
                  <a:srgbClr val="000000"/>
                </a:solidFill>
              </a:rPr>
              <a:t>12</a:t>
            </a:r>
          </a:p>
        </p:txBody>
      </p:sp>
    </p:spTree>
    <p:extLst>
      <p:ext uri="{BB962C8B-B14F-4D97-AF65-F5344CB8AC3E}">
        <p14:creationId xmlns:p14="http://schemas.microsoft.com/office/powerpoint/2010/main" val="1193682106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Rectangle 13">
            <a:extLst>
              <a:ext uri="{FF2B5EF4-FFF2-40B4-BE49-F238E27FC236}">
                <a16:creationId xmlns:a16="http://schemas.microsoft.com/office/drawing/2014/main" id="{5C62FEB2-717A-4422-AABB-CD3B01B9966B}"/>
              </a:ext>
            </a:extLst>
          </p:cNvPr>
          <p:cNvSpPr>
            <a:spLocks noGrp="1"/>
          </p:cNvSpPr>
          <p:nvPr/>
        </p:nvSpPr>
        <p:spPr>
          <a:xfrm>
            <a:off x="685800" y="342900"/>
            <a:ext cx="5715000" cy="2095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/>
          <a:lstStyle/>
          <a:p>
            <a:pPr algn="l">
              <a:defRPr sz="975" b="1">
                <a:solidFill>
                  <a:srgbClr val="000000"/>
                </a:solidFill>
              </a:defRPr>
            </a:pPr>
            <a:r>
              <a:rPr sz="975" b="1">
                <a:solidFill>
                  <a:srgbClr val="000000"/>
                </a:solidFill>
              </a:rPr>
              <a:t>TEAM VOLTERE | IITISoC 2026</a:t>
            </a:r>
          </a:p>
        </p:txBody>
      </p:sp>
      <p:sp>
        <p:nvSpPr>
          <p:cNvPr id="2" name="Rectangle 1">
            <a:extLst>
              <a:ext uri="{FF2B5EF4-FFF2-40B4-BE49-F238E27FC236}">
                <a16:creationId xmlns:a16="http://schemas.microsoft.com/office/drawing/2014/main" id="{E0E359F3-45B7-48F5-BB7A-85DB1B9D23D5}"/>
              </a:ext>
            </a:extLst>
          </p:cNvPr>
          <p:cNvSpPr>
            <a:spLocks noGrp="1"/>
          </p:cNvSpPr>
          <p:nvPr/>
        </p:nvSpPr>
        <p:spPr>
          <a:xfrm>
            <a:off x="685800" y="628650"/>
            <a:ext cx="10763250" cy="5143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/>
          <a:lstStyle/>
          <a:p>
            <a:pPr algn="l">
              <a:defRPr sz="2550" b="1">
                <a:solidFill>
                  <a:srgbClr val="000000"/>
                </a:solidFill>
              </a:defRPr>
            </a:pPr>
            <a:r>
              <a:rPr sz="2550" b="1">
                <a:solidFill>
                  <a:srgbClr val="000000"/>
                </a:solidFill>
              </a:rPr>
              <a:t>JAL and JR implement genuine function calls and returns</a:t>
            </a:r>
          </a:p>
        </p:txBody>
      </p:sp>
      <p:sp>
        <p:nvSpPr>
          <p:cNvPr id="3" name="Rectangle: Rounded Corners 2">
            <a:extLst>
              <a:ext uri="{FF2B5EF4-FFF2-40B4-BE49-F238E27FC236}">
                <a16:creationId xmlns:a16="http://schemas.microsoft.com/office/drawing/2014/main" id="{E5420279-0034-4747-82D2-A28CD66C61DE}"/>
              </a:ext>
            </a:extLst>
          </p:cNvPr>
          <p:cNvSpPr>
            <a:spLocks noGrp="1"/>
          </p:cNvSpPr>
          <p:nvPr/>
        </p:nvSpPr>
        <p:spPr>
          <a:xfrm>
            <a:off x="904875" y="1619250"/>
            <a:ext cx="3810000" cy="2476500"/>
          </a:xfrm>
          <a:prstGeom prst="roundRect">
            <a:avLst>
              <a:gd name="adj" fmla="val 3077"/>
            </a:avLst>
          </a:prstGeom>
          <a:solidFill>
            <a:srgbClr val="F7F7F7"/>
          </a:solidFill>
          <a:ln w="9525">
            <a:solidFill>
              <a:srgbClr val="B5B5B5"/>
            </a:solidFill>
            <a:prstDash val="solid"/>
          </a:ln>
        </p:spPr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EAE2BC18-AD38-4B23-844F-5B32EE4AE9CF}"/>
              </a:ext>
            </a:extLst>
          </p:cNvPr>
          <p:cNvSpPr>
            <a:spLocks noGrp="1"/>
          </p:cNvSpPr>
          <p:nvPr/>
        </p:nvSpPr>
        <p:spPr>
          <a:xfrm>
            <a:off x="1076325" y="1733550"/>
            <a:ext cx="3467100" cy="22479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/>
          <a:lstStyle/>
          <a:p>
            <a:pPr algn="l">
              <a:defRPr sz="1500" b="0">
                <a:solidFill>
                  <a:srgbClr val="000000"/>
                </a:solidFill>
              </a:defRPr>
            </a:pPr>
            <a:r>
              <a:rPr sz="1500" b="0">
                <a:solidFill>
                  <a:srgbClr val="000000"/>
                </a:solidFill>
              </a:rPr>
              <a:t>JAL r7, offset</a:t>
            </a:r>
          </a:p>
          <a:p>
            <a:pPr algn="l">
              <a:defRPr sz="1500" b="0">
                <a:solidFill>
                  <a:srgbClr val="000000"/>
                </a:solidFill>
              </a:defRPr>
            </a:pPr>
            <a:r>
              <a:rPr sz="1500" b="0">
                <a:solidFill>
                  <a:srgbClr val="000000"/>
                </a:solidFill>
              </a:rPr>
              <a:t>R7 = PC + 1</a:t>
            </a:r>
          </a:p>
          <a:p>
            <a:pPr algn="l">
              <a:defRPr sz="1500" b="0">
                <a:solidFill>
                  <a:srgbClr val="000000"/>
                </a:solidFill>
              </a:defRPr>
            </a:pPr>
            <a:r>
              <a:rPr sz="1500" b="0">
                <a:solidFill>
                  <a:srgbClr val="000000"/>
                </a:solidFill>
              </a:rPr>
              <a:t>PC = PC + SignExt(offset)</a:t>
            </a:r>
          </a:p>
          <a:p>
            <a:endParaRPr sz="1500" b="0">
              <a:solidFill>
                <a:srgbClr val="000000"/>
              </a:solidFill>
            </a:endParaRPr>
          </a:p>
          <a:p>
            <a:pPr algn="l">
              <a:defRPr sz="1500" b="0">
                <a:solidFill>
                  <a:srgbClr val="000000"/>
                </a:solidFill>
              </a:defRPr>
            </a:pPr>
            <a:r>
              <a:rPr sz="1500" b="0">
                <a:solidFill>
                  <a:srgbClr val="000000"/>
                </a:solidFill>
              </a:rPr>
              <a:t>JR r7</a:t>
            </a:r>
          </a:p>
          <a:p>
            <a:pPr algn="l">
              <a:defRPr sz="1500" b="0">
                <a:solidFill>
                  <a:srgbClr val="000000"/>
                </a:solidFill>
              </a:defRPr>
            </a:pPr>
            <a:r>
              <a:rPr sz="1500" b="0">
                <a:solidFill>
                  <a:srgbClr val="000000"/>
                </a:solidFill>
              </a:rPr>
              <a:t>PC = R7</a:t>
            </a:r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D3A14FBF-B4D2-43CA-915B-E1EAE8DC5CB5}"/>
              </a:ext>
            </a:extLst>
          </p:cNvPr>
          <p:cNvSpPr>
            <a:spLocks noGrp="1"/>
          </p:cNvSpPr>
          <p:nvPr/>
        </p:nvSpPr>
        <p:spPr>
          <a:xfrm>
            <a:off x="6191250" y="1809750"/>
            <a:ext cx="1428750" cy="2667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/>
          <a:lstStyle/>
          <a:p>
            <a:pPr algn="ctr">
              <a:defRPr sz="1500" b="1">
                <a:solidFill>
                  <a:srgbClr val="000000"/>
                </a:solidFill>
              </a:defRPr>
            </a:pPr>
            <a:r>
              <a:rPr sz="1500" b="1">
                <a:solidFill>
                  <a:srgbClr val="000000"/>
                </a:solidFill>
              </a:rPr>
              <a:t>CALLER</a:t>
            </a:r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14DCD2D0-EE45-43C6-94CA-4E6F546C6D5B}"/>
              </a:ext>
            </a:extLst>
          </p:cNvPr>
          <p:cNvSpPr>
            <a:spLocks noGrp="1"/>
          </p:cNvSpPr>
          <p:nvPr/>
        </p:nvSpPr>
        <p:spPr>
          <a:xfrm>
            <a:off x="7810500" y="1809750"/>
            <a:ext cx="1143000" cy="2667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/>
          <a:lstStyle/>
          <a:p>
            <a:pPr algn="ctr">
              <a:defRPr sz="1500" b="1">
                <a:solidFill>
                  <a:srgbClr val="000000"/>
                </a:solidFill>
              </a:defRPr>
            </a:pPr>
            <a:r>
              <a:rPr sz="1500" b="1">
                <a:solidFill>
                  <a:srgbClr val="000000"/>
                </a:solidFill>
              </a:rPr>
              <a:t>JAL</a:t>
            </a:r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04C60F3D-0BCA-4C8A-BD00-18F43157A571}"/>
              </a:ext>
            </a:extLst>
          </p:cNvPr>
          <p:cNvSpPr>
            <a:spLocks noGrp="1"/>
          </p:cNvSpPr>
          <p:nvPr/>
        </p:nvSpPr>
        <p:spPr>
          <a:xfrm>
            <a:off x="9239250" y="1809750"/>
            <a:ext cx="1428750" cy="2667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/>
          <a:lstStyle/>
          <a:p>
            <a:pPr algn="ctr">
              <a:defRPr sz="1500" b="1">
                <a:solidFill>
                  <a:srgbClr val="000000"/>
                </a:solidFill>
              </a:defRPr>
            </a:pPr>
            <a:r>
              <a:rPr sz="1500" b="1">
                <a:solidFill>
                  <a:srgbClr val="000000"/>
                </a:solidFill>
              </a:rPr>
              <a:t>CALLEE</a:t>
            </a:r>
          </a:p>
        </p:txBody>
      </p:sp>
      <p:sp>
        <p:nvSpPr>
          <p:cNvPr id="8" name="Rectangle 7">
            <a:extLst>
              <a:ext uri="{FF2B5EF4-FFF2-40B4-BE49-F238E27FC236}">
                <a16:creationId xmlns:a16="http://schemas.microsoft.com/office/drawing/2014/main" id="{156A69B9-2C94-40C3-987D-DFCD44CA4243}"/>
              </a:ext>
            </a:extLst>
          </p:cNvPr>
          <p:cNvSpPr>
            <a:spLocks noGrp="1"/>
          </p:cNvSpPr>
          <p:nvPr/>
        </p:nvSpPr>
        <p:spPr>
          <a:xfrm>
            <a:off x="7572375" y="1809750"/>
            <a:ext cx="333375" cy="2667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/>
          <a:lstStyle/>
          <a:p>
            <a:pPr algn="l">
              <a:defRPr sz="1800" b="1">
                <a:solidFill>
                  <a:srgbClr val="000000"/>
                </a:solidFill>
              </a:defRPr>
            </a:pPr>
            <a:r>
              <a:rPr sz="1800" b="1">
                <a:solidFill>
                  <a:srgbClr val="000000"/>
                </a:solidFill>
              </a:rPr>
              <a:t>→</a:t>
            </a:r>
          </a:p>
        </p:txBody>
      </p:sp>
      <p:sp>
        <p:nvSpPr>
          <p:cNvPr id="9" name="Rectangle 8">
            <a:extLst>
              <a:ext uri="{FF2B5EF4-FFF2-40B4-BE49-F238E27FC236}">
                <a16:creationId xmlns:a16="http://schemas.microsoft.com/office/drawing/2014/main" id="{508EBA2C-8181-49F5-8FD9-7D5E1D8BEBB3}"/>
              </a:ext>
            </a:extLst>
          </p:cNvPr>
          <p:cNvSpPr>
            <a:spLocks noGrp="1"/>
          </p:cNvSpPr>
          <p:nvPr/>
        </p:nvSpPr>
        <p:spPr>
          <a:xfrm>
            <a:off x="8953500" y="1809750"/>
            <a:ext cx="333375" cy="2667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/>
          <a:lstStyle/>
          <a:p>
            <a:pPr algn="l">
              <a:defRPr sz="1800" b="1">
                <a:solidFill>
                  <a:srgbClr val="000000"/>
                </a:solidFill>
              </a:defRPr>
            </a:pPr>
            <a:r>
              <a:rPr sz="1800" b="1">
                <a:solidFill>
                  <a:srgbClr val="000000"/>
                </a:solidFill>
              </a:rPr>
              <a:t>→</a:t>
            </a:r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019C95B0-22C6-42E1-9619-249607CA3527}"/>
              </a:ext>
            </a:extLst>
          </p:cNvPr>
          <p:cNvSpPr>
            <a:spLocks noGrp="1"/>
          </p:cNvSpPr>
          <p:nvPr/>
        </p:nvSpPr>
        <p:spPr>
          <a:xfrm>
            <a:off x="6858000" y="2952750"/>
            <a:ext cx="3333750" cy="3048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/>
          <a:lstStyle/>
          <a:p>
            <a:pPr algn="ctr">
              <a:defRPr sz="1650" b="1">
                <a:solidFill>
                  <a:srgbClr val="000000"/>
                </a:solidFill>
              </a:defRPr>
            </a:pPr>
            <a:r>
              <a:rPr sz="1650" b="1">
                <a:solidFill>
                  <a:srgbClr val="000000"/>
                </a:solidFill>
              </a:rPr>
              <a:t>JR returns to caller continuation</a:t>
            </a:r>
          </a:p>
        </p:txBody>
      </p:sp>
      <p:sp>
        <p:nvSpPr>
          <p:cNvPr id="11" name="Rectangle 10">
            <a:extLst>
              <a:ext uri="{FF2B5EF4-FFF2-40B4-BE49-F238E27FC236}">
                <a16:creationId xmlns:a16="http://schemas.microsoft.com/office/drawing/2014/main" id="{CB16562B-2EDD-4BFC-A149-067C0A16190C}"/>
              </a:ext>
            </a:extLst>
          </p:cNvPr>
          <p:cNvSpPr>
            <a:spLocks noGrp="1"/>
          </p:cNvSpPr>
          <p:nvPr/>
        </p:nvSpPr>
        <p:spPr>
          <a:xfrm>
            <a:off x="904875" y="4953000"/>
            <a:ext cx="9525000" cy="3619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/>
          <a:lstStyle/>
          <a:p>
            <a:pPr algn="l">
              <a:defRPr sz="1650" b="0">
                <a:solidFill>
                  <a:srgbClr val="000000"/>
                </a:solidFill>
              </a:defRPr>
            </a:pPr>
            <a:r>
              <a:rPr sz="1650" b="0">
                <a:solidFill>
                  <a:srgbClr val="000000"/>
                </a:solidFill>
              </a:rPr>
              <a:t>The JAL link value is forwarded, so return control flow does not require manually inserted NOPs.</a:t>
            </a:r>
          </a:p>
        </p:txBody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DA19161A-2495-4D5D-A65D-784B57DFD89A}"/>
              </a:ext>
            </a:extLst>
          </p:cNvPr>
          <p:cNvSpPr>
            <a:spLocks noGrp="1"/>
          </p:cNvSpPr>
          <p:nvPr/>
        </p:nvSpPr>
        <p:spPr>
          <a:xfrm>
            <a:off x="685800" y="6496050"/>
            <a:ext cx="7048500" cy="1714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/>
          <a:lstStyle/>
          <a:p>
            <a:pPr algn="l">
              <a:defRPr sz="825" b="0">
                <a:solidFill>
                  <a:srgbClr val="000000"/>
                </a:solidFill>
              </a:defRPr>
            </a:pPr>
            <a:r>
              <a:rPr sz="825" b="0">
                <a:solidFill>
                  <a:srgbClr val="000000"/>
                </a:solidFill>
              </a:rPr>
              <a:t>Team VOLTERE | 8-bit Pipelined Microprocessor</a:t>
            </a:r>
          </a:p>
        </p:txBody>
      </p:sp>
      <p:sp>
        <p:nvSpPr>
          <p:cNvPr id="13" name="Rectangle 12">
            <a:extLst>
              <a:ext uri="{FF2B5EF4-FFF2-40B4-BE49-F238E27FC236}">
                <a16:creationId xmlns:a16="http://schemas.microsoft.com/office/drawing/2014/main" id="{9E86EA96-CF46-4796-B56B-4DD595C2E90B}"/>
              </a:ext>
            </a:extLst>
          </p:cNvPr>
          <p:cNvSpPr>
            <a:spLocks noGrp="1"/>
          </p:cNvSpPr>
          <p:nvPr/>
        </p:nvSpPr>
        <p:spPr>
          <a:xfrm>
            <a:off x="11001375" y="6477000"/>
            <a:ext cx="495300" cy="1714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/>
          <a:lstStyle/>
          <a:p>
            <a:pPr algn="r">
              <a:defRPr sz="825" b="1">
                <a:solidFill>
                  <a:srgbClr val="000000"/>
                </a:solidFill>
              </a:defRPr>
            </a:pPr>
            <a:r>
              <a:rPr sz="825" b="1">
                <a:solidFill>
                  <a:srgbClr val="000000"/>
                </a:solidFill>
              </a:rPr>
              <a:t>13</a:t>
            </a:r>
          </a:p>
        </p:txBody>
      </p:sp>
    </p:spTree>
    <p:extLst>
      <p:ext uri="{BB962C8B-B14F-4D97-AF65-F5344CB8AC3E}">
        <p14:creationId xmlns:p14="http://schemas.microsoft.com/office/powerpoint/2010/main" val="908479037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Rectangle 16">
            <a:extLst>
              <a:ext uri="{FF2B5EF4-FFF2-40B4-BE49-F238E27FC236}">
                <a16:creationId xmlns:a16="http://schemas.microsoft.com/office/drawing/2014/main" id="{CFD83156-CC5D-420D-96F6-1EEC2DD72D7B}"/>
              </a:ext>
            </a:extLst>
          </p:cNvPr>
          <p:cNvSpPr>
            <a:spLocks noGrp="1"/>
          </p:cNvSpPr>
          <p:nvPr/>
        </p:nvSpPr>
        <p:spPr>
          <a:xfrm>
            <a:off x="685800" y="342900"/>
            <a:ext cx="5715000" cy="2095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/>
          <a:lstStyle/>
          <a:p>
            <a:pPr algn="l">
              <a:defRPr sz="975" b="1">
                <a:solidFill>
                  <a:srgbClr val="000000"/>
                </a:solidFill>
              </a:defRPr>
            </a:pPr>
            <a:r>
              <a:rPr sz="975" b="1">
                <a:solidFill>
                  <a:srgbClr val="000000"/>
                </a:solidFill>
              </a:rPr>
              <a:t>TEAM VOLTERE | IITISoC 2026</a:t>
            </a:r>
          </a:p>
        </p:txBody>
      </p:sp>
      <p:sp>
        <p:nvSpPr>
          <p:cNvPr id="2" name="Rectangle 1">
            <a:extLst>
              <a:ext uri="{FF2B5EF4-FFF2-40B4-BE49-F238E27FC236}">
                <a16:creationId xmlns:a16="http://schemas.microsoft.com/office/drawing/2014/main" id="{E60AEF25-321E-4789-AC34-EB1D0DDA2749}"/>
              </a:ext>
            </a:extLst>
          </p:cNvPr>
          <p:cNvSpPr>
            <a:spLocks noGrp="1"/>
          </p:cNvSpPr>
          <p:nvPr/>
        </p:nvSpPr>
        <p:spPr>
          <a:xfrm>
            <a:off x="685800" y="628650"/>
            <a:ext cx="10763250" cy="5143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/>
          <a:lstStyle/>
          <a:p>
            <a:pPr algn="l">
              <a:defRPr sz="2550" b="1">
                <a:solidFill>
                  <a:srgbClr val="000000"/>
                </a:solidFill>
              </a:defRPr>
            </a:pPr>
            <a:r>
              <a:rPr sz="2550" b="1">
                <a:solidFill>
                  <a:srgbClr val="000000"/>
                </a:solidFill>
              </a:rPr>
              <a:t>Recursive factorial proves that nested stack frames are preserved</a:t>
            </a:r>
          </a:p>
        </p:txBody>
      </p:sp>
      <p:sp>
        <p:nvSpPr>
          <p:cNvPr id="3" name="Rectangle: Rounded Corners 2">
            <a:extLst>
              <a:ext uri="{FF2B5EF4-FFF2-40B4-BE49-F238E27FC236}">
                <a16:creationId xmlns:a16="http://schemas.microsoft.com/office/drawing/2014/main" id="{760FC3E2-3780-43C8-9D5B-1506DFB04BF9}"/>
              </a:ext>
            </a:extLst>
          </p:cNvPr>
          <p:cNvSpPr>
            <a:spLocks noGrp="1"/>
          </p:cNvSpPr>
          <p:nvPr/>
        </p:nvSpPr>
        <p:spPr>
          <a:xfrm>
            <a:off x="781050" y="1428750"/>
            <a:ext cx="4714875" cy="3524250"/>
          </a:xfrm>
          <a:prstGeom prst="roundRect">
            <a:avLst>
              <a:gd name="adj" fmla="val 2162"/>
            </a:avLst>
          </a:prstGeom>
          <a:solidFill>
            <a:srgbClr val="F7F7F7"/>
          </a:solidFill>
          <a:ln w="9525">
            <a:solidFill>
              <a:srgbClr val="B5B5B5"/>
            </a:solidFill>
            <a:prstDash val="solid"/>
          </a:ln>
        </p:spPr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97592DFF-51F5-4472-AAB6-CB7A314351E5}"/>
              </a:ext>
            </a:extLst>
          </p:cNvPr>
          <p:cNvSpPr>
            <a:spLocks noGrp="1"/>
          </p:cNvSpPr>
          <p:nvPr/>
        </p:nvSpPr>
        <p:spPr>
          <a:xfrm>
            <a:off x="952500" y="1543050"/>
            <a:ext cx="4371975" cy="32956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/>
          <a:lstStyle/>
          <a:p>
            <a:pPr algn="l">
              <a:defRPr sz="1275" b="0">
                <a:solidFill>
                  <a:srgbClr val="000000"/>
                </a:solidFill>
              </a:defRPr>
            </a:pPr>
            <a:r>
              <a:rPr sz="1275" b="0">
                <a:solidFill>
                  <a:srgbClr val="000000"/>
                </a:solidFill>
              </a:rPr>
              <a:t>LDI  r6, 0x70</a:t>
            </a:r>
          </a:p>
          <a:p>
            <a:pPr algn="l">
              <a:defRPr sz="1275" b="0">
                <a:solidFill>
                  <a:srgbClr val="000000"/>
                </a:solidFill>
              </a:defRPr>
            </a:pPr>
            <a:r>
              <a:rPr sz="1275" b="0">
                <a:solidFill>
                  <a:srgbClr val="000000"/>
                </a:solidFill>
              </a:rPr>
              <a:t>LDI  r1, 5</a:t>
            </a:r>
          </a:p>
          <a:p>
            <a:pPr algn="l">
              <a:defRPr sz="1275" b="0">
                <a:solidFill>
                  <a:srgbClr val="000000"/>
                </a:solidFill>
              </a:defRPr>
            </a:pPr>
            <a:r>
              <a:rPr sz="1275" b="0">
                <a:solidFill>
                  <a:srgbClr val="000000"/>
                </a:solidFill>
              </a:rPr>
              <a:t>JAL  r7, fact</a:t>
            </a:r>
          </a:p>
          <a:p>
            <a:pPr algn="l">
              <a:defRPr sz="1275" b="0">
                <a:solidFill>
                  <a:srgbClr val="000000"/>
                </a:solidFill>
              </a:defRPr>
            </a:pPr>
            <a:r>
              <a:rPr sz="1275" b="0">
                <a:solidFill>
                  <a:srgbClr val="000000"/>
                </a:solidFill>
              </a:rPr>
              <a:t>STD  r1, [0xA0]</a:t>
            </a:r>
          </a:p>
          <a:p>
            <a:pPr algn="l">
              <a:defRPr sz="1275" b="0">
                <a:solidFill>
                  <a:srgbClr val="000000"/>
                </a:solidFill>
              </a:defRPr>
            </a:pPr>
            <a:r>
              <a:rPr sz="1275" b="0">
                <a:solidFill>
                  <a:srgbClr val="000000"/>
                </a:solidFill>
              </a:rPr>
              <a:t>HALT</a:t>
            </a:r>
          </a:p>
          <a:p>
            <a:endParaRPr sz="1275" b="0">
              <a:solidFill>
                <a:srgbClr val="000000"/>
              </a:solidFill>
            </a:endParaRPr>
          </a:p>
          <a:p>
            <a:pPr algn="l">
              <a:defRPr sz="1275" b="0">
                <a:solidFill>
                  <a:srgbClr val="000000"/>
                </a:solidFill>
              </a:defRPr>
            </a:pPr>
            <a:r>
              <a:rPr sz="1275" b="0">
                <a:solidFill>
                  <a:srgbClr val="000000"/>
                </a:solidFill>
              </a:rPr>
              <a:t>fact: JZ r1, fact_base</a:t>
            </a:r>
          </a:p>
          <a:p>
            <a:pPr algn="l">
              <a:defRPr sz="1275" b="0">
                <a:solidFill>
                  <a:srgbClr val="000000"/>
                </a:solidFill>
              </a:defRPr>
            </a:pPr>
            <a:r>
              <a:rPr sz="1275" b="0">
                <a:solidFill>
                  <a:srgbClr val="000000"/>
                </a:solidFill>
              </a:rPr>
              <a:t>      STR r7, [r6 + 0]</a:t>
            </a:r>
          </a:p>
          <a:p>
            <a:pPr algn="l">
              <a:defRPr sz="1275" b="0">
                <a:solidFill>
                  <a:srgbClr val="000000"/>
                </a:solidFill>
              </a:defRPr>
            </a:pPr>
            <a:r>
              <a:rPr sz="1275" b="0">
                <a:solidFill>
                  <a:srgbClr val="000000"/>
                </a:solidFill>
              </a:rPr>
              <a:t>      STR r1, [r6 + 1]</a:t>
            </a:r>
          </a:p>
          <a:p>
            <a:pPr algn="l">
              <a:defRPr sz="1275" b="0">
                <a:solidFill>
                  <a:srgbClr val="000000"/>
                </a:solidFill>
              </a:defRPr>
            </a:pPr>
            <a:r>
              <a:rPr sz="1275" b="0">
                <a:solidFill>
                  <a:srgbClr val="000000"/>
                </a:solidFill>
              </a:rPr>
              <a:t>      ADDI r6, r6, -2</a:t>
            </a:r>
          </a:p>
        </p:txBody>
      </p:sp>
      <p:sp>
        <p:nvSpPr>
          <p:cNvPr id="5" name="Rectangle: Rounded Corners 4">
            <a:extLst>
              <a:ext uri="{FF2B5EF4-FFF2-40B4-BE49-F238E27FC236}">
                <a16:creationId xmlns:a16="http://schemas.microsoft.com/office/drawing/2014/main" id="{82E6ADDB-784D-4DDE-B540-657CE2E3312B}"/>
              </a:ext>
            </a:extLst>
          </p:cNvPr>
          <p:cNvSpPr>
            <a:spLocks noGrp="1"/>
          </p:cNvSpPr>
          <p:nvPr/>
        </p:nvSpPr>
        <p:spPr>
          <a:xfrm>
            <a:off x="7334250" y="1571625"/>
            <a:ext cx="2476500" cy="552450"/>
          </a:xfrm>
          <a:prstGeom prst="roundRect">
            <a:avLst>
              <a:gd name="adj" fmla="val 13793"/>
            </a:avLst>
          </a:prstGeom>
          <a:solidFill>
            <a:srgbClr val="F7F7F7"/>
          </a:solidFill>
          <a:ln w="9525">
            <a:solidFill>
              <a:srgbClr val="B5B5B5"/>
            </a:solidFill>
            <a:prstDash val="solid"/>
          </a:ln>
        </p:spPr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80EC3601-2CE1-4B23-9717-09CFA45361B3}"/>
              </a:ext>
            </a:extLst>
          </p:cNvPr>
          <p:cNvSpPr>
            <a:spLocks noGrp="1"/>
          </p:cNvSpPr>
          <p:nvPr/>
        </p:nvSpPr>
        <p:spPr>
          <a:xfrm>
            <a:off x="7524750" y="1695450"/>
            <a:ext cx="2095500" cy="23812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/>
          <a:lstStyle/>
          <a:p>
            <a:pPr algn="ctr">
              <a:defRPr sz="1500" b="1">
                <a:solidFill>
                  <a:srgbClr val="000000"/>
                </a:solidFill>
              </a:defRPr>
            </a:pPr>
            <a:r>
              <a:rPr sz="1500" b="1">
                <a:solidFill>
                  <a:srgbClr val="000000"/>
                </a:solidFill>
              </a:rPr>
              <a:t>fact(5)</a:t>
            </a:r>
          </a:p>
        </p:txBody>
      </p:sp>
      <p:sp>
        <p:nvSpPr>
          <p:cNvPr id="7" name="Rectangle: Rounded Corners 6">
            <a:extLst>
              <a:ext uri="{FF2B5EF4-FFF2-40B4-BE49-F238E27FC236}">
                <a16:creationId xmlns:a16="http://schemas.microsoft.com/office/drawing/2014/main" id="{B6B41BB4-19FA-4EDA-9E7D-AAAD14727520}"/>
              </a:ext>
            </a:extLst>
          </p:cNvPr>
          <p:cNvSpPr>
            <a:spLocks noGrp="1"/>
          </p:cNvSpPr>
          <p:nvPr/>
        </p:nvSpPr>
        <p:spPr>
          <a:xfrm>
            <a:off x="7334250" y="2286000"/>
            <a:ext cx="2476500" cy="552450"/>
          </a:xfrm>
          <a:prstGeom prst="roundRect">
            <a:avLst>
              <a:gd name="adj" fmla="val 13793"/>
            </a:avLst>
          </a:prstGeom>
          <a:solidFill>
            <a:srgbClr val="F7F7F7"/>
          </a:solidFill>
          <a:ln w="9525">
            <a:solidFill>
              <a:srgbClr val="B5B5B5"/>
            </a:solidFill>
            <a:prstDash val="solid"/>
          </a:ln>
        </p:spPr>
      </p:sp>
      <p:sp>
        <p:nvSpPr>
          <p:cNvPr id="8" name="Rectangle 7">
            <a:extLst>
              <a:ext uri="{FF2B5EF4-FFF2-40B4-BE49-F238E27FC236}">
                <a16:creationId xmlns:a16="http://schemas.microsoft.com/office/drawing/2014/main" id="{03DDE349-44C3-41D8-A62A-21D50FEE31F2}"/>
              </a:ext>
            </a:extLst>
          </p:cNvPr>
          <p:cNvSpPr>
            <a:spLocks noGrp="1"/>
          </p:cNvSpPr>
          <p:nvPr/>
        </p:nvSpPr>
        <p:spPr>
          <a:xfrm>
            <a:off x="7524750" y="2409825"/>
            <a:ext cx="2095500" cy="23812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/>
          <a:lstStyle/>
          <a:p>
            <a:pPr algn="ctr">
              <a:defRPr sz="1500" b="1">
                <a:solidFill>
                  <a:srgbClr val="000000"/>
                </a:solidFill>
              </a:defRPr>
            </a:pPr>
            <a:r>
              <a:rPr sz="1500" b="1">
                <a:solidFill>
                  <a:srgbClr val="000000"/>
                </a:solidFill>
              </a:rPr>
              <a:t>fact(4)</a:t>
            </a:r>
          </a:p>
        </p:txBody>
      </p:sp>
      <p:sp>
        <p:nvSpPr>
          <p:cNvPr id="9" name="Rectangle: Rounded Corners 8">
            <a:extLst>
              <a:ext uri="{FF2B5EF4-FFF2-40B4-BE49-F238E27FC236}">
                <a16:creationId xmlns:a16="http://schemas.microsoft.com/office/drawing/2014/main" id="{01AD5868-6800-4C46-BE36-D21F3E39B04D}"/>
              </a:ext>
            </a:extLst>
          </p:cNvPr>
          <p:cNvSpPr>
            <a:spLocks noGrp="1"/>
          </p:cNvSpPr>
          <p:nvPr/>
        </p:nvSpPr>
        <p:spPr>
          <a:xfrm>
            <a:off x="7334250" y="3000375"/>
            <a:ext cx="2476500" cy="552450"/>
          </a:xfrm>
          <a:prstGeom prst="roundRect">
            <a:avLst>
              <a:gd name="adj" fmla="val 13793"/>
            </a:avLst>
          </a:prstGeom>
          <a:solidFill>
            <a:srgbClr val="F7F7F7"/>
          </a:solidFill>
          <a:ln w="9525">
            <a:solidFill>
              <a:srgbClr val="B5B5B5"/>
            </a:solidFill>
            <a:prstDash val="solid"/>
          </a:ln>
        </p:spPr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B6026319-00F9-4F0A-91B7-68C865C04B8E}"/>
              </a:ext>
            </a:extLst>
          </p:cNvPr>
          <p:cNvSpPr>
            <a:spLocks noGrp="1"/>
          </p:cNvSpPr>
          <p:nvPr/>
        </p:nvSpPr>
        <p:spPr>
          <a:xfrm>
            <a:off x="7524750" y="3124200"/>
            <a:ext cx="2095500" cy="23812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/>
          <a:lstStyle/>
          <a:p>
            <a:pPr algn="ctr">
              <a:defRPr sz="1500" b="1">
                <a:solidFill>
                  <a:srgbClr val="000000"/>
                </a:solidFill>
              </a:defRPr>
            </a:pPr>
            <a:r>
              <a:rPr sz="1500" b="1">
                <a:solidFill>
                  <a:srgbClr val="000000"/>
                </a:solidFill>
              </a:rPr>
              <a:t>fact(3)</a:t>
            </a:r>
          </a:p>
        </p:txBody>
      </p:sp>
      <p:sp>
        <p:nvSpPr>
          <p:cNvPr id="11" name="Rectangle: Rounded Corners 10">
            <a:extLst>
              <a:ext uri="{FF2B5EF4-FFF2-40B4-BE49-F238E27FC236}">
                <a16:creationId xmlns:a16="http://schemas.microsoft.com/office/drawing/2014/main" id="{1954ECA5-3D67-4A0C-8563-D3063C75295C}"/>
              </a:ext>
            </a:extLst>
          </p:cNvPr>
          <p:cNvSpPr>
            <a:spLocks noGrp="1"/>
          </p:cNvSpPr>
          <p:nvPr/>
        </p:nvSpPr>
        <p:spPr>
          <a:xfrm>
            <a:off x="7334250" y="3714750"/>
            <a:ext cx="2476500" cy="552450"/>
          </a:xfrm>
          <a:prstGeom prst="roundRect">
            <a:avLst>
              <a:gd name="adj" fmla="val 13793"/>
            </a:avLst>
          </a:prstGeom>
          <a:solidFill>
            <a:srgbClr val="F7F7F7"/>
          </a:solidFill>
          <a:ln w="9525">
            <a:solidFill>
              <a:srgbClr val="B5B5B5"/>
            </a:solidFill>
            <a:prstDash val="solid"/>
          </a:ln>
        </p:spPr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CF73FF88-F95A-4785-9C57-55C028C0F0F4}"/>
              </a:ext>
            </a:extLst>
          </p:cNvPr>
          <p:cNvSpPr>
            <a:spLocks noGrp="1"/>
          </p:cNvSpPr>
          <p:nvPr/>
        </p:nvSpPr>
        <p:spPr>
          <a:xfrm>
            <a:off x="7524750" y="3838575"/>
            <a:ext cx="2095500" cy="23812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/>
          <a:lstStyle/>
          <a:p>
            <a:pPr algn="ctr">
              <a:defRPr sz="1500" b="1">
                <a:solidFill>
                  <a:srgbClr val="000000"/>
                </a:solidFill>
              </a:defRPr>
            </a:pPr>
            <a:r>
              <a:rPr sz="1500" b="1">
                <a:solidFill>
                  <a:srgbClr val="000000"/>
                </a:solidFill>
              </a:rPr>
              <a:t>…</a:t>
            </a:r>
          </a:p>
        </p:txBody>
      </p:sp>
      <p:sp>
        <p:nvSpPr>
          <p:cNvPr id="13" name="Rectangle 12">
            <a:extLst>
              <a:ext uri="{FF2B5EF4-FFF2-40B4-BE49-F238E27FC236}">
                <a16:creationId xmlns:a16="http://schemas.microsoft.com/office/drawing/2014/main" id="{8361C31A-EE4F-432B-91D4-04888DC05717}"/>
              </a:ext>
            </a:extLst>
          </p:cNvPr>
          <p:cNvSpPr>
            <a:spLocks noGrp="1"/>
          </p:cNvSpPr>
          <p:nvPr/>
        </p:nvSpPr>
        <p:spPr>
          <a:xfrm>
            <a:off x="6572250" y="4762500"/>
            <a:ext cx="3905250" cy="4000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/>
          <a:lstStyle/>
          <a:p>
            <a:pPr algn="ctr">
              <a:defRPr sz="1500" b="1">
                <a:solidFill>
                  <a:srgbClr val="000000"/>
                </a:solidFill>
              </a:defRPr>
            </a:pPr>
            <a:r>
              <a:rPr sz="1500" b="1">
                <a:solidFill>
                  <a:srgbClr val="000000"/>
                </a:solidFill>
              </a:rPr>
              <a:t>Each frame saves R7 (return address) and R1 (n).</a:t>
            </a:r>
          </a:p>
        </p:txBody>
      </p:sp>
      <p:sp>
        <p:nvSpPr>
          <p:cNvPr id="14" name="Rectangle 13">
            <a:extLst>
              <a:ext uri="{FF2B5EF4-FFF2-40B4-BE49-F238E27FC236}">
                <a16:creationId xmlns:a16="http://schemas.microsoft.com/office/drawing/2014/main" id="{552EC691-F31B-47F9-A91A-D6C00489CFAB}"/>
              </a:ext>
            </a:extLst>
          </p:cNvPr>
          <p:cNvSpPr>
            <a:spLocks noGrp="1"/>
          </p:cNvSpPr>
          <p:nvPr/>
        </p:nvSpPr>
        <p:spPr>
          <a:xfrm>
            <a:off x="781050" y="5381625"/>
            <a:ext cx="9715500" cy="33337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/>
          <a:lstStyle/>
          <a:p>
            <a:pPr algn="l">
              <a:defRPr sz="1800" b="1">
                <a:solidFill>
                  <a:srgbClr val="000000"/>
                </a:solidFill>
              </a:defRPr>
            </a:pPr>
            <a:r>
              <a:rPr sz="1800" b="1">
                <a:solidFill>
                  <a:srgbClr val="000000"/>
                </a:solidFill>
              </a:rPr>
              <a:t>Final result: memory[0xA0] = 0x78 = 120</a:t>
            </a:r>
          </a:p>
        </p:txBody>
      </p:sp>
      <p:sp>
        <p:nvSpPr>
          <p:cNvPr id="15" name="Rectangle 14">
            <a:extLst>
              <a:ext uri="{FF2B5EF4-FFF2-40B4-BE49-F238E27FC236}">
                <a16:creationId xmlns:a16="http://schemas.microsoft.com/office/drawing/2014/main" id="{81CECC49-1056-4A19-9CC3-7910400D2FEA}"/>
              </a:ext>
            </a:extLst>
          </p:cNvPr>
          <p:cNvSpPr>
            <a:spLocks noGrp="1"/>
          </p:cNvSpPr>
          <p:nvPr/>
        </p:nvSpPr>
        <p:spPr>
          <a:xfrm>
            <a:off x="685800" y="6496050"/>
            <a:ext cx="7048500" cy="1714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/>
          <a:lstStyle/>
          <a:p>
            <a:pPr algn="l">
              <a:defRPr sz="825" b="0">
                <a:solidFill>
                  <a:srgbClr val="000000"/>
                </a:solidFill>
              </a:defRPr>
            </a:pPr>
            <a:r>
              <a:rPr sz="825" b="0">
                <a:solidFill>
                  <a:srgbClr val="000000"/>
                </a:solidFill>
              </a:rPr>
              <a:t>Team VOLTERE | 8-bit Pipelined Microprocessor</a:t>
            </a:r>
          </a:p>
        </p:txBody>
      </p:sp>
      <p:sp>
        <p:nvSpPr>
          <p:cNvPr id="16" name="Rectangle 15">
            <a:extLst>
              <a:ext uri="{FF2B5EF4-FFF2-40B4-BE49-F238E27FC236}">
                <a16:creationId xmlns:a16="http://schemas.microsoft.com/office/drawing/2014/main" id="{148F0D60-D31B-411A-B2F6-16274D041CFD}"/>
              </a:ext>
            </a:extLst>
          </p:cNvPr>
          <p:cNvSpPr>
            <a:spLocks noGrp="1"/>
          </p:cNvSpPr>
          <p:nvPr/>
        </p:nvSpPr>
        <p:spPr>
          <a:xfrm>
            <a:off x="11001375" y="6477000"/>
            <a:ext cx="495300" cy="1714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/>
          <a:lstStyle/>
          <a:p>
            <a:pPr algn="r">
              <a:defRPr sz="825" b="1">
                <a:solidFill>
                  <a:srgbClr val="000000"/>
                </a:solidFill>
              </a:defRPr>
            </a:pPr>
            <a:r>
              <a:rPr sz="825" b="1">
                <a:solidFill>
                  <a:srgbClr val="000000"/>
                </a:solidFill>
              </a:rPr>
              <a:t>14</a:t>
            </a:r>
          </a:p>
        </p:txBody>
      </p:sp>
    </p:spTree>
    <p:extLst>
      <p:ext uri="{BB962C8B-B14F-4D97-AF65-F5344CB8AC3E}">
        <p14:creationId xmlns:p14="http://schemas.microsoft.com/office/powerpoint/2010/main" val="792257468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Rectangle 13">
            <a:extLst>
              <a:ext uri="{FF2B5EF4-FFF2-40B4-BE49-F238E27FC236}">
                <a16:creationId xmlns:a16="http://schemas.microsoft.com/office/drawing/2014/main" id="{1BCBF9AF-3B96-4753-BAC6-658431DEFD33}"/>
              </a:ext>
            </a:extLst>
          </p:cNvPr>
          <p:cNvSpPr>
            <a:spLocks noGrp="1"/>
          </p:cNvSpPr>
          <p:nvPr/>
        </p:nvSpPr>
        <p:spPr>
          <a:xfrm>
            <a:off x="685800" y="342900"/>
            <a:ext cx="5715000" cy="2095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/>
          <a:lstStyle/>
          <a:p>
            <a:pPr algn="l">
              <a:defRPr sz="975" b="1">
                <a:solidFill>
                  <a:srgbClr val="000000"/>
                </a:solidFill>
              </a:defRPr>
            </a:pPr>
            <a:r>
              <a:rPr sz="975" b="1">
                <a:solidFill>
                  <a:srgbClr val="000000"/>
                </a:solidFill>
              </a:rPr>
              <a:t>TEAM VOLTERE | IITISoC 2026</a:t>
            </a:r>
          </a:p>
        </p:txBody>
      </p:sp>
      <p:sp>
        <p:nvSpPr>
          <p:cNvPr id="2" name="Rectangle 1">
            <a:extLst>
              <a:ext uri="{FF2B5EF4-FFF2-40B4-BE49-F238E27FC236}">
                <a16:creationId xmlns:a16="http://schemas.microsoft.com/office/drawing/2014/main" id="{05C1EEE4-E767-4E4A-BF9E-A8B8FC80A58E}"/>
              </a:ext>
            </a:extLst>
          </p:cNvPr>
          <p:cNvSpPr>
            <a:spLocks noGrp="1"/>
          </p:cNvSpPr>
          <p:nvPr/>
        </p:nvSpPr>
        <p:spPr>
          <a:xfrm>
            <a:off x="685800" y="628650"/>
            <a:ext cx="10763250" cy="5143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/>
          <a:lstStyle/>
          <a:p>
            <a:pPr algn="l">
              <a:defRPr sz="2550" b="1">
                <a:solidFill>
                  <a:srgbClr val="000000"/>
                </a:solidFill>
              </a:defRPr>
            </a:pPr>
            <a:r>
              <a:rPr sz="2550" b="1">
                <a:solidFill>
                  <a:srgbClr val="000000"/>
                </a:solidFill>
              </a:rPr>
              <a:t>Simulation confirms recursive control flow and the correct factorial result</a:t>
            </a:r>
          </a:p>
        </p:txBody>
      </p:sp>
      <p:sp>
        <p:nvSpPr>
          <p:cNvPr id="3" name="Rectangle 2">
            <a:extLst>
              <a:ext uri="{FF2B5EF4-FFF2-40B4-BE49-F238E27FC236}">
                <a16:creationId xmlns:a16="http://schemas.microsoft.com/office/drawing/2014/main" id="{1E3DAA70-136F-4F92-A978-46FB601703FF}"/>
              </a:ext>
            </a:extLst>
          </p:cNvPr>
          <p:cNvSpPr>
            <a:spLocks noGrp="1"/>
          </p:cNvSpPr>
          <p:nvPr/>
        </p:nvSpPr>
        <p:spPr>
          <a:xfrm>
            <a:off x="838200" y="1428750"/>
            <a:ext cx="6858000" cy="2857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/>
          <a:lstStyle/>
          <a:p>
            <a:pPr algn="l">
              <a:defRPr sz="1500" b="1">
                <a:solidFill>
                  <a:srgbClr val="000000"/>
                </a:solidFill>
              </a:defRPr>
            </a:pPr>
            <a:r>
              <a:rPr sz="1500" b="1">
                <a:solidFill>
                  <a:srgbClr val="000000"/>
                </a:solidFill>
              </a:rPr>
              <a:t>Use the saved waveform: sim/bonus1/bonus1_factorial.vcd</a:t>
            </a:r>
          </a:p>
        </p:txBody>
      </p:sp>
      <p:sp>
        <p:nvSpPr>
          <p:cNvPr id="4" name="Rectangle: Rounded Corners 3">
            <a:extLst>
              <a:ext uri="{FF2B5EF4-FFF2-40B4-BE49-F238E27FC236}">
                <a16:creationId xmlns:a16="http://schemas.microsoft.com/office/drawing/2014/main" id="{0E02D8E6-5F19-4DC5-802D-CB2A2EC4F28F}"/>
              </a:ext>
            </a:extLst>
          </p:cNvPr>
          <p:cNvSpPr>
            <a:spLocks noGrp="1"/>
          </p:cNvSpPr>
          <p:nvPr/>
        </p:nvSpPr>
        <p:spPr>
          <a:xfrm>
            <a:off x="838200" y="1952625"/>
            <a:ext cx="10287000" cy="2857500"/>
          </a:xfrm>
          <a:prstGeom prst="roundRect">
            <a:avLst>
              <a:gd name="adj" fmla="val 2667"/>
            </a:avLst>
          </a:prstGeom>
          <a:solidFill>
            <a:srgbClr val="F7F7F7"/>
          </a:solidFill>
          <a:ln w="9525">
            <a:solidFill>
              <a:srgbClr val="B5B5B5"/>
            </a:solidFill>
            <a:prstDash val="solid"/>
          </a:ln>
        </p:spPr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0F2BC713-8D67-4745-AA7C-6544BD923570}"/>
              </a:ext>
            </a:extLst>
          </p:cNvPr>
          <p:cNvSpPr>
            <a:spLocks noGrp="1"/>
          </p:cNvSpPr>
          <p:nvPr/>
        </p:nvSpPr>
        <p:spPr>
          <a:xfrm>
            <a:off x="1190625" y="2266950"/>
            <a:ext cx="2857500" cy="2667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/>
          <a:lstStyle/>
          <a:p>
            <a:pPr algn="l">
              <a:defRPr sz="1500" b="1">
                <a:solidFill>
                  <a:srgbClr val="000000"/>
                </a:solidFill>
              </a:defRPr>
            </a:pPr>
            <a:r>
              <a:rPr sz="1500" b="1">
                <a:solidFill>
                  <a:srgbClr val="000000"/>
                </a:solidFill>
              </a:rPr>
              <a:t>WAVEFORM EVIDENCE</a:t>
            </a:r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6771B850-7E88-4591-BBE9-FBDA73D2515F}"/>
              </a:ext>
            </a:extLst>
          </p:cNvPr>
          <p:cNvSpPr>
            <a:spLocks noGrp="1"/>
          </p:cNvSpPr>
          <p:nvPr/>
        </p:nvSpPr>
        <p:spPr>
          <a:xfrm>
            <a:off x="1190625" y="2762250"/>
            <a:ext cx="6858000" cy="2857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/>
          <a:lstStyle/>
          <a:p>
            <a:pPr algn="l">
              <a:defRPr sz="1350" b="0">
                <a:solidFill>
                  <a:srgbClr val="000000"/>
                </a:solidFill>
              </a:defRPr>
            </a:pPr>
            <a:r>
              <a:rPr sz="1350" b="0">
                <a:solidFill>
                  <a:srgbClr val="000000"/>
                </a:solidFill>
              </a:rPr>
              <a:t>•  PC changes during JAL and JR</a:t>
            </a:r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0665EE6D-AC2C-4DDF-8B6D-8EAD8066AC65}"/>
              </a:ext>
            </a:extLst>
          </p:cNvPr>
          <p:cNvSpPr>
            <a:spLocks noGrp="1"/>
          </p:cNvSpPr>
          <p:nvPr/>
        </p:nvSpPr>
        <p:spPr>
          <a:xfrm>
            <a:off x="1190625" y="3095625"/>
            <a:ext cx="6858000" cy="2857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/>
          <a:lstStyle/>
          <a:p>
            <a:pPr algn="l">
              <a:defRPr sz="1350" b="0">
                <a:solidFill>
                  <a:srgbClr val="000000"/>
                </a:solidFill>
              </a:defRPr>
            </a:pPr>
            <a:r>
              <a:rPr sz="1350" b="0">
                <a:solidFill>
                  <a:srgbClr val="000000"/>
                </a:solidFill>
              </a:rPr>
              <a:t>•  R6 moves as stack frames are allocated and released</a:t>
            </a:r>
          </a:p>
        </p:txBody>
      </p:sp>
      <p:sp>
        <p:nvSpPr>
          <p:cNvPr id="8" name="Rectangle 7">
            <a:extLst>
              <a:ext uri="{FF2B5EF4-FFF2-40B4-BE49-F238E27FC236}">
                <a16:creationId xmlns:a16="http://schemas.microsoft.com/office/drawing/2014/main" id="{33E432F8-98A8-4694-B5B2-7ED59FD8E6F2}"/>
              </a:ext>
            </a:extLst>
          </p:cNvPr>
          <p:cNvSpPr>
            <a:spLocks noGrp="1"/>
          </p:cNvSpPr>
          <p:nvPr/>
        </p:nvSpPr>
        <p:spPr>
          <a:xfrm>
            <a:off x="1190625" y="3429000"/>
            <a:ext cx="6858000" cy="2857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/>
          <a:lstStyle/>
          <a:p>
            <a:pPr algn="l">
              <a:defRPr sz="1350" b="0">
                <a:solidFill>
                  <a:srgbClr val="000000"/>
                </a:solidFill>
              </a:defRPr>
            </a:pPr>
            <a:r>
              <a:rPr sz="1350" b="0">
                <a:solidFill>
                  <a:srgbClr val="000000"/>
                </a:solidFill>
              </a:rPr>
              <a:t>•  R7 stores and restores return addresses</a:t>
            </a:r>
          </a:p>
        </p:txBody>
      </p:sp>
      <p:sp>
        <p:nvSpPr>
          <p:cNvPr id="9" name="Rectangle 8">
            <a:extLst>
              <a:ext uri="{FF2B5EF4-FFF2-40B4-BE49-F238E27FC236}">
                <a16:creationId xmlns:a16="http://schemas.microsoft.com/office/drawing/2014/main" id="{75FD0B66-416E-4AA2-83CC-9CF8F6CCAE6F}"/>
              </a:ext>
            </a:extLst>
          </p:cNvPr>
          <p:cNvSpPr>
            <a:spLocks noGrp="1"/>
          </p:cNvSpPr>
          <p:nvPr/>
        </p:nvSpPr>
        <p:spPr>
          <a:xfrm>
            <a:off x="1190625" y="3762375"/>
            <a:ext cx="6858000" cy="2857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/>
          <a:lstStyle/>
          <a:p>
            <a:pPr algn="l">
              <a:defRPr sz="1350" b="0">
                <a:solidFill>
                  <a:srgbClr val="000000"/>
                </a:solidFill>
              </a:defRPr>
            </a:pPr>
            <a:r>
              <a:rPr sz="1350" b="0">
                <a:solidFill>
                  <a:srgbClr val="000000"/>
                </a:solidFill>
              </a:rPr>
              <a:t>•  Result is written to memory[0xA0]</a:t>
            </a:r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C0721566-369B-4D1A-8220-496D04BA5F34}"/>
              </a:ext>
            </a:extLst>
          </p:cNvPr>
          <p:cNvSpPr>
            <a:spLocks noGrp="1"/>
          </p:cNvSpPr>
          <p:nvPr/>
        </p:nvSpPr>
        <p:spPr>
          <a:xfrm>
            <a:off x="1190625" y="4095750"/>
            <a:ext cx="6858000" cy="2857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/>
          <a:lstStyle/>
          <a:p>
            <a:pPr algn="l">
              <a:defRPr sz="1350" b="0">
                <a:solidFill>
                  <a:srgbClr val="000000"/>
                </a:solidFill>
              </a:defRPr>
            </a:pPr>
            <a:r>
              <a:rPr sz="1350" b="0">
                <a:solidFill>
                  <a:srgbClr val="000000"/>
                </a:solidFill>
              </a:rPr>
              <a:t>•  Final result = 120</a:t>
            </a:r>
          </a:p>
        </p:txBody>
      </p:sp>
      <p:sp>
        <p:nvSpPr>
          <p:cNvPr id="11" name="Rectangle 10">
            <a:extLst>
              <a:ext uri="{FF2B5EF4-FFF2-40B4-BE49-F238E27FC236}">
                <a16:creationId xmlns:a16="http://schemas.microsoft.com/office/drawing/2014/main" id="{5CC62D81-7D89-4766-8CCB-719F99731C11}"/>
              </a:ext>
            </a:extLst>
          </p:cNvPr>
          <p:cNvSpPr>
            <a:spLocks noGrp="1"/>
          </p:cNvSpPr>
          <p:nvPr/>
        </p:nvSpPr>
        <p:spPr>
          <a:xfrm>
            <a:off x="952500" y="5381625"/>
            <a:ext cx="10096500" cy="3619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/>
          <a:lstStyle/>
          <a:p>
            <a:pPr algn="ctr">
              <a:defRPr sz="1875" b="1">
                <a:solidFill>
                  <a:srgbClr val="000000"/>
                </a:solidFill>
              </a:defRPr>
            </a:pPr>
            <a:r>
              <a:rPr sz="1875" b="1">
                <a:solidFill>
                  <a:srgbClr val="000000"/>
                </a:solidFill>
              </a:rPr>
              <a:t>PASS Bonus 1: recursive factorial result = 120</a:t>
            </a:r>
          </a:p>
        </p:txBody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1C277E77-8CE8-4803-A5E1-8E4A10A51952}"/>
              </a:ext>
            </a:extLst>
          </p:cNvPr>
          <p:cNvSpPr>
            <a:spLocks noGrp="1"/>
          </p:cNvSpPr>
          <p:nvPr/>
        </p:nvSpPr>
        <p:spPr>
          <a:xfrm>
            <a:off x="685800" y="6496050"/>
            <a:ext cx="7048500" cy="1714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/>
          <a:lstStyle/>
          <a:p>
            <a:pPr algn="l">
              <a:defRPr sz="825" b="0">
                <a:solidFill>
                  <a:srgbClr val="000000"/>
                </a:solidFill>
              </a:defRPr>
            </a:pPr>
            <a:r>
              <a:rPr sz="825" b="0">
                <a:solidFill>
                  <a:srgbClr val="000000"/>
                </a:solidFill>
              </a:rPr>
              <a:t>Team VOLTERE | 8-bit Pipelined Microprocessor</a:t>
            </a:r>
          </a:p>
        </p:txBody>
      </p:sp>
      <p:sp>
        <p:nvSpPr>
          <p:cNvPr id="13" name="Rectangle 12">
            <a:extLst>
              <a:ext uri="{FF2B5EF4-FFF2-40B4-BE49-F238E27FC236}">
                <a16:creationId xmlns:a16="http://schemas.microsoft.com/office/drawing/2014/main" id="{AB175FCA-5B48-4405-A67F-329F5BED5FB8}"/>
              </a:ext>
            </a:extLst>
          </p:cNvPr>
          <p:cNvSpPr>
            <a:spLocks noGrp="1"/>
          </p:cNvSpPr>
          <p:nvPr/>
        </p:nvSpPr>
        <p:spPr>
          <a:xfrm>
            <a:off x="11001375" y="6477000"/>
            <a:ext cx="495300" cy="1714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/>
          <a:lstStyle/>
          <a:p>
            <a:pPr algn="r">
              <a:defRPr sz="825" b="1">
                <a:solidFill>
                  <a:srgbClr val="000000"/>
                </a:solidFill>
              </a:defRPr>
            </a:pPr>
            <a:r>
              <a:rPr sz="825" b="1">
                <a:solidFill>
                  <a:srgbClr val="000000"/>
                </a:solidFill>
              </a:rPr>
              <a:t>15</a:t>
            </a:r>
          </a:p>
        </p:txBody>
      </p:sp>
    </p:spTree>
    <p:extLst>
      <p:ext uri="{BB962C8B-B14F-4D97-AF65-F5344CB8AC3E}">
        <p14:creationId xmlns:p14="http://schemas.microsoft.com/office/powerpoint/2010/main" val="2083162569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" name="Rectangle 17">
            <a:extLst>
              <a:ext uri="{FF2B5EF4-FFF2-40B4-BE49-F238E27FC236}">
                <a16:creationId xmlns:a16="http://schemas.microsoft.com/office/drawing/2014/main" id="{5FB23A96-07A6-4844-B9C0-5306F76BF1E1}"/>
              </a:ext>
            </a:extLst>
          </p:cNvPr>
          <p:cNvSpPr>
            <a:spLocks noGrp="1"/>
          </p:cNvSpPr>
          <p:nvPr/>
        </p:nvSpPr>
        <p:spPr>
          <a:xfrm>
            <a:off x="685800" y="342900"/>
            <a:ext cx="5715000" cy="2095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/>
          <a:lstStyle/>
          <a:p>
            <a:pPr algn="l">
              <a:defRPr sz="975" b="1">
                <a:solidFill>
                  <a:srgbClr val="000000"/>
                </a:solidFill>
              </a:defRPr>
            </a:pPr>
            <a:r>
              <a:rPr sz="975" b="1">
                <a:solidFill>
                  <a:srgbClr val="000000"/>
                </a:solidFill>
              </a:rPr>
              <a:t>TEAM VOLTERE | IITISoC 2026</a:t>
            </a:r>
          </a:p>
        </p:txBody>
      </p:sp>
      <p:sp>
        <p:nvSpPr>
          <p:cNvPr id="2" name="Rectangle 1">
            <a:extLst>
              <a:ext uri="{FF2B5EF4-FFF2-40B4-BE49-F238E27FC236}">
                <a16:creationId xmlns:a16="http://schemas.microsoft.com/office/drawing/2014/main" id="{45DE4208-9130-4B5B-A964-90FAF919E6C2}"/>
              </a:ext>
            </a:extLst>
          </p:cNvPr>
          <p:cNvSpPr>
            <a:spLocks noGrp="1"/>
          </p:cNvSpPr>
          <p:nvPr/>
        </p:nvSpPr>
        <p:spPr>
          <a:xfrm>
            <a:off x="685800" y="628650"/>
            <a:ext cx="10763250" cy="5143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/>
          <a:lstStyle/>
          <a:p>
            <a:pPr algn="l">
              <a:defRPr sz="2550" b="1">
                <a:solidFill>
                  <a:srgbClr val="000000"/>
                </a:solidFill>
              </a:defRPr>
            </a:pPr>
            <a:r>
              <a:rPr sz="2550" b="1">
                <a:solidFill>
                  <a:srgbClr val="000000"/>
                </a:solidFill>
              </a:rPr>
              <a:t>The exception unit captures fault state and redirects execution safely</a:t>
            </a:r>
          </a:p>
        </p:txBody>
      </p:sp>
      <p:sp>
        <p:nvSpPr>
          <p:cNvPr id="3" name="Rectangle: Rounded Corners 2">
            <a:extLst>
              <a:ext uri="{FF2B5EF4-FFF2-40B4-BE49-F238E27FC236}">
                <a16:creationId xmlns:a16="http://schemas.microsoft.com/office/drawing/2014/main" id="{B318D974-8D85-472F-95DA-FD71CA858B2C}"/>
              </a:ext>
            </a:extLst>
          </p:cNvPr>
          <p:cNvSpPr>
            <a:spLocks noGrp="1"/>
          </p:cNvSpPr>
          <p:nvPr/>
        </p:nvSpPr>
        <p:spPr>
          <a:xfrm>
            <a:off x="857250" y="1524000"/>
            <a:ext cx="10096500" cy="571500"/>
          </a:xfrm>
          <a:prstGeom prst="roundRect">
            <a:avLst>
              <a:gd name="adj" fmla="val 13333"/>
            </a:avLst>
          </a:prstGeom>
          <a:solidFill>
            <a:srgbClr val="F7F7F7"/>
          </a:solidFill>
          <a:ln w="9525">
            <a:solidFill>
              <a:srgbClr val="B5B5B5"/>
            </a:solidFill>
            <a:prstDash val="solid"/>
          </a:ln>
        </p:spPr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36300AA1-6E76-4082-8FA4-C1149F2D5474}"/>
              </a:ext>
            </a:extLst>
          </p:cNvPr>
          <p:cNvSpPr>
            <a:spLocks noGrp="1"/>
          </p:cNvSpPr>
          <p:nvPr/>
        </p:nvSpPr>
        <p:spPr>
          <a:xfrm>
            <a:off x="1143000" y="1676400"/>
            <a:ext cx="2000250" cy="2476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/>
          <a:lstStyle/>
          <a:p>
            <a:pPr algn="l">
              <a:defRPr sz="1500" b="1">
                <a:solidFill>
                  <a:srgbClr val="000000"/>
                </a:solidFill>
              </a:defRPr>
            </a:pPr>
            <a:r>
              <a:rPr sz="1500" b="1">
                <a:solidFill>
                  <a:srgbClr val="000000"/>
                </a:solidFill>
              </a:rPr>
              <a:t>EPC</a:t>
            </a:r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18FAD06F-6A04-4BC9-B670-69A8850723CC}"/>
              </a:ext>
            </a:extLst>
          </p:cNvPr>
          <p:cNvSpPr>
            <a:spLocks noGrp="1"/>
          </p:cNvSpPr>
          <p:nvPr/>
        </p:nvSpPr>
        <p:spPr>
          <a:xfrm>
            <a:off x="3429000" y="1676400"/>
            <a:ext cx="6858000" cy="2476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/>
          <a:lstStyle/>
          <a:p>
            <a:pPr algn="l">
              <a:defRPr sz="1500" b="0">
                <a:solidFill>
                  <a:srgbClr val="000000"/>
                </a:solidFill>
              </a:defRPr>
            </a:pPr>
            <a:r>
              <a:rPr sz="1500" b="0">
                <a:solidFill>
                  <a:srgbClr val="000000"/>
                </a:solidFill>
              </a:rPr>
              <a:t>Exact PC of faulting instruction</a:t>
            </a:r>
          </a:p>
        </p:txBody>
      </p:sp>
      <p:sp>
        <p:nvSpPr>
          <p:cNvPr id="6" name="Rectangle: Rounded Corners 5">
            <a:extLst>
              <a:ext uri="{FF2B5EF4-FFF2-40B4-BE49-F238E27FC236}">
                <a16:creationId xmlns:a16="http://schemas.microsoft.com/office/drawing/2014/main" id="{C105F3EA-274A-4687-89C8-C44B2BF55013}"/>
              </a:ext>
            </a:extLst>
          </p:cNvPr>
          <p:cNvSpPr>
            <a:spLocks noGrp="1"/>
          </p:cNvSpPr>
          <p:nvPr/>
        </p:nvSpPr>
        <p:spPr>
          <a:xfrm>
            <a:off x="857250" y="2333625"/>
            <a:ext cx="10096500" cy="571500"/>
          </a:xfrm>
          <a:prstGeom prst="roundRect">
            <a:avLst>
              <a:gd name="adj" fmla="val 13333"/>
            </a:avLst>
          </a:prstGeom>
          <a:solidFill>
            <a:srgbClr val="F7F7F7"/>
          </a:solidFill>
          <a:ln w="9525">
            <a:solidFill>
              <a:srgbClr val="B5B5B5"/>
            </a:solidFill>
            <a:prstDash val="solid"/>
          </a:ln>
        </p:spPr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D7AD41F8-82E3-415C-A013-595BE554D5A4}"/>
              </a:ext>
            </a:extLst>
          </p:cNvPr>
          <p:cNvSpPr>
            <a:spLocks noGrp="1"/>
          </p:cNvSpPr>
          <p:nvPr/>
        </p:nvSpPr>
        <p:spPr>
          <a:xfrm>
            <a:off x="1143000" y="2486025"/>
            <a:ext cx="2000250" cy="2476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/>
          <a:lstStyle/>
          <a:p>
            <a:pPr algn="l">
              <a:defRPr sz="1500" b="1">
                <a:solidFill>
                  <a:srgbClr val="000000"/>
                </a:solidFill>
              </a:defRPr>
            </a:pPr>
            <a:r>
              <a:rPr sz="1500" b="1">
                <a:solidFill>
                  <a:srgbClr val="000000"/>
                </a:solidFill>
              </a:rPr>
              <a:t>CAUSE</a:t>
            </a:r>
          </a:p>
        </p:txBody>
      </p:sp>
      <p:sp>
        <p:nvSpPr>
          <p:cNvPr id="8" name="Rectangle 7">
            <a:extLst>
              <a:ext uri="{FF2B5EF4-FFF2-40B4-BE49-F238E27FC236}">
                <a16:creationId xmlns:a16="http://schemas.microsoft.com/office/drawing/2014/main" id="{B780B90E-9287-4343-878D-1798BEE1379B}"/>
              </a:ext>
            </a:extLst>
          </p:cNvPr>
          <p:cNvSpPr>
            <a:spLocks noGrp="1"/>
          </p:cNvSpPr>
          <p:nvPr/>
        </p:nvSpPr>
        <p:spPr>
          <a:xfrm>
            <a:off x="3429000" y="2486025"/>
            <a:ext cx="6858000" cy="2476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/>
          <a:lstStyle/>
          <a:p>
            <a:pPr algn="l">
              <a:defRPr sz="1500" b="0">
                <a:solidFill>
                  <a:srgbClr val="000000"/>
                </a:solidFill>
              </a:defRPr>
            </a:pPr>
            <a:r>
              <a:rPr sz="1500" b="0">
                <a:solidFill>
                  <a:srgbClr val="000000"/>
                </a:solidFill>
              </a:rPr>
              <a:t>1: overflow | 2: illegal | 3: TRAP</a:t>
            </a:r>
          </a:p>
        </p:txBody>
      </p:sp>
      <p:sp>
        <p:nvSpPr>
          <p:cNvPr id="9" name="Rectangle: Rounded Corners 8">
            <a:extLst>
              <a:ext uri="{FF2B5EF4-FFF2-40B4-BE49-F238E27FC236}">
                <a16:creationId xmlns:a16="http://schemas.microsoft.com/office/drawing/2014/main" id="{9CC326DB-3180-417E-A7FB-E275C7BE910C}"/>
              </a:ext>
            </a:extLst>
          </p:cNvPr>
          <p:cNvSpPr>
            <a:spLocks noGrp="1"/>
          </p:cNvSpPr>
          <p:nvPr/>
        </p:nvSpPr>
        <p:spPr>
          <a:xfrm>
            <a:off x="857250" y="3143250"/>
            <a:ext cx="10096500" cy="571500"/>
          </a:xfrm>
          <a:prstGeom prst="roundRect">
            <a:avLst>
              <a:gd name="adj" fmla="val 13333"/>
            </a:avLst>
          </a:prstGeom>
          <a:solidFill>
            <a:srgbClr val="F7F7F7"/>
          </a:solidFill>
          <a:ln w="9525">
            <a:solidFill>
              <a:srgbClr val="B5B5B5"/>
            </a:solidFill>
            <a:prstDash val="solid"/>
          </a:ln>
        </p:spPr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5C6AB616-945B-42AE-BEA0-F707BC00D9FE}"/>
              </a:ext>
            </a:extLst>
          </p:cNvPr>
          <p:cNvSpPr>
            <a:spLocks noGrp="1"/>
          </p:cNvSpPr>
          <p:nvPr/>
        </p:nvSpPr>
        <p:spPr>
          <a:xfrm>
            <a:off x="1143000" y="3295650"/>
            <a:ext cx="2000250" cy="2476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/>
          <a:lstStyle/>
          <a:p>
            <a:pPr algn="l">
              <a:defRPr sz="1500" b="1">
                <a:solidFill>
                  <a:srgbClr val="000000"/>
                </a:solidFill>
              </a:defRPr>
            </a:pPr>
            <a:r>
              <a:rPr sz="1500" b="1">
                <a:solidFill>
                  <a:srgbClr val="000000"/>
                </a:solidFill>
              </a:rPr>
              <a:t>VECTOR</a:t>
            </a:r>
          </a:p>
        </p:txBody>
      </p:sp>
      <p:sp>
        <p:nvSpPr>
          <p:cNvPr id="11" name="Rectangle 10">
            <a:extLst>
              <a:ext uri="{FF2B5EF4-FFF2-40B4-BE49-F238E27FC236}">
                <a16:creationId xmlns:a16="http://schemas.microsoft.com/office/drawing/2014/main" id="{BD1002A8-1BE6-4835-BDF6-F8F191A91995}"/>
              </a:ext>
            </a:extLst>
          </p:cNvPr>
          <p:cNvSpPr>
            <a:spLocks noGrp="1"/>
          </p:cNvSpPr>
          <p:nvPr/>
        </p:nvSpPr>
        <p:spPr>
          <a:xfrm>
            <a:off x="3429000" y="3295650"/>
            <a:ext cx="6858000" cy="2476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/>
          <a:lstStyle/>
          <a:p>
            <a:pPr algn="l">
              <a:defRPr sz="1500" b="0">
                <a:solidFill>
                  <a:srgbClr val="000000"/>
                </a:solidFill>
              </a:defRPr>
            </a:pPr>
            <a:r>
              <a:rPr sz="1500" b="0">
                <a:solidFill>
                  <a:srgbClr val="000000"/>
                </a:solidFill>
              </a:rPr>
              <a:t>PC redirects to 0x80</a:t>
            </a:r>
          </a:p>
        </p:txBody>
      </p:sp>
      <p:sp>
        <p:nvSpPr>
          <p:cNvPr id="12" name="Rectangle: Rounded Corners 11">
            <a:extLst>
              <a:ext uri="{FF2B5EF4-FFF2-40B4-BE49-F238E27FC236}">
                <a16:creationId xmlns:a16="http://schemas.microsoft.com/office/drawing/2014/main" id="{D21E233B-A9D5-431F-9726-498B56E66844}"/>
              </a:ext>
            </a:extLst>
          </p:cNvPr>
          <p:cNvSpPr>
            <a:spLocks noGrp="1"/>
          </p:cNvSpPr>
          <p:nvPr/>
        </p:nvSpPr>
        <p:spPr>
          <a:xfrm>
            <a:off x="857250" y="3952875"/>
            <a:ext cx="10096500" cy="571500"/>
          </a:xfrm>
          <a:prstGeom prst="roundRect">
            <a:avLst>
              <a:gd name="adj" fmla="val 13333"/>
            </a:avLst>
          </a:prstGeom>
          <a:solidFill>
            <a:srgbClr val="F7F7F7"/>
          </a:solidFill>
          <a:ln w="9525">
            <a:solidFill>
              <a:srgbClr val="B5B5B5"/>
            </a:solidFill>
            <a:prstDash val="solid"/>
          </a:ln>
        </p:spPr>
      </p:sp>
      <p:sp>
        <p:nvSpPr>
          <p:cNvPr id="13" name="Rectangle 12">
            <a:extLst>
              <a:ext uri="{FF2B5EF4-FFF2-40B4-BE49-F238E27FC236}">
                <a16:creationId xmlns:a16="http://schemas.microsoft.com/office/drawing/2014/main" id="{F0117443-6C3B-4AF9-9608-D41F19AA5EC1}"/>
              </a:ext>
            </a:extLst>
          </p:cNvPr>
          <p:cNvSpPr>
            <a:spLocks noGrp="1"/>
          </p:cNvSpPr>
          <p:nvPr/>
        </p:nvSpPr>
        <p:spPr>
          <a:xfrm>
            <a:off x="1143000" y="4105275"/>
            <a:ext cx="2000250" cy="2476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/>
          <a:lstStyle/>
          <a:p>
            <a:pPr algn="l">
              <a:defRPr sz="1500" b="1">
                <a:solidFill>
                  <a:srgbClr val="000000"/>
                </a:solidFill>
              </a:defRPr>
            </a:pPr>
            <a:r>
              <a:rPr sz="1500" b="1">
                <a:solidFill>
                  <a:srgbClr val="000000"/>
                </a:solidFill>
              </a:rPr>
              <a:t>MFC0 / ERET</a:t>
            </a:r>
          </a:p>
        </p:txBody>
      </p:sp>
      <p:sp>
        <p:nvSpPr>
          <p:cNvPr id="14" name="Rectangle 13">
            <a:extLst>
              <a:ext uri="{FF2B5EF4-FFF2-40B4-BE49-F238E27FC236}">
                <a16:creationId xmlns:a16="http://schemas.microsoft.com/office/drawing/2014/main" id="{47A3E383-A80D-411C-8889-996DF95A1E36}"/>
              </a:ext>
            </a:extLst>
          </p:cNvPr>
          <p:cNvSpPr>
            <a:spLocks noGrp="1"/>
          </p:cNvSpPr>
          <p:nvPr/>
        </p:nvSpPr>
        <p:spPr>
          <a:xfrm>
            <a:off x="3429000" y="4105275"/>
            <a:ext cx="6858000" cy="2476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/>
          <a:lstStyle/>
          <a:p>
            <a:pPr algn="l">
              <a:defRPr sz="1500" b="0">
                <a:solidFill>
                  <a:srgbClr val="000000"/>
                </a:solidFill>
              </a:defRPr>
            </a:pPr>
            <a:r>
              <a:rPr sz="1500" b="0">
                <a:solidFill>
                  <a:srgbClr val="000000"/>
                </a:solidFill>
              </a:rPr>
              <a:t>Read state / resume at EPC + 1</a:t>
            </a:r>
          </a:p>
        </p:txBody>
      </p:sp>
      <p:sp>
        <p:nvSpPr>
          <p:cNvPr id="15" name="Rectangle 14">
            <a:extLst>
              <a:ext uri="{FF2B5EF4-FFF2-40B4-BE49-F238E27FC236}">
                <a16:creationId xmlns:a16="http://schemas.microsoft.com/office/drawing/2014/main" id="{FFE41544-B91F-41E9-9C07-8F4A9D1C2F98}"/>
              </a:ext>
            </a:extLst>
          </p:cNvPr>
          <p:cNvSpPr>
            <a:spLocks noGrp="1"/>
          </p:cNvSpPr>
          <p:nvPr/>
        </p:nvSpPr>
        <p:spPr>
          <a:xfrm>
            <a:off x="857250" y="5286375"/>
            <a:ext cx="10191750" cy="3810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/>
          <a:lstStyle/>
          <a:p>
            <a:pPr algn="ctr">
              <a:defRPr sz="1500" b="1">
                <a:solidFill>
                  <a:srgbClr val="000000"/>
                </a:solidFill>
              </a:defRPr>
            </a:pPr>
            <a:r>
              <a:rPr sz="1500" b="1">
                <a:solidFill>
                  <a:srgbClr val="000000"/>
                </a:solidFill>
              </a:rPr>
              <a:t>Fault → Capture EPC/CAUSE → Flush unsafe instructions → PC = 0x80 → Handler → ERET or HALT</a:t>
            </a:r>
          </a:p>
        </p:txBody>
      </p:sp>
      <p:sp>
        <p:nvSpPr>
          <p:cNvPr id="16" name="Rectangle 15">
            <a:extLst>
              <a:ext uri="{FF2B5EF4-FFF2-40B4-BE49-F238E27FC236}">
                <a16:creationId xmlns:a16="http://schemas.microsoft.com/office/drawing/2014/main" id="{E03827BE-3C3E-43DD-8963-27679FB02EEE}"/>
              </a:ext>
            </a:extLst>
          </p:cNvPr>
          <p:cNvSpPr>
            <a:spLocks noGrp="1"/>
          </p:cNvSpPr>
          <p:nvPr/>
        </p:nvSpPr>
        <p:spPr>
          <a:xfrm>
            <a:off x="685800" y="6496050"/>
            <a:ext cx="7048500" cy="1714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/>
          <a:lstStyle/>
          <a:p>
            <a:pPr algn="l">
              <a:defRPr sz="825" b="0">
                <a:solidFill>
                  <a:srgbClr val="000000"/>
                </a:solidFill>
              </a:defRPr>
            </a:pPr>
            <a:r>
              <a:rPr sz="825" b="0">
                <a:solidFill>
                  <a:srgbClr val="000000"/>
                </a:solidFill>
              </a:rPr>
              <a:t>Team VOLTERE | 8-bit Pipelined Microprocessor</a:t>
            </a:r>
          </a:p>
        </p:txBody>
      </p:sp>
      <p:sp>
        <p:nvSpPr>
          <p:cNvPr id="17" name="Rectangle 16">
            <a:extLst>
              <a:ext uri="{FF2B5EF4-FFF2-40B4-BE49-F238E27FC236}">
                <a16:creationId xmlns:a16="http://schemas.microsoft.com/office/drawing/2014/main" id="{049C259B-4935-4C43-BC7D-F9D59E9225BC}"/>
              </a:ext>
            </a:extLst>
          </p:cNvPr>
          <p:cNvSpPr>
            <a:spLocks noGrp="1"/>
          </p:cNvSpPr>
          <p:nvPr/>
        </p:nvSpPr>
        <p:spPr>
          <a:xfrm>
            <a:off x="11001375" y="6477000"/>
            <a:ext cx="495300" cy="1714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/>
          <a:lstStyle/>
          <a:p>
            <a:pPr algn="r">
              <a:defRPr sz="825" b="1">
                <a:solidFill>
                  <a:srgbClr val="000000"/>
                </a:solidFill>
              </a:defRPr>
            </a:pPr>
            <a:r>
              <a:rPr sz="825" b="1">
                <a:solidFill>
                  <a:srgbClr val="000000"/>
                </a:solidFill>
              </a:rPr>
              <a:t>16</a:t>
            </a:r>
          </a:p>
        </p:txBody>
      </p:sp>
    </p:spTree>
    <p:extLst>
      <p:ext uri="{BB962C8B-B14F-4D97-AF65-F5344CB8AC3E}">
        <p14:creationId xmlns:p14="http://schemas.microsoft.com/office/powerpoint/2010/main" val="889709482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Rectangle 10">
            <a:extLst>
              <a:ext uri="{FF2B5EF4-FFF2-40B4-BE49-F238E27FC236}">
                <a16:creationId xmlns:a16="http://schemas.microsoft.com/office/drawing/2014/main" id="{DD28577E-D7A6-4FA2-B011-2C656C05BBAB}"/>
              </a:ext>
            </a:extLst>
          </p:cNvPr>
          <p:cNvSpPr>
            <a:spLocks noGrp="1"/>
          </p:cNvSpPr>
          <p:nvPr/>
        </p:nvSpPr>
        <p:spPr>
          <a:xfrm>
            <a:off x="685800" y="342900"/>
            <a:ext cx="5715000" cy="2095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/>
          <a:lstStyle/>
          <a:p>
            <a:pPr algn="l">
              <a:defRPr sz="975" b="1">
                <a:solidFill>
                  <a:srgbClr val="000000"/>
                </a:solidFill>
              </a:defRPr>
            </a:pPr>
            <a:r>
              <a:rPr sz="975" b="1">
                <a:solidFill>
                  <a:srgbClr val="000000"/>
                </a:solidFill>
              </a:rPr>
              <a:t>TEAM VOLTERE | IITISoC 2026</a:t>
            </a:r>
          </a:p>
        </p:txBody>
      </p:sp>
      <p:sp>
        <p:nvSpPr>
          <p:cNvPr id="2" name="Rectangle 1">
            <a:extLst>
              <a:ext uri="{FF2B5EF4-FFF2-40B4-BE49-F238E27FC236}">
                <a16:creationId xmlns:a16="http://schemas.microsoft.com/office/drawing/2014/main" id="{ED4E4BBE-9F75-4007-A351-6FF4BCFEB1B3}"/>
              </a:ext>
            </a:extLst>
          </p:cNvPr>
          <p:cNvSpPr>
            <a:spLocks noGrp="1"/>
          </p:cNvSpPr>
          <p:nvPr/>
        </p:nvSpPr>
        <p:spPr>
          <a:xfrm>
            <a:off x="685800" y="628650"/>
            <a:ext cx="10763250" cy="5143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/>
          <a:lstStyle/>
          <a:p>
            <a:pPr algn="l">
              <a:defRPr sz="2550" b="1">
                <a:solidFill>
                  <a:srgbClr val="000000"/>
                </a:solidFill>
              </a:defRPr>
            </a:pPr>
            <a:r>
              <a:rPr sz="2550" b="1">
                <a:solidFill>
                  <a:srgbClr val="000000"/>
                </a:solidFill>
              </a:rPr>
              <a:t>Overflow is contained, corrected by the handler, and normal execution resumes</a:t>
            </a:r>
          </a:p>
        </p:txBody>
      </p:sp>
      <p:sp>
        <p:nvSpPr>
          <p:cNvPr id="3" name="Rectangle: Rounded Corners 2">
            <a:extLst>
              <a:ext uri="{FF2B5EF4-FFF2-40B4-BE49-F238E27FC236}">
                <a16:creationId xmlns:a16="http://schemas.microsoft.com/office/drawing/2014/main" id="{80D9C0B6-306A-45BC-8B0C-0AF166988DB5}"/>
              </a:ext>
            </a:extLst>
          </p:cNvPr>
          <p:cNvSpPr>
            <a:spLocks noGrp="1"/>
          </p:cNvSpPr>
          <p:nvPr/>
        </p:nvSpPr>
        <p:spPr>
          <a:xfrm>
            <a:off x="781050" y="1524000"/>
            <a:ext cx="4524375" cy="2571750"/>
          </a:xfrm>
          <a:prstGeom prst="roundRect">
            <a:avLst>
              <a:gd name="adj" fmla="val 2963"/>
            </a:avLst>
          </a:prstGeom>
          <a:solidFill>
            <a:srgbClr val="F7F7F7"/>
          </a:solidFill>
          <a:ln w="9525">
            <a:solidFill>
              <a:srgbClr val="B5B5B5"/>
            </a:solidFill>
            <a:prstDash val="solid"/>
          </a:ln>
        </p:spPr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A7508E47-8C97-475F-9550-CAC070CF3EED}"/>
              </a:ext>
            </a:extLst>
          </p:cNvPr>
          <p:cNvSpPr>
            <a:spLocks noGrp="1"/>
          </p:cNvSpPr>
          <p:nvPr/>
        </p:nvSpPr>
        <p:spPr>
          <a:xfrm>
            <a:off x="952500" y="1638300"/>
            <a:ext cx="4181475" cy="23431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/>
          <a:lstStyle/>
          <a:p>
            <a:pPr algn="l">
              <a:defRPr sz="1425" b="0">
                <a:solidFill>
                  <a:srgbClr val="000000"/>
                </a:solidFill>
              </a:defRPr>
            </a:pPr>
            <a:r>
              <a:rPr sz="1425" b="0">
                <a:solidFill>
                  <a:srgbClr val="000000"/>
                </a:solidFill>
              </a:rPr>
              <a:t>LDI r1, 200</a:t>
            </a:r>
          </a:p>
          <a:p>
            <a:pPr algn="l">
              <a:defRPr sz="1425" b="0">
                <a:solidFill>
                  <a:srgbClr val="000000"/>
                </a:solidFill>
              </a:defRPr>
            </a:pPr>
            <a:r>
              <a:rPr sz="1425" b="0">
                <a:solidFill>
                  <a:srgbClr val="000000"/>
                </a:solidFill>
              </a:rPr>
              <a:t>LDI r2, 100</a:t>
            </a:r>
          </a:p>
          <a:p>
            <a:pPr algn="l">
              <a:defRPr sz="1425" b="0">
                <a:solidFill>
                  <a:srgbClr val="000000"/>
                </a:solidFill>
              </a:defRPr>
            </a:pPr>
            <a:r>
              <a:rPr sz="1425" b="0">
                <a:solidFill>
                  <a:srgbClr val="000000"/>
                </a:solidFill>
              </a:rPr>
              <a:t>ADD r3, r1, r2   ← overflow at PC = 2</a:t>
            </a:r>
          </a:p>
          <a:p>
            <a:pPr algn="l">
              <a:defRPr sz="1425" b="0">
                <a:solidFill>
                  <a:srgbClr val="000000"/>
                </a:solidFill>
              </a:defRPr>
            </a:pPr>
            <a:r>
              <a:rPr sz="1425" b="0">
                <a:solidFill>
                  <a:srgbClr val="000000"/>
                </a:solidFill>
              </a:rPr>
              <a:t>STD r3, [0xAA]</a:t>
            </a:r>
          </a:p>
          <a:p>
            <a:pPr algn="l">
              <a:defRPr sz="1425" b="0">
                <a:solidFill>
                  <a:srgbClr val="000000"/>
                </a:solidFill>
              </a:defRPr>
            </a:pPr>
            <a:r>
              <a:rPr sz="1425" b="0">
                <a:solidFill>
                  <a:srgbClr val="000000"/>
                </a:solidFill>
              </a:rPr>
              <a:t>SUB r4, r1, r2</a:t>
            </a:r>
          </a:p>
          <a:p>
            <a:pPr algn="l">
              <a:defRPr sz="1425" b="0">
                <a:solidFill>
                  <a:srgbClr val="000000"/>
                </a:solidFill>
              </a:defRPr>
            </a:pPr>
            <a:r>
              <a:rPr sz="1425" b="0">
                <a:solidFill>
                  <a:srgbClr val="000000"/>
                </a:solidFill>
              </a:rPr>
              <a:t>STD r4, [0xAB]</a:t>
            </a:r>
          </a:p>
        </p:txBody>
      </p:sp>
      <p:sp>
        <p:nvSpPr>
          <p:cNvPr id="5" name="Rectangle: Rounded Corners 4">
            <a:extLst>
              <a:ext uri="{FF2B5EF4-FFF2-40B4-BE49-F238E27FC236}">
                <a16:creationId xmlns:a16="http://schemas.microsoft.com/office/drawing/2014/main" id="{4C5CA542-4F05-47C8-94D3-6F06CF8C3607}"/>
              </a:ext>
            </a:extLst>
          </p:cNvPr>
          <p:cNvSpPr>
            <a:spLocks noGrp="1"/>
          </p:cNvSpPr>
          <p:nvPr/>
        </p:nvSpPr>
        <p:spPr>
          <a:xfrm>
            <a:off x="6381750" y="1571625"/>
            <a:ext cx="3905250" cy="1143000"/>
          </a:xfrm>
          <a:prstGeom prst="roundRect">
            <a:avLst>
              <a:gd name="adj" fmla="val 6667"/>
            </a:avLst>
          </a:prstGeom>
          <a:solidFill>
            <a:srgbClr val="F7F7F7"/>
          </a:solidFill>
          <a:ln w="9525">
            <a:solidFill>
              <a:srgbClr val="B5B5B5"/>
            </a:solidFill>
            <a:prstDash val="solid"/>
          </a:ln>
        </p:spPr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10414578-E9AE-4487-9513-C7AD6179421A}"/>
              </a:ext>
            </a:extLst>
          </p:cNvPr>
          <p:cNvSpPr>
            <a:spLocks noGrp="1"/>
          </p:cNvSpPr>
          <p:nvPr/>
        </p:nvSpPr>
        <p:spPr>
          <a:xfrm>
            <a:off x="6762750" y="1809750"/>
            <a:ext cx="3143250" cy="71437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/>
          <a:lstStyle/>
          <a:p>
            <a:pPr algn="ctr">
              <a:defRPr sz="1725" b="1">
                <a:solidFill>
                  <a:srgbClr val="000000"/>
                </a:solidFill>
              </a:defRPr>
            </a:pPr>
            <a:r>
              <a:rPr sz="1725" b="1">
                <a:solidFill>
                  <a:srgbClr val="000000"/>
                </a:solidFill>
              </a:rPr>
              <a:t>CAUSE = 1</a:t>
            </a:r>
          </a:p>
          <a:p>
            <a:pPr algn="ctr">
              <a:defRPr sz="1725" b="1">
                <a:solidFill>
                  <a:srgbClr val="000000"/>
                </a:solidFill>
              </a:defRPr>
            </a:pPr>
            <a:r>
              <a:rPr sz="1725" b="1">
                <a:solidFill>
                  <a:srgbClr val="000000"/>
                </a:solidFill>
              </a:rPr>
              <a:t>R3 = 0xFF</a:t>
            </a:r>
          </a:p>
          <a:p>
            <a:pPr algn="ctr">
              <a:defRPr sz="1725" b="1">
                <a:solidFill>
                  <a:srgbClr val="000000"/>
                </a:solidFill>
              </a:defRPr>
            </a:pPr>
            <a:r>
              <a:rPr sz="1725" b="1">
                <a:solidFill>
                  <a:srgbClr val="000000"/>
                </a:solidFill>
              </a:rPr>
              <a:t>ERET</a:t>
            </a:r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572ACD05-AAF1-4F5D-8E0D-5A9342473935}"/>
              </a:ext>
            </a:extLst>
          </p:cNvPr>
          <p:cNvSpPr>
            <a:spLocks noGrp="1"/>
          </p:cNvSpPr>
          <p:nvPr/>
        </p:nvSpPr>
        <p:spPr>
          <a:xfrm>
            <a:off x="6381750" y="3333750"/>
            <a:ext cx="4000500" cy="6667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/>
          <a:lstStyle/>
          <a:p>
            <a:pPr algn="ctr">
              <a:defRPr sz="1725" b="1">
                <a:solidFill>
                  <a:srgbClr val="000000"/>
                </a:solidFill>
              </a:defRPr>
            </a:pPr>
            <a:r>
              <a:rPr sz="1725" b="1">
                <a:solidFill>
                  <a:srgbClr val="000000"/>
                </a:solidFill>
              </a:rPr>
              <a:t>Verified: memory[0xAA] = 0xFF</a:t>
            </a:r>
          </a:p>
          <a:p>
            <a:pPr algn="ctr">
              <a:defRPr sz="1725" b="1">
                <a:solidFill>
                  <a:srgbClr val="000000"/>
                </a:solidFill>
              </a:defRPr>
            </a:pPr>
            <a:r>
              <a:rPr sz="1725" b="1">
                <a:solidFill>
                  <a:srgbClr val="000000"/>
                </a:solidFill>
              </a:rPr>
              <a:t>Verified: memory[0xAB] = 100</a:t>
            </a:r>
          </a:p>
        </p:txBody>
      </p:sp>
      <p:sp>
        <p:nvSpPr>
          <p:cNvPr id="8" name="Rectangle 7">
            <a:extLst>
              <a:ext uri="{FF2B5EF4-FFF2-40B4-BE49-F238E27FC236}">
                <a16:creationId xmlns:a16="http://schemas.microsoft.com/office/drawing/2014/main" id="{D5AD4CF3-6481-46F5-9ADD-3DDA2DE8F527}"/>
              </a:ext>
            </a:extLst>
          </p:cNvPr>
          <p:cNvSpPr>
            <a:spLocks noGrp="1"/>
          </p:cNvSpPr>
          <p:nvPr/>
        </p:nvSpPr>
        <p:spPr>
          <a:xfrm>
            <a:off x="857250" y="5286375"/>
            <a:ext cx="9525000" cy="2857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/>
          <a:lstStyle/>
          <a:p>
            <a:pPr algn="l">
              <a:defRPr sz="1500" b="1">
                <a:solidFill>
                  <a:srgbClr val="000000"/>
                </a:solidFill>
              </a:defRPr>
            </a:pPr>
            <a:r>
              <a:rPr sz="1500" b="1">
                <a:solidFill>
                  <a:srgbClr val="000000"/>
                </a:solidFill>
              </a:rPr>
              <a:t>Waveform asset: sim/bonus2/bonus2_exceptions.vcd</a:t>
            </a:r>
          </a:p>
        </p:txBody>
      </p:sp>
      <p:sp>
        <p:nvSpPr>
          <p:cNvPr id="9" name="Rectangle 8">
            <a:extLst>
              <a:ext uri="{FF2B5EF4-FFF2-40B4-BE49-F238E27FC236}">
                <a16:creationId xmlns:a16="http://schemas.microsoft.com/office/drawing/2014/main" id="{71D33398-A384-4383-B180-239FBE7B8069}"/>
              </a:ext>
            </a:extLst>
          </p:cNvPr>
          <p:cNvSpPr>
            <a:spLocks noGrp="1"/>
          </p:cNvSpPr>
          <p:nvPr/>
        </p:nvSpPr>
        <p:spPr>
          <a:xfrm>
            <a:off x="685800" y="6496050"/>
            <a:ext cx="7048500" cy="1714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/>
          <a:lstStyle/>
          <a:p>
            <a:pPr algn="l">
              <a:defRPr sz="825" b="0">
                <a:solidFill>
                  <a:srgbClr val="000000"/>
                </a:solidFill>
              </a:defRPr>
            </a:pPr>
            <a:r>
              <a:rPr sz="825" b="0">
                <a:solidFill>
                  <a:srgbClr val="000000"/>
                </a:solidFill>
              </a:rPr>
              <a:t>Team VOLTERE | 8-bit Pipelined Microprocessor</a:t>
            </a:r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81B1FBE7-9E1D-4DAA-A6A5-245645E0A00F}"/>
              </a:ext>
            </a:extLst>
          </p:cNvPr>
          <p:cNvSpPr>
            <a:spLocks noGrp="1"/>
          </p:cNvSpPr>
          <p:nvPr/>
        </p:nvSpPr>
        <p:spPr>
          <a:xfrm>
            <a:off x="11001375" y="6477000"/>
            <a:ext cx="495300" cy="1714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/>
          <a:lstStyle/>
          <a:p>
            <a:pPr algn="r">
              <a:defRPr sz="825" b="1">
                <a:solidFill>
                  <a:srgbClr val="000000"/>
                </a:solidFill>
              </a:defRPr>
            </a:pPr>
            <a:r>
              <a:rPr sz="825" b="1">
                <a:solidFill>
                  <a:srgbClr val="000000"/>
                </a:solidFill>
              </a:rPr>
              <a:t>17</a:t>
            </a:r>
          </a:p>
        </p:txBody>
      </p:sp>
    </p:spTree>
    <p:extLst>
      <p:ext uri="{BB962C8B-B14F-4D97-AF65-F5344CB8AC3E}">
        <p14:creationId xmlns:p14="http://schemas.microsoft.com/office/powerpoint/2010/main" val="1514536596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Rectangle 9">
            <a:extLst>
              <a:ext uri="{FF2B5EF4-FFF2-40B4-BE49-F238E27FC236}">
                <a16:creationId xmlns:a16="http://schemas.microsoft.com/office/drawing/2014/main" id="{3807F69C-15CD-4B2B-B7E8-FA3A987E750D}"/>
              </a:ext>
            </a:extLst>
          </p:cNvPr>
          <p:cNvSpPr>
            <a:spLocks noGrp="1"/>
          </p:cNvSpPr>
          <p:nvPr/>
        </p:nvSpPr>
        <p:spPr>
          <a:xfrm>
            <a:off x="685800" y="342900"/>
            <a:ext cx="5715000" cy="2095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/>
          <a:lstStyle/>
          <a:p>
            <a:pPr algn="l">
              <a:defRPr sz="975" b="1">
                <a:solidFill>
                  <a:srgbClr val="000000"/>
                </a:solidFill>
              </a:defRPr>
            </a:pPr>
            <a:r>
              <a:rPr sz="975" b="1">
                <a:solidFill>
                  <a:srgbClr val="000000"/>
                </a:solidFill>
              </a:rPr>
              <a:t>TEAM VOLTERE | IITISoC 2026</a:t>
            </a:r>
          </a:p>
        </p:txBody>
      </p:sp>
      <p:sp>
        <p:nvSpPr>
          <p:cNvPr id="2" name="Rectangle 1">
            <a:extLst>
              <a:ext uri="{FF2B5EF4-FFF2-40B4-BE49-F238E27FC236}">
                <a16:creationId xmlns:a16="http://schemas.microsoft.com/office/drawing/2014/main" id="{4EFC289C-738E-44A1-BE80-BC0F3D7D7ABE}"/>
              </a:ext>
            </a:extLst>
          </p:cNvPr>
          <p:cNvSpPr>
            <a:spLocks noGrp="1"/>
          </p:cNvSpPr>
          <p:nvPr/>
        </p:nvSpPr>
        <p:spPr>
          <a:xfrm>
            <a:off x="685800" y="628650"/>
            <a:ext cx="10763250" cy="5143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/>
          <a:lstStyle/>
          <a:p>
            <a:pPr algn="l">
              <a:defRPr sz="2550" b="1">
                <a:solidFill>
                  <a:srgbClr val="000000"/>
                </a:solidFill>
              </a:defRPr>
            </a:pPr>
            <a:r>
              <a:rPr sz="2550" b="1">
                <a:solidFill>
                  <a:srgbClr val="000000"/>
                </a:solidFill>
              </a:rPr>
              <a:t>An unsupported opcode is detected before it can corrupt memory</a:t>
            </a:r>
          </a:p>
        </p:txBody>
      </p:sp>
      <p:sp>
        <p:nvSpPr>
          <p:cNvPr id="3" name="Rectangle: Rounded Corners 2">
            <a:extLst>
              <a:ext uri="{FF2B5EF4-FFF2-40B4-BE49-F238E27FC236}">
                <a16:creationId xmlns:a16="http://schemas.microsoft.com/office/drawing/2014/main" id="{A593686A-8E92-4140-9065-2ECE5ACD27FF}"/>
              </a:ext>
            </a:extLst>
          </p:cNvPr>
          <p:cNvSpPr>
            <a:spLocks noGrp="1"/>
          </p:cNvSpPr>
          <p:nvPr/>
        </p:nvSpPr>
        <p:spPr>
          <a:xfrm>
            <a:off x="781050" y="1524000"/>
            <a:ext cx="4762500" cy="2381250"/>
          </a:xfrm>
          <a:prstGeom prst="roundRect">
            <a:avLst>
              <a:gd name="adj" fmla="val 3200"/>
            </a:avLst>
          </a:prstGeom>
          <a:solidFill>
            <a:srgbClr val="F7F7F7"/>
          </a:solidFill>
          <a:ln w="9525">
            <a:solidFill>
              <a:srgbClr val="B5B5B5"/>
            </a:solidFill>
            <a:prstDash val="solid"/>
          </a:ln>
        </p:spPr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35FCE67B-5656-4BF6-ADFD-BCB968C99929}"/>
              </a:ext>
            </a:extLst>
          </p:cNvPr>
          <p:cNvSpPr>
            <a:spLocks noGrp="1"/>
          </p:cNvSpPr>
          <p:nvPr/>
        </p:nvSpPr>
        <p:spPr>
          <a:xfrm>
            <a:off x="952500" y="1638300"/>
            <a:ext cx="4419600" cy="21526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/>
          <a:lstStyle/>
          <a:p>
            <a:pPr algn="l">
              <a:defRPr sz="1350" b="0">
                <a:solidFill>
                  <a:srgbClr val="000000"/>
                </a:solidFill>
              </a:defRPr>
            </a:pPr>
            <a:r>
              <a:rPr sz="1350" b="0">
                <a:solidFill>
                  <a:srgbClr val="000000"/>
                </a:solidFill>
              </a:rPr>
              <a:t>LDI r1, 10</a:t>
            </a:r>
          </a:p>
          <a:p>
            <a:pPr algn="l">
              <a:defRPr sz="1350" b="0">
                <a:solidFill>
                  <a:srgbClr val="000000"/>
                </a:solidFill>
              </a:defRPr>
            </a:pPr>
            <a:r>
              <a:rPr sz="1350" b="0">
                <a:solidFill>
                  <a:srgbClr val="000000"/>
                </a:solidFill>
              </a:rPr>
              <a:t>LDI r2, 20</a:t>
            </a:r>
          </a:p>
          <a:p>
            <a:pPr algn="l">
              <a:defRPr sz="1350" b="0">
                <a:solidFill>
                  <a:srgbClr val="000000"/>
                </a:solidFill>
              </a:defRPr>
            </a:pPr>
            <a:r>
              <a:rPr sz="1350" b="0">
                <a:solidFill>
                  <a:srgbClr val="000000"/>
                </a:solidFill>
              </a:rPr>
              <a:t>.word 0xD800    ← unsupported opcode 11011</a:t>
            </a:r>
          </a:p>
          <a:p>
            <a:pPr algn="l">
              <a:defRPr sz="1350" b="0">
                <a:solidFill>
                  <a:srgbClr val="000000"/>
                </a:solidFill>
              </a:defRPr>
            </a:pPr>
            <a:r>
              <a:rPr sz="1350" b="0">
                <a:solidFill>
                  <a:srgbClr val="000000"/>
                </a:solidFill>
              </a:rPr>
              <a:t>ADD r3, r1, r2  ← must never execute</a:t>
            </a:r>
          </a:p>
          <a:p>
            <a:pPr algn="l">
              <a:defRPr sz="1350" b="0">
                <a:solidFill>
                  <a:srgbClr val="000000"/>
                </a:solidFill>
              </a:defRPr>
            </a:pPr>
            <a:r>
              <a:rPr sz="1350" b="0">
                <a:solidFill>
                  <a:srgbClr val="000000"/>
                </a:solidFill>
              </a:rPr>
              <a:t>STD r3, [0xBB]</a:t>
            </a:r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42FEEA31-1A24-4EAA-90FF-6A4F8F591968}"/>
              </a:ext>
            </a:extLst>
          </p:cNvPr>
          <p:cNvSpPr>
            <a:spLocks noGrp="1"/>
          </p:cNvSpPr>
          <p:nvPr/>
        </p:nvSpPr>
        <p:spPr>
          <a:xfrm>
            <a:off x="6572250" y="1666875"/>
            <a:ext cx="3429000" cy="3048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/>
          <a:lstStyle/>
          <a:p>
            <a:pPr algn="l">
              <a:defRPr sz="1800" b="1">
                <a:solidFill>
                  <a:srgbClr val="000000"/>
                </a:solidFill>
              </a:defRPr>
            </a:pPr>
            <a:r>
              <a:rPr sz="1800" b="1">
                <a:solidFill>
                  <a:srgbClr val="000000"/>
                </a:solidFill>
              </a:rPr>
              <a:t>Fault address: PC = 2</a:t>
            </a:r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D6DE91C3-AA12-46FD-8CBE-B22E5D96D310}"/>
              </a:ext>
            </a:extLst>
          </p:cNvPr>
          <p:cNvSpPr>
            <a:spLocks noGrp="1"/>
          </p:cNvSpPr>
          <p:nvPr/>
        </p:nvSpPr>
        <p:spPr>
          <a:xfrm>
            <a:off x="6572250" y="2238375"/>
            <a:ext cx="3810000" cy="9525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/>
          <a:lstStyle/>
          <a:p>
            <a:pPr algn="l">
              <a:defRPr sz="1575" b="0">
                <a:solidFill>
                  <a:srgbClr val="000000"/>
                </a:solidFill>
              </a:defRPr>
            </a:pPr>
            <a:r>
              <a:rPr sz="1575" b="0">
                <a:solidFill>
                  <a:srgbClr val="000000"/>
                </a:solidFill>
              </a:rPr>
              <a:t>CAUSE = 2</a:t>
            </a:r>
          </a:p>
          <a:p>
            <a:pPr algn="l">
              <a:defRPr sz="1575" b="0">
                <a:solidFill>
                  <a:srgbClr val="000000"/>
                </a:solidFill>
              </a:defRPr>
            </a:pPr>
            <a:r>
              <a:rPr sz="1575" b="0">
                <a:solidFill>
                  <a:srgbClr val="000000"/>
                </a:solidFill>
              </a:rPr>
              <a:t>Handler writes memory[0xFF] = 0xEE</a:t>
            </a:r>
          </a:p>
          <a:p>
            <a:pPr algn="l">
              <a:defRPr sz="1575" b="0">
                <a:solidFill>
                  <a:srgbClr val="000000"/>
                </a:solidFill>
              </a:defRPr>
            </a:pPr>
            <a:r>
              <a:rPr sz="1575" b="0">
                <a:solidFill>
                  <a:srgbClr val="000000"/>
                </a:solidFill>
              </a:rPr>
              <a:t>Handler enters HALT</a:t>
            </a:r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0E0DCBEA-37F7-45A2-9D5A-A12903843C44}"/>
              </a:ext>
            </a:extLst>
          </p:cNvPr>
          <p:cNvSpPr>
            <a:spLocks noGrp="1"/>
          </p:cNvSpPr>
          <p:nvPr/>
        </p:nvSpPr>
        <p:spPr>
          <a:xfrm>
            <a:off x="6572250" y="3714750"/>
            <a:ext cx="3810000" cy="3238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/>
          <a:lstStyle/>
          <a:p>
            <a:pPr algn="l">
              <a:defRPr sz="1650" b="1">
                <a:solidFill>
                  <a:srgbClr val="000000"/>
                </a:solidFill>
              </a:defRPr>
            </a:pPr>
            <a:r>
              <a:rPr sz="1650" b="1">
                <a:solidFill>
                  <a:srgbClr val="000000"/>
                </a:solidFill>
              </a:rPr>
              <a:t>Verified: memory[0xBB] remains 0x00</a:t>
            </a:r>
          </a:p>
        </p:txBody>
      </p:sp>
      <p:sp>
        <p:nvSpPr>
          <p:cNvPr id="8" name="Rectangle 7">
            <a:extLst>
              <a:ext uri="{FF2B5EF4-FFF2-40B4-BE49-F238E27FC236}">
                <a16:creationId xmlns:a16="http://schemas.microsoft.com/office/drawing/2014/main" id="{036FEC0E-EEFE-4C0A-B623-BDFDDC940CBE}"/>
              </a:ext>
            </a:extLst>
          </p:cNvPr>
          <p:cNvSpPr>
            <a:spLocks noGrp="1"/>
          </p:cNvSpPr>
          <p:nvPr/>
        </p:nvSpPr>
        <p:spPr>
          <a:xfrm>
            <a:off x="685800" y="6496050"/>
            <a:ext cx="7048500" cy="1714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/>
          <a:lstStyle/>
          <a:p>
            <a:pPr algn="l">
              <a:defRPr sz="825" b="0">
                <a:solidFill>
                  <a:srgbClr val="000000"/>
                </a:solidFill>
              </a:defRPr>
            </a:pPr>
            <a:r>
              <a:rPr sz="825" b="0">
                <a:solidFill>
                  <a:srgbClr val="000000"/>
                </a:solidFill>
              </a:rPr>
              <a:t>Team VOLTERE | 8-bit Pipelined Microprocessor</a:t>
            </a:r>
          </a:p>
        </p:txBody>
      </p:sp>
      <p:sp>
        <p:nvSpPr>
          <p:cNvPr id="9" name="Rectangle 8">
            <a:extLst>
              <a:ext uri="{FF2B5EF4-FFF2-40B4-BE49-F238E27FC236}">
                <a16:creationId xmlns:a16="http://schemas.microsoft.com/office/drawing/2014/main" id="{D0A1F52D-0E73-4663-82A8-684B068298CE}"/>
              </a:ext>
            </a:extLst>
          </p:cNvPr>
          <p:cNvSpPr>
            <a:spLocks noGrp="1"/>
          </p:cNvSpPr>
          <p:nvPr/>
        </p:nvSpPr>
        <p:spPr>
          <a:xfrm>
            <a:off x="11001375" y="6477000"/>
            <a:ext cx="495300" cy="1714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/>
          <a:lstStyle/>
          <a:p>
            <a:pPr algn="r">
              <a:defRPr sz="825" b="1">
                <a:solidFill>
                  <a:srgbClr val="000000"/>
                </a:solidFill>
              </a:defRPr>
            </a:pPr>
            <a:r>
              <a:rPr sz="825" b="1">
                <a:solidFill>
                  <a:srgbClr val="000000"/>
                </a:solidFill>
              </a:rPr>
              <a:t>18</a:t>
            </a:r>
          </a:p>
        </p:txBody>
      </p:sp>
    </p:spTree>
    <p:extLst>
      <p:ext uri="{BB962C8B-B14F-4D97-AF65-F5344CB8AC3E}">
        <p14:creationId xmlns:p14="http://schemas.microsoft.com/office/powerpoint/2010/main" val="2016245293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Rectangle 9">
            <a:extLst>
              <a:ext uri="{FF2B5EF4-FFF2-40B4-BE49-F238E27FC236}">
                <a16:creationId xmlns:a16="http://schemas.microsoft.com/office/drawing/2014/main" id="{B88CA530-9067-4C57-B9B0-1ACB93C66B1B}"/>
              </a:ext>
            </a:extLst>
          </p:cNvPr>
          <p:cNvSpPr>
            <a:spLocks noGrp="1"/>
          </p:cNvSpPr>
          <p:nvPr/>
        </p:nvSpPr>
        <p:spPr>
          <a:xfrm>
            <a:off x="685800" y="342900"/>
            <a:ext cx="5715000" cy="2095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/>
          <a:lstStyle/>
          <a:p>
            <a:pPr algn="l">
              <a:defRPr sz="975" b="1">
                <a:solidFill>
                  <a:srgbClr val="000000"/>
                </a:solidFill>
              </a:defRPr>
            </a:pPr>
            <a:r>
              <a:rPr sz="975" b="1">
                <a:solidFill>
                  <a:srgbClr val="000000"/>
                </a:solidFill>
              </a:rPr>
              <a:t>TEAM VOLTERE | IITISoC 2026</a:t>
            </a:r>
          </a:p>
        </p:txBody>
      </p:sp>
      <p:sp>
        <p:nvSpPr>
          <p:cNvPr id="2" name="Rectangle 1">
            <a:extLst>
              <a:ext uri="{FF2B5EF4-FFF2-40B4-BE49-F238E27FC236}">
                <a16:creationId xmlns:a16="http://schemas.microsoft.com/office/drawing/2014/main" id="{95828400-5F12-4367-82D8-6511CE0499F4}"/>
              </a:ext>
            </a:extLst>
          </p:cNvPr>
          <p:cNvSpPr>
            <a:spLocks noGrp="1"/>
          </p:cNvSpPr>
          <p:nvPr/>
        </p:nvSpPr>
        <p:spPr>
          <a:xfrm>
            <a:off x="685800" y="628650"/>
            <a:ext cx="10763250" cy="5143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/>
          <a:lstStyle/>
          <a:p>
            <a:pPr algn="l">
              <a:defRPr sz="2550" b="1">
                <a:solidFill>
                  <a:srgbClr val="000000"/>
                </a:solidFill>
              </a:defRPr>
            </a:pPr>
            <a:r>
              <a:rPr sz="2550" b="1">
                <a:solidFill>
                  <a:srgbClr val="000000"/>
                </a:solidFill>
              </a:rPr>
              <a:t>TRAP records the exact faulting PC and prevents unsafe code from running</a:t>
            </a:r>
          </a:p>
        </p:txBody>
      </p:sp>
      <p:sp>
        <p:nvSpPr>
          <p:cNvPr id="3" name="Rectangle: Rounded Corners 2">
            <a:extLst>
              <a:ext uri="{FF2B5EF4-FFF2-40B4-BE49-F238E27FC236}">
                <a16:creationId xmlns:a16="http://schemas.microsoft.com/office/drawing/2014/main" id="{D06B43C6-F1C9-4666-BAAD-BDA1E986D25C}"/>
              </a:ext>
            </a:extLst>
          </p:cNvPr>
          <p:cNvSpPr>
            <a:spLocks noGrp="1"/>
          </p:cNvSpPr>
          <p:nvPr/>
        </p:nvSpPr>
        <p:spPr>
          <a:xfrm>
            <a:off x="781050" y="1524000"/>
            <a:ext cx="5334000" cy="1905000"/>
          </a:xfrm>
          <a:prstGeom prst="roundRect">
            <a:avLst>
              <a:gd name="adj" fmla="val 4000"/>
            </a:avLst>
          </a:prstGeom>
          <a:solidFill>
            <a:srgbClr val="F7F7F7"/>
          </a:solidFill>
          <a:ln w="9525">
            <a:solidFill>
              <a:srgbClr val="B5B5B5"/>
            </a:solidFill>
            <a:prstDash val="solid"/>
          </a:ln>
        </p:spPr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22BF2FA7-747C-4A64-9993-578774989732}"/>
              </a:ext>
            </a:extLst>
          </p:cNvPr>
          <p:cNvSpPr>
            <a:spLocks noGrp="1"/>
          </p:cNvSpPr>
          <p:nvPr/>
        </p:nvSpPr>
        <p:spPr>
          <a:xfrm>
            <a:off x="952500" y="1638300"/>
            <a:ext cx="4991100" cy="16764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/>
          <a:lstStyle/>
          <a:p>
            <a:pPr algn="l">
              <a:defRPr sz="1425" b="0">
                <a:solidFill>
                  <a:srgbClr val="000000"/>
                </a:solidFill>
              </a:defRPr>
            </a:pPr>
            <a:r>
              <a:rPr sz="1425" b="0">
                <a:solidFill>
                  <a:srgbClr val="000000"/>
                </a:solidFill>
              </a:rPr>
              <a:t>LDD r1, [r0 + 0x10]</a:t>
            </a:r>
          </a:p>
          <a:p>
            <a:pPr algn="l">
              <a:defRPr sz="1425" b="0">
                <a:solidFill>
                  <a:srgbClr val="000000"/>
                </a:solidFill>
              </a:defRPr>
            </a:pPr>
            <a:r>
              <a:rPr sz="1425" b="0">
                <a:solidFill>
                  <a:srgbClr val="000000"/>
                </a:solidFill>
              </a:rPr>
              <a:t>TRAP               ← deliberate fault at PC = 1</a:t>
            </a:r>
          </a:p>
          <a:p>
            <a:pPr algn="l">
              <a:defRPr sz="1425" b="0">
                <a:solidFill>
                  <a:srgbClr val="000000"/>
                </a:solidFill>
              </a:defRPr>
            </a:pPr>
            <a:r>
              <a:rPr sz="1425" b="0">
                <a:solidFill>
                  <a:srgbClr val="000000"/>
                </a:solidFill>
              </a:rPr>
              <a:t>LDI r2, 0x99</a:t>
            </a:r>
          </a:p>
          <a:p>
            <a:pPr algn="l">
              <a:defRPr sz="1425" b="0">
                <a:solidFill>
                  <a:srgbClr val="000000"/>
                </a:solidFill>
              </a:defRPr>
            </a:pPr>
            <a:r>
              <a:rPr sz="1425" b="0">
                <a:solidFill>
                  <a:srgbClr val="000000"/>
                </a:solidFill>
              </a:rPr>
              <a:t>STD r2, [0xCC]     ← must never execute</a:t>
            </a:r>
          </a:p>
        </p:txBody>
      </p:sp>
      <p:sp>
        <p:nvSpPr>
          <p:cNvPr id="5" name="Rectangle: Rounded Corners 4">
            <a:extLst>
              <a:ext uri="{FF2B5EF4-FFF2-40B4-BE49-F238E27FC236}">
                <a16:creationId xmlns:a16="http://schemas.microsoft.com/office/drawing/2014/main" id="{6C98FDB2-232C-418D-BB07-46CFCEB32F2F}"/>
              </a:ext>
            </a:extLst>
          </p:cNvPr>
          <p:cNvSpPr>
            <a:spLocks noGrp="1"/>
          </p:cNvSpPr>
          <p:nvPr/>
        </p:nvSpPr>
        <p:spPr>
          <a:xfrm>
            <a:off x="7048500" y="1571625"/>
            <a:ext cx="3429000" cy="1714500"/>
          </a:xfrm>
          <a:prstGeom prst="roundRect">
            <a:avLst>
              <a:gd name="adj" fmla="val 4444"/>
            </a:avLst>
          </a:prstGeom>
          <a:solidFill>
            <a:srgbClr val="F7F7F7"/>
          </a:solidFill>
          <a:ln w="9525">
            <a:solidFill>
              <a:srgbClr val="B5B5B5"/>
            </a:solidFill>
            <a:prstDash val="solid"/>
          </a:ln>
        </p:spPr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742FDCFA-7D67-41D1-AFD4-A4544682E8EB}"/>
              </a:ext>
            </a:extLst>
          </p:cNvPr>
          <p:cNvSpPr>
            <a:spLocks noGrp="1"/>
          </p:cNvSpPr>
          <p:nvPr/>
        </p:nvSpPr>
        <p:spPr>
          <a:xfrm>
            <a:off x="7334250" y="1809750"/>
            <a:ext cx="2857500" cy="109537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/>
          <a:lstStyle/>
          <a:p>
            <a:pPr algn="ctr">
              <a:defRPr sz="1575" b="1">
                <a:solidFill>
                  <a:srgbClr val="000000"/>
                </a:solidFill>
              </a:defRPr>
            </a:pPr>
            <a:r>
              <a:rPr sz="1575" b="1">
                <a:solidFill>
                  <a:srgbClr val="000000"/>
                </a:solidFill>
              </a:rPr>
              <a:t>CAUSE = 3</a:t>
            </a:r>
          </a:p>
          <a:p>
            <a:pPr algn="ctr">
              <a:defRPr sz="1575" b="1">
                <a:solidFill>
                  <a:srgbClr val="000000"/>
                </a:solidFill>
              </a:defRPr>
            </a:pPr>
            <a:r>
              <a:rPr sz="1575" b="1">
                <a:solidFill>
                  <a:srgbClr val="000000"/>
                </a:solidFill>
              </a:rPr>
              <a:t>MFC0 r5, EPC</a:t>
            </a:r>
          </a:p>
          <a:p>
            <a:pPr algn="ctr">
              <a:defRPr sz="1575" b="1">
                <a:solidFill>
                  <a:srgbClr val="000000"/>
                </a:solidFill>
              </a:defRPr>
            </a:pPr>
            <a:r>
              <a:rPr sz="1575" b="1">
                <a:solidFill>
                  <a:srgbClr val="000000"/>
                </a:solidFill>
              </a:rPr>
              <a:t>STD r5, [0xDD]</a:t>
            </a:r>
          </a:p>
          <a:p>
            <a:pPr algn="ctr">
              <a:defRPr sz="1575" b="1">
                <a:solidFill>
                  <a:srgbClr val="000000"/>
                </a:solidFill>
              </a:defRPr>
            </a:pPr>
            <a:r>
              <a:rPr sz="1575" b="1">
                <a:solidFill>
                  <a:srgbClr val="000000"/>
                </a:solidFill>
              </a:rPr>
              <a:t>HALT</a:t>
            </a:r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E28C81B9-86AB-488F-A6C5-C91AF70D22D0}"/>
              </a:ext>
            </a:extLst>
          </p:cNvPr>
          <p:cNvSpPr>
            <a:spLocks noGrp="1"/>
          </p:cNvSpPr>
          <p:nvPr/>
        </p:nvSpPr>
        <p:spPr>
          <a:xfrm>
            <a:off x="1190625" y="4238625"/>
            <a:ext cx="9048750" cy="4953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/>
          <a:lstStyle/>
          <a:p>
            <a:pPr algn="ctr">
              <a:defRPr sz="1725" b="1">
                <a:solidFill>
                  <a:srgbClr val="000000"/>
                </a:solidFill>
              </a:defRPr>
            </a:pPr>
            <a:r>
              <a:rPr sz="1725" b="1">
                <a:solidFill>
                  <a:srgbClr val="000000"/>
                </a:solidFill>
              </a:rPr>
              <a:t>Verified: EPC = 1 | memory[0xDD] = 1</a:t>
            </a:r>
          </a:p>
          <a:p>
            <a:pPr algn="ctr">
              <a:defRPr sz="1725" b="1">
                <a:solidFill>
                  <a:srgbClr val="000000"/>
                </a:solidFill>
              </a:defRPr>
            </a:pPr>
            <a:r>
              <a:rPr sz="1725" b="1">
                <a:solidFill>
                  <a:srgbClr val="000000"/>
                </a:solidFill>
              </a:rPr>
              <a:t>Verified: memory[0xCC] remains 0x00</a:t>
            </a:r>
          </a:p>
        </p:txBody>
      </p:sp>
      <p:sp>
        <p:nvSpPr>
          <p:cNvPr id="8" name="Rectangle 7">
            <a:extLst>
              <a:ext uri="{FF2B5EF4-FFF2-40B4-BE49-F238E27FC236}">
                <a16:creationId xmlns:a16="http://schemas.microsoft.com/office/drawing/2014/main" id="{8E4E89D6-02B8-4092-A4FD-61CC6E1F35AD}"/>
              </a:ext>
            </a:extLst>
          </p:cNvPr>
          <p:cNvSpPr>
            <a:spLocks noGrp="1"/>
          </p:cNvSpPr>
          <p:nvPr/>
        </p:nvSpPr>
        <p:spPr>
          <a:xfrm>
            <a:off x="685800" y="6496050"/>
            <a:ext cx="7048500" cy="1714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/>
          <a:lstStyle/>
          <a:p>
            <a:pPr algn="l">
              <a:defRPr sz="825" b="0">
                <a:solidFill>
                  <a:srgbClr val="000000"/>
                </a:solidFill>
              </a:defRPr>
            </a:pPr>
            <a:r>
              <a:rPr sz="825" b="0">
                <a:solidFill>
                  <a:srgbClr val="000000"/>
                </a:solidFill>
              </a:rPr>
              <a:t>Team VOLTERE | 8-bit Pipelined Microprocessor</a:t>
            </a:r>
          </a:p>
        </p:txBody>
      </p:sp>
      <p:sp>
        <p:nvSpPr>
          <p:cNvPr id="9" name="Rectangle 8">
            <a:extLst>
              <a:ext uri="{FF2B5EF4-FFF2-40B4-BE49-F238E27FC236}">
                <a16:creationId xmlns:a16="http://schemas.microsoft.com/office/drawing/2014/main" id="{328D5AB7-AE4C-4192-8D10-CB31627B13B1}"/>
              </a:ext>
            </a:extLst>
          </p:cNvPr>
          <p:cNvSpPr>
            <a:spLocks noGrp="1"/>
          </p:cNvSpPr>
          <p:nvPr/>
        </p:nvSpPr>
        <p:spPr>
          <a:xfrm>
            <a:off x="11001375" y="6477000"/>
            <a:ext cx="495300" cy="1714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/>
          <a:lstStyle/>
          <a:p>
            <a:pPr algn="r">
              <a:defRPr sz="825" b="1">
                <a:solidFill>
                  <a:srgbClr val="000000"/>
                </a:solidFill>
              </a:defRPr>
            </a:pPr>
            <a:r>
              <a:rPr sz="825" b="1">
                <a:solidFill>
                  <a:srgbClr val="000000"/>
                </a:solidFill>
              </a:rPr>
              <a:t>19</a:t>
            </a:r>
          </a:p>
        </p:txBody>
      </p:sp>
    </p:spTree>
    <p:extLst>
      <p:ext uri="{BB962C8B-B14F-4D97-AF65-F5344CB8AC3E}">
        <p14:creationId xmlns:p14="http://schemas.microsoft.com/office/powerpoint/2010/main" val="1085100741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" name="Rectangle 23">
            <a:extLst>
              <a:ext uri="{FF2B5EF4-FFF2-40B4-BE49-F238E27FC236}">
                <a16:creationId xmlns:a16="http://schemas.microsoft.com/office/drawing/2014/main" id="{9AD54677-0EA1-44C4-B63B-E2552946B280}"/>
              </a:ext>
            </a:extLst>
          </p:cNvPr>
          <p:cNvSpPr>
            <a:spLocks noGrp="1"/>
          </p:cNvSpPr>
          <p:nvPr/>
        </p:nvSpPr>
        <p:spPr>
          <a:xfrm>
            <a:off x="685800" y="342900"/>
            <a:ext cx="5715000" cy="2095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/>
          <a:lstStyle/>
          <a:p>
            <a:pPr algn="l">
              <a:defRPr sz="975" b="1">
                <a:solidFill>
                  <a:srgbClr val="000000"/>
                </a:solidFill>
              </a:defRPr>
            </a:pPr>
            <a:r>
              <a:rPr sz="975" b="1">
                <a:solidFill>
                  <a:srgbClr val="000000"/>
                </a:solidFill>
              </a:rPr>
              <a:t>TEAM VOLTERE | IITISoC 2026</a:t>
            </a:r>
          </a:p>
        </p:txBody>
      </p:sp>
      <p:sp>
        <p:nvSpPr>
          <p:cNvPr id="2" name="Rectangle 1">
            <a:extLst>
              <a:ext uri="{FF2B5EF4-FFF2-40B4-BE49-F238E27FC236}">
                <a16:creationId xmlns:a16="http://schemas.microsoft.com/office/drawing/2014/main" id="{C79B4E71-E834-45CF-B433-296B7DAE04AD}"/>
              </a:ext>
            </a:extLst>
          </p:cNvPr>
          <p:cNvSpPr>
            <a:spLocks noGrp="1"/>
          </p:cNvSpPr>
          <p:nvPr/>
        </p:nvSpPr>
        <p:spPr>
          <a:xfrm>
            <a:off x="685800" y="628650"/>
            <a:ext cx="10763250" cy="5143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/>
          <a:lstStyle/>
          <a:p>
            <a:pPr algn="l">
              <a:defRPr sz="2550" b="1">
                <a:solidFill>
                  <a:srgbClr val="000000"/>
                </a:solidFill>
              </a:defRPr>
            </a:pPr>
            <a:r>
              <a:rPr sz="2550" b="1">
                <a:solidFill>
                  <a:srgbClr val="000000"/>
                </a:solidFill>
              </a:rPr>
              <a:t>Ordinary load/store instructions provide the complete peripheral interface</a:t>
            </a:r>
          </a:p>
        </p:txBody>
      </p:sp>
      <p:sp>
        <p:nvSpPr>
          <p:cNvPr id="3" name="Rectangle: Rounded Corners 2">
            <a:extLst>
              <a:ext uri="{FF2B5EF4-FFF2-40B4-BE49-F238E27FC236}">
                <a16:creationId xmlns:a16="http://schemas.microsoft.com/office/drawing/2014/main" id="{1C5B6DBF-D009-4981-9A9C-1EF02DA4B998}"/>
              </a:ext>
            </a:extLst>
          </p:cNvPr>
          <p:cNvSpPr>
            <a:spLocks noGrp="1"/>
          </p:cNvSpPr>
          <p:nvPr/>
        </p:nvSpPr>
        <p:spPr>
          <a:xfrm>
            <a:off x="1381125" y="1428750"/>
            <a:ext cx="9144000" cy="409575"/>
          </a:xfrm>
          <a:prstGeom prst="roundRect">
            <a:avLst>
              <a:gd name="adj" fmla="val 18605"/>
            </a:avLst>
          </a:prstGeom>
          <a:solidFill>
            <a:srgbClr val="F7F7F7"/>
          </a:solidFill>
          <a:ln w="9525">
            <a:solidFill>
              <a:srgbClr val="B5B5B5"/>
            </a:solidFill>
            <a:prstDash val="solid"/>
          </a:ln>
        </p:spPr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4B128AFC-531B-4DFC-BEF6-87173E93D3EC}"/>
              </a:ext>
            </a:extLst>
          </p:cNvPr>
          <p:cNvSpPr>
            <a:spLocks noGrp="1"/>
          </p:cNvSpPr>
          <p:nvPr/>
        </p:nvSpPr>
        <p:spPr>
          <a:xfrm>
            <a:off x="1619250" y="1524000"/>
            <a:ext cx="952500" cy="2095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/>
          <a:lstStyle/>
          <a:p>
            <a:pPr algn="l">
              <a:defRPr sz="1350" b="1">
                <a:solidFill>
                  <a:srgbClr val="000000"/>
                </a:solidFill>
              </a:defRPr>
            </a:pPr>
            <a:r>
              <a:rPr sz="1350" b="1">
                <a:solidFill>
                  <a:srgbClr val="000000"/>
                </a:solidFill>
              </a:rPr>
              <a:t>0xFA</a:t>
            </a:r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E4E748C3-AB53-4FDB-A183-E689DCCB6D47}"/>
              </a:ext>
            </a:extLst>
          </p:cNvPr>
          <p:cNvSpPr>
            <a:spLocks noGrp="1"/>
          </p:cNvSpPr>
          <p:nvPr/>
        </p:nvSpPr>
        <p:spPr>
          <a:xfrm>
            <a:off x="3000375" y="1524000"/>
            <a:ext cx="7048500" cy="2095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/>
          <a:lstStyle/>
          <a:p>
            <a:pPr algn="l">
              <a:defRPr sz="1350" b="0">
                <a:solidFill>
                  <a:srgbClr val="000000"/>
                </a:solidFill>
              </a:defRPr>
            </a:pPr>
            <a:r>
              <a:rPr sz="1350" b="0">
                <a:solidFill>
                  <a:srgbClr val="000000"/>
                </a:solidFill>
              </a:rPr>
              <a:t>UART status: overrun, TX-ready, RX-valid</a:t>
            </a:r>
          </a:p>
        </p:txBody>
      </p:sp>
      <p:sp>
        <p:nvSpPr>
          <p:cNvPr id="6" name="Rectangle: Rounded Corners 5">
            <a:extLst>
              <a:ext uri="{FF2B5EF4-FFF2-40B4-BE49-F238E27FC236}">
                <a16:creationId xmlns:a16="http://schemas.microsoft.com/office/drawing/2014/main" id="{218BAF26-E561-4256-90C6-2ED6A9437DC7}"/>
              </a:ext>
            </a:extLst>
          </p:cNvPr>
          <p:cNvSpPr>
            <a:spLocks noGrp="1"/>
          </p:cNvSpPr>
          <p:nvPr/>
        </p:nvSpPr>
        <p:spPr>
          <a:xfrm>
            <a:off x="1381125" y="1971675"/>
            <a:ext cx="9144000" cy="409575"/>
          </a:xfrm>
          <a:prstGeom prst="roundRect">
            <a:avLst>
              <a:gd name="adj" fmla="val 18605"/>
            </a:avLst>
          </a:prstGeom>
          <a:solidFill>
            <a:srgbClr val="F7F7F7"/>
          </a:solidFill>
          <a:ln w="9525">
            <a:solidFill>
              <a:srgbClr val="B5B5B5"/>
            </a:solidFill>
            <a:prstDash val="solid"/>
          </a:ln>
        </p:spPr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09647792-B2BD-423D-8316-D6DE8DCC9C69}"/>
              </a:ext>
            </a:extLst>
          </p:cNvPr>
          <p:cNvSpPr>
            <a:spLocks noGrp="1"/>
          </p:cNvSpPr>
          <p:nvPr/>
        </p:nvSpPr>
        <p:spPr>
          <a:xfrm>
            <a:off x="1619250" y="2066925"/>
            <a:ext cx="952500" cy="2095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/>
          <a:lstStyle/>
          <a:p>
            <a:pPr algn="l">
              <a:defRPr sz="1350" b="1">
                <a:solidFill>
                  <a:srgbClr val="000000"/>
                </a:solidFill>
              </a:defRPr>
            </a:pPr>
            <a:r>
              <a:rPr sz="1350" b="1">
                <a:solidFill>
                  <a:srgbClr val="000000"/>
                </a:solidFill>
              </a:rPr>
              <a:t>0xFB</a:t>
            </a:r>
          </a:p>
        </p:txBody>
      </p:sp>
      <p:sp>
        <p:nvSpPr>
          <p:cNvPr id="8" name="Rectangle 7">
            <a:extLst>
              <a:ext uri="{FF2B5EF4-FFF2-40B4-BE49-F238E27FC236}">
                <a16:creationId xmlns:a16="http://schemas.microsoft.com/office/drawing/2014/main" id="{00B22489-EEEC-4088-A0DE-295E9AD057CF}"/>
              </a:ext>
            </a:extLst>
          </p:cNvPr>
          <p:cNvSpPr>
            <a:spLocks noGrp="1"/>
          </p:cNvSpPr>
          <p:nvPr/>
        </p:nvSpPr>
        <p:spPr>
          <a:xfrm>
            <a:off x="3000375" y="2066925"/>
            <a:ext cx="7048500" cy="2095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/>
          <a:lstStyle/>
          <a:p>
            <a:pPr algn="l">
              <a:defRPr sz="1350" b="0">
                <a:solidFill>
                  <a:srgbClr val="000000"/>
                </a:solidFill>
              </a:defRPr>
            </a:pPr>
            <a:r>
              <a:rPr sz="1350" b="0">
                <a:solidFill>
                  <a:srgbClr val="000000"/>
                </a:solidFill>
              </a:rPr>
              <a:t>UART received data</a:t>
            </a:r>
          </a:p>
        </p:txBody>
      </p:sp>
      <p:sp>
        <p:nvSpPr>
          <p:cNvPr id="9" name="Rectangle: Rounded Corners 8">
            <a:extLst>
              <a:ext uri="{FF2B5EF4-FFF2-40B4-BE49-F238E27FC236}">
                <a16:creationId xmlns:a16="http://schemas.microsoft.com/office/drawing/2014/main" id="{2766B48C-9BA4-48B5-AF76-0DE93E8856F2}"/>
              </a:ext>
            </a:extLst>
          </p:cNvPr>
          <p:cNvSpPr>
            <a:spLocks noGrp="1"/>
          </p:cNvSpPr>
          <p:nvPr/>
        </p:nvSpPr>
        <p:spPr>
          <a:xfrm>
            <a:off x="1381125" y="2514600"/>
            <a:ext cx="9144000" cy="409575"/>
          </a:xfrm>
          <a:prstGeom prst="roundRect">
            <a:avLst>
              <a:gd name="adj" fmla="val 18605"/>
            </a:avLst>
          </a:prstGeom>
          <a:solidFill>
            <a:srgbClr val="F7F7F7"/>
          </a:solidFill>
          <a:ln w="9525">
            <a:solidFill>
              <a:srgbClr val="B5B5B5"/>
            </a:solidFill>
            <a:prstDash val="solid"/>
          </a:ln>
        </p:spPr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2FE0B8CB-427D-480A-846C-CC12B0F6695A}"/>
              </a:ext>
            </a:extLst>
          </p:cNvPr>
          <p:cNvSpPr>
            <a:spLocks noGrp="1"/>
          </p:cNvSpPr>
          <p:nvPr/>
        </p:nvSpPr>
        <p:spPr>
          <a:xfrm>
            <a:off x="1619250" y="2609850"/>
            <a:ext cx="952500" cy="2095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/>
          <a:lstStyle/>
          <a:p>
            <a:pPr algn="l">
              <a:defRPr sz="1350" b="1">
                <a:solidFill>
                  <a:srgbClr val="000000"/>
                </a:solidFill>
              </a:defRPr>
            </a:pPr>
            <a:r>
              <a:rPr sz="1350" b="1">
                <a:solidFill>
                  <a:srgbClr val="000000"/>
                </a:solidFill>
              </a:rPr>
              <a:t>0xFC</a:t>
            </a:r>
          </a:p>
        </p:txBody>
      </p:sp>
      <p:sp>
        <p:nvSpPr>
          <p:cNvPr id="11" name="Rectangle 10">
            <a:extLst>
              <a:ext uri="{FF2B5EF4-FFF2-40B4-BE49-F238E27FC236}">
                <a16:creationId xmlns:a16="http://schemas.microsoft.com/office/drawing/2014/main" id="{E5B0A89D-0F27-4197-ACB2-81BDBC407DAB}"/>
              </a:ext>
            </a:extLst>
          </p:cNvPr>
          <p:cNvSpPr>
            <a:spLocks noGrp="1"/>
          </p:cNvSpPr>
          <p:nvPr/>
        </p:nvSpPr>
        <p:spPr>
          <a:xfrm>
            <a:off x="3000375" y="2609850"/>
            <a:ext cx="7048500" cy="2095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/>
          <a:lstStyle/>
          <a:p>
            <a:pPr algn="l">
              <a:defRPr sz="1350" b="0">
                <a:solidFill>
                  <a:srgbClr val="000000"/>
                </a:solidFill>
              </a:defRPr>
            </a:pPr>
            <a:r>
              <a:rPr sz="1350" b="0">
                <a:solidFill>
                  <a:srgbClr val="000000"/>
                </a:solidFill>
              </a:rPr>
              <a:t>UART transmit data</a:t>
            </a:r>
          </a:p>
        </p:txBody>
      </p:sp>
      <p:sp>
        <p:nvSpPr>
          <p:cNvPr id="12" name="Rectangle: Rounded Corners 11">
            <a:extLst>
              <a:ext uri="{FF2B5EF4-FFF2-40B4-BE49-F238E27FC236}">
                <a16:creationId xmlns:a16="http://schemas.microsoft.com/office/drawing/2014/main" id="{CA310D45-8361-4B0D-BEAF-63FD0D0976CE}"/>
              </a:ext>
            </a:extLst>
          </p:cNvPr>
          <p:cNvSpPr>
            <a:spLocks noGrp="1"/>
          </p:cNvSpPr>
          <p:nvPr/>
        </p:nvSpPr>
        <p:spPr>
          <a:xfrm>
            <a:off x="1381125" y="3057525"/>
            <a:ext cx="9144000" cy="409575"/>
          </a:xfrm>
          <a:prstGeom prst="roundRect">
            <a:avLst>
              <a:gd name="adj" fmla="val 18605"/>
            </a:avLst>
          </a:prstGeom>
          <a:solidFill>
            <a:srgbClr val="F7F7F7"/>
          </a:solidFill>
          <a:ln w="9525">
            <a:solidFill>
              <a:srgbClr val="B5B5B5"/>
            </a:solidFill>
            <a:prstDash val="solid"/>
          </a:ln>
        </p:spPr>
      </p:sp>
      <p:sp>
        <p:nvSpPr>
          <p:cNvPr id="13" name="Rectangle 12">
            <a:extLst>
              <a:ext uri="{FF2B5EF4-FFF2-40B4-BE49-F238E27FC236}">
                <a16:creationId xmlns:a16="http://schemas.microsoft.com/office/drawing/2014/main" id="{5861A5CD-87B3-4ECE-9721-3A733FF28557}"/>
              </a:ext>
            </a:extLst>
          </p:cNvPr>
          <p:cNvSpPr>
            <a:spLocks noGrp="1"/>
          </p:cNvSpPr>
          <p:nvPr/>
        </p:nvSpPr>
        <p:spPr>
          <a:xfrm>
            <a:off x="1619250" y="3152775"/>
            <a:ext cx="952500" cy="2095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/>
          <a:lstStyle/>
          <a:p>
            <a:pPr algn="l">
              <a:defRPr sz="1350" b="1">
                <a:solidFill>
                  <a:srgbClr val="000000"/>
                </a:solidFill>
              </a:defRPr>
            </a:pPr>
            <a:r>
              <a:rPr sz="1350" b="1">
                <a:solidFill>
                  <a:srgbClr val="000000"/>
                </a:solidFill>
              </a:rPr>
              <a:t>0xFD</a:t>
            </a:r>
          </a:p>
        </p:txBody>
      </p:sp>
      <p:sp>
        <p:nvSpPr>
          <p:cNvPr id="14" name="Rectangle 13">
            <a:extLst>
              <a:ext uri="{FF2B5EF4-FFF2-40B4-BE49-F238E27FC236}">
                <a16:creationId xmlns:a16="http://schemas.microsoft.com/office/drawing/2014/main" id="{2FE6D38B-B2A1-4C31-8211-6FDD0FCAE884}"/>
              </a:ext>
            </a:extLst>
          </p:cNvPr>
          <p:cNvSpPr>
            <a:spLocks noGrp="1"/>
          </p:cNvSpPr>
          <p:nvPr/>
        </p:nvSpPr>
        <p:spPr>
          <a:xfrm>
            <a:off x="3000375" y="3152775"/>
            <a:ext cx="7048500" cy="2095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/>
          <a:lstStyle/>
          <a:p>
            <a:pPr algn="l">
              <a:defRPr sz="1350" b="0">
                <a:solidFill>
                  <a:srgbClr val="000000"/>
                </a:solidFill>
              </a:defRPr>
            </a:pPr>
            <a:r>
              <a:rPr sz="1350" b="0">
                <a:solidFill>
                  <a:srgbClr val="000000"/>
                </a:solidFill>
              </a:rPr>
              <a:t>External ADC input</a:t>
            </a:r>
          </a:p>
        </p:txBody>
      </p:sp>
      <p:sp>
        <p:nvSpPr>
          <p:cNvPr id="15" name="Rectangle: Rounded Corners 14">
            <a:extLst>
              <a:ext uri="{FF2B5EF4-FFF2-40B4-BE49-F238E27FC236}">
                <a16:creationId xmlns:a16="http://schemas.microsoft.com/office/drawing/2014/main" id="{EBEC94D8-6414-42D5-A103-E417D6615C8C}"/>
              </a:ext>
            </a:extLst>
          </p:cNvPr>
          <p:cNvSpPr>
            <a:spLocks noGrp="1"/>
          </p:cNvSpPr>
          <p:nvPr/>
        </p:nvSpPr>
        <p:spPr>
          <a:xfrm>
            <a:off x="1381125" y="3600450"/>
            <a:ext cx="9144000" cy="409575"/>
          </a:xfrm>
          <a:prstGeom prst="roundRect">
            <a:avLst>
              <a:gd name="adj" fmla="val 18605"/>
            </a:avLst>
          </a:prstGeom>
          <a:solidFill>
            <a:srgbClr val="F7F7F7"/>
          </a:solidFill>
          <a:ln w="9525">
            <a:solidFill>
              <a:srgbClr val="B5B5B5"/>
            </a:solidFill>
            <a:prstDash val="solid"/>
          </a:ln>
        </p:spPr>
      </p:sp>
      <p:sp>
        <p:nvSpPr>
          <p:cNvPr id="16" name="Rectangle 15">
            <a:extLst>
              <a:ext uri="{FF2B5EF4-FFF2-40B4-BE49-F238E27FC236}">
                <a16:creationId xmlns:a16="http://schemas.microsoft.com/office/drawing/2014/main" id="{56FE1311-430A-460D-94B1-E726404022A2}"/>
              </a:ext>
            </a:extLst>
          </p:cNvPr>
          <p:cNvSpPr>
            <a:spLocks noGrp="1"/>
          </p:cNvSpPr>
          <p:nvPr/>
        </p:nvSpPr>
        <p:spPr>
          <a:xfrm>
            <a:off x="1619250" y="3695700"/>
            <a:ext cx="952500" cy="2095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/>
          <a:lstStyle/>
          <a:p>
            <a:pPr algn="l">
              <a:defRPr sz="1350" b="1">
                <a:solidFill>
                  <a:srgbClr val="000000"/>
                </a:solidFill>
              </a:defRPr>
            </a:pPr>
            <a:r>
              <a:rPr sz="1350" b="1">
                <a:solidFill>
                  <a:srgbClr val="000000"/>
                </a:solidFill>
              </a:rPr>
              <a:t>0xFE</a:t>
            </a:r>
          </a:p>
        </p:txBody>
      </p:sp>
      <p:sp>
        <p:nvSpPr>
          <p:cNvPr id="17" name="Rectangle 16">
            <a:extLst>
              <a:ext uri="{FF2B5EF4-FFF2-40B4-BE49-F238E27FC236}">
                <a16:creationId xmlns:a16="http://schemas.microsoft.com/office/drawing/2014/main" id="{4CC215F0-B784-49F7-B26A-709BB73B339A}"/>
              </a:ext>
            </a:extLst>
          </p:cNvPr>
          <p:cNvSpPr>
            <a:spLocks noGrp="1"/>
          </p:cNvSpPr>
          <p:nvPr/>
        </p:nvSpPr>
        <p:spPr>
          <a:xfrm>
            <a:off x="3000375" y="3695700"/>
            <a:ext cx="7048500" cy="2095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/>
          <a:lstStyle/>
          <a:p>
            <a:pPr algn="l">
              <a:defRPr sz="1350" b="0">
                <a:solidFill>
                  <a:srgbClr val="000000"/>
                </a:solidFill>
              </a:defRPr>
            </a:pPr>
            <a:r>
              <a:rPr sz="1350" b="0">
                <a:solidFill>
                  <a:srgbClr val="000000"/>
                </a:solidFill>
              </a:rPr>
              <a:t>External digital input</a:t>
            </a:r>
          </a:p>
        </p:txBody>
      </p:sp>
      <p:sp>
        <p:nvSpPr>
          <p:cNvPr id="18" name="Rectangle: Rounded Corners 17">
            <a:extLst>
              <a:ext uri="{FF2B5EF4-FFF2-40B4-BE49-F238E27FC236}">
                <a16:creationId xmlns:a16="http://schemas.microsoft.com/office/drawing/2014/main" id="{E56404D8-118D-449B-9379-6E0293F5333B}"/>
              </a:ext>
            </a:extLst>
          </p:cNvPr>
          <p:cNvSpPr>
            <a:spLocks noGrp="1"/>
          </p:cNvSpPr>
          <p:nvPr/>
        </p:nvSpPr>
        <p:spPr>
          <a:xfrm>
            <a:off x="1381125" y="4143375"/>
            <a:ext cx="9144000" cy="409575"/>
          </a:xfrm>
          <a:prstGeom prst="roundRect">
            <a:avLst>
              <a:gd name="adj" fmla="val 18605"/>
            </a:avLst>
          </a:prstGeom>
          <a:solidFill>
            <a:srgbClr val="F7F7F7"/>
          </a:solidFill>
          <a:ln w="9525">
            <a:solidFill>
              <a:srgbClr val="B5B5B5"/>
            </a:solidFill>
            <a:prstDash val="solid"/>
          </a:ln>
        </p:spPr>
      </p:sp>
      <p:sp>
        <p:nvSpPr>
          <p:cNvPr id="19" name="Rectangle 18">
            <a:extLst>
              <a:ext uri="{FF2B5EF4-FFF2-40B4-BE49-F238E27FC236}">
                <a16:creationId xmlns:a16="http://schemas.microsoft.com/office/drawing/2014/main" id="{6C86A546-1B14-4513-A987-7085E1676140}"/>
              </a:ext>
            </a:extLst>
          </p:cNvPr>
          <p:cNvSpPr>
            <a:spLocks noGrp="1"/>
          </p:cNvSpPr>
          <p:nvPr/>
        </p:nvSpPr>
        <p:spPr>
          <a:xfrm>
            <a:off x="1619250" y="4238625"/>
            <a:ext cx="952500" cy="2095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/>
          <a:lstStyle/>
          <a:p>
            <a:pPr algn="l">
              <a:defRPr sz="1350" b="1">
                <a:solidFill>
                  <a:srgbClr val="000000"/>
                </a:solidFill>
              </a:defRPr>
            </a:pPr>
            <a:r>
              <a:rPr sz="1350" b="1">
                <a:solidFill>
                  <a:srgbClr val="000000"/>
                </a:solidFill>
              </a:rPr>
              <a:t>0xFF</a:t>
            </a:r>
          </a:p>
        </p:txBody>
      </p:sp>
      <p:sp>
        <p:nvSpPr>
          <p:cNvPr id="20" name="Rectangle 19">
            <a:extLst>
              <a:ext uri="{FF2B5EF4-FFF2-40B4-BE49-F238E27FC236}">
                <a16:creationId xmlns:a16="http://schemas.microsoft.com/office/drawing/2014/main" id="{92F97C88-FDCD-4983-AC73-62B725D1B95A}"/>
              </a:ext>
            </a:extLst>
          </p:cNvPr>
          <p:cNvSpPr>
            <a:spLocks noGrp="1"/>
          </p:cNvSpPr>
          <p:nvPr/>
        </p:nvSpPr>
        <p:spPr>
          <a:xfrm>
            <a:off x="3000375" y="4238625"/>
            <a:ext cx="7048500" cy="2095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/>
          <a:lstStyle/>
          <a:p>
            <a:pPr algn="l">
              <a:defRPr sz="1350" b="0">
                <a:solidFill>
                  <a:srgbClr val="000000"/>
                </a:solidFill>
              </a:defRPr>
            </a:pPr>
            <a:r>
              <a:rPr sz="1350" b="0">
                <a:solidFill>
                  <a:srgbClr val="000000"/>
                </a:solidFill>
              </a:rPr>
              <a:t>PWM motor duty-cycle register</a:t>
            </a:r>
          </a:p>
        </p:txBody>
      </p:sp>
      <p:sp>
        <p:nvSpPr>
          <p:cNvPr id="21" name="Rectangle 20">
            <a:extLst>
              <a:ext uri="{FF2B5EF4-FFF2-40B4-BE49-F238E27FC236}">
                <a16:creationId xmlns:a16="http://schemas.microsoft.com/office/drawing/2014/main" id="{BA9984A8-1579-4418-9C84-86A4683363A5}"/>
              </a:ext>
            </a:extLst>
          </p:cNvPr>
          <p:cNvSpPr>
            <a:spLocks noGrp="1"/>
          </p:cNvSpPr>
          <p:nvPr/>
        </p:nvSpPr>
        <p:spPr>
          <a:xfrm>
            <a:off x="1381125" y="5191125"/>
            <a:ext cx="9144000" cy="33337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/>
          <a:lstStyle/>
          <a:p>
            <a:pPr algn="ctr">
              <a:defRPr sz="1650" b="1">
                <a:solidFill>
                  <a:srgbClr val="000000"/>
                </a:solidFill>
              </a:defRPr>
            </a:pPr>
            <a:r>
              <a:rPr sz="1650" b="1">
                <a:solidFill>
                  <a:srgbClr val="000000"/>
                </a:solidFill>
              </a:rPr>
              <a:t>UART operates at 115200 baud. PWM provides 256 duty-cycle levels.</a:t>
            </a:r>
          </a:p>
        </p:txBody>
      </p:sp>
      <p:sp>
        <p:nvSpPr>
          <p:cNvPr id="22" name="Rectangle 21">
            <a:extLst>
              <a:ext uri="{FF2B5EF4-FFF2-40B4-BE49-F238E27FC236}">
                <a16:creationId xmlns:a16="http://schemas.microsoft.com/office/drawing/2014/main" id="{64DE169A-3D95-4E7A-AA26-61131B3EABF5}"/>
              </a:ext>
            </a:extLst>
          </p:cNvPr>
          <p:cNvSpPr>
            <a:spLocks noGrp="1"/>
          </p:cNvSpPr>
          <p:nvPr/>
        </p:nvSpPr>
        <p:spPr>
          <a:xfrm>
            <a:off x="685800" y="6496050"/>
            <a:ext cx="7048500" cy="1714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/>
          <a:lstStyle/>
          <a:p>
            <a:pPr algn="l">
              <a:defRPr sz="825" b="0">
                <a:solidFill>
                  <a:srgbClr val="000000"/>
                </a:solidFill>
              </a:defRPr>
            </a:pPr>
            <a:r>
              <a:rPr sz="825" b="0">
                <a:solidFill>
                  <a:srgbClr val="000000"/>
                </a:solidFill>
              </a:rPr>
              <a:t>Team VOLTERE | 8-bit Pipelined Microprocessor</a:t>
            </a:r>
          </a:p>
        </p:txBody>
      </p:sp>
      <p:sp>
        <p:nvSpPr>
          <p:cNvPr id="23" name="Rectangle 22">
            <a:extLst>
              <a:ext uri="{FF2B5EF4-FFF2-40B4-BE49-F238E27FC236}">
                <a16:creationId xmlns:a16="http://schemas.microsoft.com/office/drawing/2014/main" id="{A992A077-5A15-4759-B168-B098E28BF4F6}"/>
              </a:ext>
            </a:extLst>
          </p:cNvPr>
          <p:cNvSpPr>
            <a:spLocks noGrp="1"/>
          </p:cNvSpPr>
          <p:nvPr/>
        </p:nvSpPr>
        <p:spPr>
          <a:xfrm>
            <a:off x="11001375" y="6477000"/>
            <a:ext cx="495300" cy="1714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/>
          <a:lstStyle/>
          <a:p>
            <a:pPr algn="r">
              <a:defRPr sz="825" b="1">
                <a:solidFill>
                  <a:srgbClr val="000000"/>
                </a:solidFill>
              </a:defRPr>
            </a:pPr>
            <a:r>
              <a:rPr sz="825" b="1">
                <a:solidFill>
                  <a:srgbClr val="000000"/>
                </a:solidFill>
              </a:rPr>
              <a:t>20</a:t>
            </a:r>
          </a:p>
        </p:txBody>
      </p:sp>
    </p:spTree>
    <p:extLst>
      <p:ext uri="{BB962C8B-B14F-4D97-AF65-F5344CB8AC3E}">
        <p14:creationId xmlns:p14="http://schemas.microsoft.com/office/powerpoint/2010/main" val="1553058759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Rectangle 11">
            <a:extLst>
              <a:ext uri="{FF2B5EF4-FFF2-40B4-BE49-F238E27FC236}">
                <a16:creationId xmlns:a16="http://schemas.microsoft.com/office/drawing/2014/main" id="{6C8436A2-0686-4441-A5C6-7D327B2B55FF}"/>
              </a:ext>
            </a:extLst>
          </p:cNvPr>
          <p:cNvSpPr>
            <a:spLocks noGrp="1"/>
          </p:cNvSpPr>
          <p:nvPr/>
        </p:nvSpPr>
        <p:spPr>
          <a:xfrm>
            <a:off x="685800" y="342900"/>
            <a:ext cx="5715000" cy="2095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/>
          <a:lstStyle/>
          <a:p>
            <a:pPr algn="l">
              <a:defRPr sz="975" b="1">
                <a:solidFill>
                  <a:srgbClr val="000000"/>
                </a:solidFill>
              </a:defRPr>
            </a:pPr>
            <a:r>
              <a:rPr sz="975" b="1">
                <a:solidFill>
                  <a:srgbClr val="000000"/>
                </a:solidFill>
              </a:rPr>
              <a:t>TEAM VOLTERE | IITISoC 2026</a:t>
            </a:r>
          </a:p>
        </p:txBody>
      </p:sp>
      <p:sp>
        <p:nvSpPr>
          <p:cNvPr id="2" name="Rectangle 1">
            <a:extLst>
              <a:ext uri="{FF2B5EF4-FFF2-40B4-BE49-F238E27FC236}">
                <a16:creationId xmlns:a16="http://schemas.microsoft.com/office/drawing/2014/main" id="{81D61C7D-16FA-49C4-BBDE-4F52B5D69536}"/>
              </a:ext>
            </a:extLst>
          </p:cNvPr>
          <p:cNvSpPr>
            <a:spLocks noGrp="1"/>
          </p:cNvSpPr>
          <p:nvPr/>
        </p:nvSpPr>
        <p:spPr>
          <a:xfrm>
            <a:off x="685800" y="628650"/>
            <a:ext cx="10763250" cy="5143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/>
          <a:lstStyle/>
          <a:p>
            <a:pPr algn="l">
              <a:defRPr sz="2550" b="1">
                <a:solidFill>
                  <a:srgbClr val="000000"/>
                </a:solidFill>
              </a:defRPr>
            </a:pPr>
            <a:r>
              <a:rPr sz="2550" b="1">
                <a:solidFill>
                  <a:srgbClr val="000000"/>
                </a:solidFill>
              </a:rPr>
              <a:t>The saved verification suite covers CPU function, hazards, peripherals, and UART communication</a:t>
            </a:r>
          </a:p>
        </p:txBody>
      </p:sp>
      <p:sp>
        <p:nvSpPr>
          <p:cNvPr id="3" name="Rectangle 2">
            <a:extLst>
              <a:ext uri="{FF2B5EF4-FFF2-40B4-BE49-F238E27FC236}">
                <a16:creationId xmlns:a16="http://schemas.microsoft.com/office/drawing/2014/main" id="{3D515A66-0185-45AE-A135-93E6B797AC7A}"/>
              </a:ext>
            </a:extLst>
          </p:cNvPr>
          <p:cNvSpPr>
            <a:spLocks noGrp="1"/>
          </p:cNvSpPr>
          <p:nvPr/>
        </p:nvSpPr>
        <p:spPr>
          <a:xfrm>
            <a:off x="876300" y="1476375"/>
            <a:ext cx="9906000" cy="3048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/>
          <a:lstStyle/>
          <a:p>
            <a:pPr algn="l">
              <a:defRPr sz="1500" b="0">
                <a:solidFill>
                  <a:srgbClr val="000000"/>
                </a:solidFill>
              </a:defRPr>
            </a:pPr>
            <a:r>
              <a:rPr sz="1500" b="0">
                <a:solidFill>
                  <a:srgbClr val="000000"/>
                </a:solidFill>
              </a:rPr>
              <a:t>•  Arithmetic, logic, memory, and control instructions</a:t>
            </a:r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5082F8C8-B72B-461B-96C2-005422F116F1}"/>
              </a:ext>
            </a:extLst>
          </p:cNvPr>
          <p:cNvSpPr>
            <a:spLocks noGrp="1"/>
          </p:cNvSpPr>
          <p:nvPr/>
        </p:nvSpPr>
        <p:spPr>
          <a:xfrm>
            <a:off x="876300" y="1866900"/>
            <a:ext cx="9906000" cy="3048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/>
          <a:lstStyle/>
          <a:p>
            <a:pPr algn="l">
              <a:defRPr sz="1500" b="0">
                <a:solidFill>
                  <a:srgbClr val="000000"/>
                </a:solidFill>
              </a:defRPr>
            </a:pPr>
            <a:r>
              <a:rPr sz="1500" b="0">
                <a:solidFill>
                  <a:srgbClr val="000000"/>
                </a:solidFill>
              </a:rPr>
              <a:t>•  EX→EX and MEM→EX forwarding; load-use stalling; R0 protection</a:t>
            </a:r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F5C4F7BC-32F2-409E-BB82-8EC00D913421}"/>
              </a:ext>
            </a:extLst>
          </p:cNvPr>
          <p:cNvSpPr>
            <a:spLocks noGrp="1"/>
          </p:cNvSpPr>
          <p:nvPr/>
        </p:nvSpPr>
        <p:spPr>
          <a:xfrm>
            <a:off x="876300" y="2257425"/>
            <a:ext cx="9906000" cy="3048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/>
          <a:lstStyle/>
          <a:p>
            <a:pPr algn="l">
              <a:defRPr sz="1500" b="0">
                <a:solidFill>
                  <a:srgbClr val="000000"/>
                </a:solidFill>
              </a:defRPr>
            </a:pPr>
            <a:r>
              <a:rPr sz="1500" b="0">
                <a:solidFill>
                  <a:srgbClr val="000000"/>
                </a:solidFill>
              </a:rPr>
              <a:t>•  Branch prediction, JAL/JR, and pipeline flush recovery</a:t>
            </a:r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8706136E-218E-4DD7-9FB5-D889211861DB}"/>
              </a:ext>
            </a:extLst>
          </p:cNvPr>
          <p:cNvSpPr>
            <a:spLocks noGrp="1"/>
          </p:cNvSpPr>
          <p:nvPr/>
        </p:nvSpPr>
        <p:spPr>
          <a:xfrm>
            <a:off x="876300" y="2647950"/>
            <a:ext cx="9906000" cy="3048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/>
          <a:lstStyle/>
          <a:p>
            <a:pPr algn="l">
              <a:defRPr sz="1500" b="0">
                <a:solidFill>
                  <a:srgbClr val="000000"/>
                </a:solidFill>
              </a:defRPr>
            </a:pPr>
            <a:r>
              <a:rPr sz="1500" b="0">
                <a:solidFill>
                  <a:srgbClr val="000000"/>
                </a:solidFill>
              </a:rPr>
              <a:t>•  Exceptions, MFC0, ERET, and interrupt support</a:t>
            </a:r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72BBD662-9916-40D1-A9CF-9FE444B3B58D}"/>
              </a:ext>
            </a:extLst>
          </p:cNvPr>
          <p:cNvSpPr>
            <a:spLocks noGrp="1"/>
          </p:cNvSpPr>
          <p:nvPr/>
        </p:nvSpPr>
        <p:spPr>
          <a:xfrm>
            <a:off x="876300" y="3038475"/>
            <a:ext cx="9906000" cy="3048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/>
          <a:lstStyle/>
          <a:p>
            <a:pPr algn="l">
              <a:defRPr sz="1500" b="0">
                <a:solidFill>
                  <a:srgbClr val="000000"/>
                </a:solidFill>
              </a:defRPr>
            </a:pPr>
            <a:r>
              <a:rPr sz="1500" b="0">
                <a:solidFill>
                  <a:srgbClr val="000000"/>
                </a:solidFill>
              </a:rPr>
              <a:t>•  GPIO, ADC, PWM, UART TX, and UART TX→RX loopback</a:t>
            </a:r>
          </a:p>
        </p:txBody>
      </p:sp>
      <p:sp>
        <p:nvSpPr>
          <p:cNvPr id="8" name="Rectangle: Rounded Corners 7">
            <a:extLst>
              <a:ext uri="{FF2B5EF4-FFF2-40B4-BE49-F238E27FC236}">
                <a16:creationId xmlns:a16="http://schemas.microsoft.com/office/drawing/2014/main" id="{F02C606D-939B-4678-B9B9-99B8F15E706B}"/>
              </a:ext>
            </a:extLst>
          </p:cNvPr>
          <p:cNvSpPr>
            <a:spLocks noGrp="1"/>
          </p:cNvSpPr>
          <p:nvPr/>
        </p:nvSpPr>
        <p:spPr>
          <a:xfrm>
            <a:off x="1047750" y="4762500"/>
            <a:ext cx="9810750" cy="762000"/>
          </a:xfrm>
          <a:prstGeom prst="roundRect">
            <a:avLst>
              <a:gd name="adj" fmla="val 10000"/>
            </a:avLst>
          </a:prstGeom>
          <a:solidFill>
            <a:srgbClr val="F7F7F7"/>
          </a:solidFill>
          <a:ln w="9525">
            <a:solidFill>
              <a:srgbClr val="B5B5B5"/>
            </a:solidFill>
            <a:prstDash val="solid"/>
          </a:ln>
        </p:spPr>
      </p:sp>
      <p:sp>
        <p:nvSpPr>
          <p:cNvPr id="9" name="Rectangle 8">
            <a:extLst>
              <a:ext uri="{FF2B5EF4-FFF2-40B4-BE49-F238E27FC236}">
                <a16:creationId xmlns:a16="http://schemas.microsoft.com/office/drawing/2014/main" id="{063D5E94-DB20-47D0-B4B6-8B9EC823B354}"/>
              </a:ext>
            </a:extLst>
          </p:cNvPr>
          <p:cNvSpPr>
            <a:spLocks noGrp="1"/>
          </p:cNvSpPr>
          <p:nvPr/>
        </p:nvSpPr>
        <p:spPr>
          <a:xfrm>
            <a:off x="1333500" y="4953000"/>
            <a:ext cx="9191625" cy="3429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/>
          <a:lstStyle/>
          <a:p>
            <a:pPr algn="ctr">
              <a:defRPr sz="1575" b="1">
                <a:solidFill>
                  <a:srgbClr val="000000"/>
                </a:solidFill>
              </a:defRPr>
            </a:pPr>
            <a:r>
              <a:rPr sz="1575" b="1">
                <a:solidFill>
                  <a:srgbClr val="000000"/>
                </a:solidFill>
              </a:rPr>
              <a:t>UART loopback: transmitted 0x35, polled RX-valid, received 0x35, and loaded 0x35 into R2.</a:t>
            </a:r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88506F85-CCC3-4DD0-8A6C-AF538EAA5BE2}"/>
              </a:ext>
            </a:extLst>
          </p:cNvPr>
          <p:cNvSpPr>
            <a:spLocks noGrp="1"/>
          </p:cNvSpPr>
          <p:nvPr/>
        </p:nvSpPr>
        <p:spPr>
          <a:xfrm>
            <a:off x="685800" y="6496050"/>
            <a:ext cx="7048500" cy="1714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/>
          <a:lstStyle/>
          <a:p>
            <a:pPr algn="l">
              <a:defRPr sz="825" b="0">
                <a:solidFill>
                  <a:srgbClr val="000000"/>
                </a:solidFill>
              </a:defRPr>
            </a:pPr>
            <a:r>
              <a:rPr sz="825" b="0">
                <a:solidFill>
                  <a:srgbClr val="000000"/>
                </a:solidFill>
              </a:rPr>
              <a:t>Team VOLTERE | 8-bit Pipelined Microprocessor</a:t>
            </a:r>
          </a:p>
        </p:txBody>
      </p:sp>
      <p:sp>
        <p:nvSpPr>
          <p:cNvPr id="11" name="Rectangle 10">
            <a:extLst>
              <a:ext uri="{FF2B5EF4-FFF2-40B4-BE49-F238E27FC236}">
                <a16:creationId xmlns:a16="http://schemas.microsoft.com/office/drawing/2014/main" id="{76C8D8D8-A8FB-48F2-ADE3-F9A6907C2A31}"/>
              </a:ext>
            </a:extLst>
          </p:cNvPr>
          <p:cNvSpPr>
            <a:spLocks noGrp="1"/>
          </p:cNvSpPr>
          <p:nvPr/>
        </p:nvSpPr>
        <p:spPr>
          <a:xfrm>
            <a:off x="11001375" y="6477000"/>
            <a:ext cx="495300" cy="1714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/>
          <a:lstStyle/>
          <a:p>
            <a:pPr algn="r">
              <a:defRPr sz="825" b="1">
                <a:solidFill>
                  <a:srgbClr val="000000"/>
                </a:solidFill>
              </a:defRPr>
            </a:pPr>
            <a:r>
              <a:rPr sz="825" b="1">
                <a:solidFill>
                  <a:srgbClr val="000000"/>
                </a:solidFill>
              </a:rPr>
              <a:t>21</a:t>
            </a:r>
          </a:p>
        </p:txBody>
      </p:sp>
    </p:spTree>
    <p:extLst>
      <p:ext uri="{BB962C8B-B14F-4D97-AF65-F5344CB8AC3E}">
        <p14:creationId xmlns:p14="http://schemas.microsoft.com/office/powerpoint/2010/main" val="699340650"/>
      </p:ext>
    </p:extLst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" name="Rectangle 21">
            <a:extLst>
              <a:ext uri="{FF2B5EF4-FFF2-40B4-BE49-F238E27FC236}">
                <a16:creationId xmlns:a16="http://schemas.microsoft.com/office/drawing/2014/main" id="{E3FCD01D-5A18-44AA-A19D-080B089C6B22}"/>
              </a:ext>
            </a:extLst>
          </p:cNvPr>
          <p:cNvSpPr>
            <a:spLocks noGrp="1"/>
          </p:cNvSpPr>
          <p:nvPr/>
        </p:nvSpPr>
        <p:spPr>
          <a:xfrm>
            <a:off x="685800" y="342900"/>
            <a:ext cx="5715000" cy="2095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/>
          <a:lstStyle/>
          <a:p>
            <a:pPr algn="l">
              <a:defRPr sz="975" b="1">
                <a:solidFill>
                  <a:srgbClr val="000000"/>
                </a:solidFill>
              </a:defRPr>
            </a:pPr>
            <a:r>
              <a:rPr sz="975" b="1">
                <a:solidFill>
                  <a:srgbClr val="000000"/>
                </a:solidFill>
              </a:rPr>
              <a:t>TEAM VOLTERE | IITISoC 2026</a:t>
            </a:r>
          </a:p>
        </p:txBody>
      </p:sp>
      <p:sp>
        <p:nvSpPr>
          <p:cNvPr id="2" name="Rectangle 1">
            <a:extLst>
              <a:ext uri="{FF2B5EF4-FFF2-40B4-BE49-F238E27FC236}">
                <a16:creationId xmlns:a16="http://schemas.microsoft.com/office/drawing/2014/main" id="{C04426F1-1FDC-4977-9B37-DFB82F25327D}"/>
              </a:ext>
            </a:extLst>
          </p:cNvPr>
          <p:cNvSpPr>
            <a:spLocks noGrp="1"/>
          </p:cNvSpPr>
          <p:nvPr/>
        </p:nvSpPr>
        <p:spPr>
          <a:xfrm>
            <a:off x="685800" y="628650"/>
            <a:ext cx="10763250" cy="5143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/>
          <a:lstStyle/>
          <a:p>
            <a:pPr algn="l">
              <a:defRPr sz="2550" b="1">
                <a:solidFill>
                  <a:srgbClr val="000000"/>
                </a:solidFill>
              </a:defRPr>
            </a:pPr>
            <a:r>
              <a:rPr sz="2550" b="1">
                <a:solidFill>
                  <a:srgbClr val="000000"/>
                </a:solidFill>
              </a:rPr>
              <a:t>Integrated simulation proves pipeline, MAC, memory, PWM, and evaluation-program correctness</a:t>
            </a:r>
          </a:p>
        </p:txBody>
      </p:sp>
      <p:sp>
        <p:nvSpPr>
          <p:cNvPr id="3" name="Rectangle: Rounded Corners 2">
            <a:extLst>
              <a:ext uri="{FF2B5EF4-FFF2-40B4-BE49-F238E27FC236}">
                <a16:creationId xmlns:a16="http://schemas.microsoft.com/office/drawing/2014/main" id="{F697B478-56F8-4620-AF54-5B88E65F3700}"/>
              </a:ext>
            </a:extLst>
          </p:cNvPr>
          <p:cNvSpPr>
            <a:spLocks noGrp="1"/>
          </p:cNvSpPr>
          <p:nvPr/>
        </p:nvSpPr>
        <p:spPr>
          <a:xfrm>
            <a:off x="762000" y="1381125"/>
            <a:ext cx="4857750" cy="3429000"/>
          </a:xfrm>
          <a:prstGeom prst="roundRect">
            <a:avLst>
              <a:gd name="adj" fmla="val 2222"/>
            </a:avLst>
          </a:prstGeom>
          <a:solidFill>
            <a:srgbClr val="F7F7F7"/>
          </a:solidFill>
          <a:ln w="9525">
            <a:solidFill>
              <a:srgbClr val="B5B5B5"/>
            </a:solidFill>
            <a:prstDash val="solid"/>
          </a:ln>
        </p:spPr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67B536EE-93F6-4628-935A-E56B39C2A2C0}"/>
              </a:ext>
            </a:extLst>
          </p:cNvPr>
          <p:cNvSpPr>
            <a:spLocks noGrp="1"/>
          </p:cNvSpPr>
          <p:nvPr/>
        </p:nvSpPr>
        <p:spPr>
          <a:xfrm>
            <a:off x="1047750" y="1666875"/>
            <a:ext cx="2857500" cy="2667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/>
          <a:lstStyle/>
          <a:p>
            <a:pPr algn="l">
              <a:defRPr sz="1500" b="1">
                <a:solidFill>
                  <a:srgbClr val="000000"/>
                </a:solidFill>
              </a:defRPr>
            </a:pPr>
            <a:r>
              <a:rPr sz="1500" b="1">
                <a:solidFill>
                  <a:srgbClr val="000000"/>
                </a:solidFill>
              </a:rPr>
              <a:t>MASTER SUITE</a:t>
            </a:r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D648B73A-6F97-4B97-A906-5A9F7EB01601}"/>
              </a:ext>
            </a:extLst>
          </p:cNvPr>
          <p:cNvSpPr>
            <a:spLocks noGrp="1"/>
          </p:cNvSpPr>
          <p:nvPr/>
        </p:nvSpPr>
        <p:spPr>
          <a:xfrm>
            <a:off x="1047750" y="2143125"/>
            <a:ext cx="3905250" cy="27622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/>
          <a:lstStyle/>
          <a:p>
            <a:pPr algn="l">
              <a:defRPr sz="1275" b="0">
                <a:solidFill>
                  <a:srgbClr val="000000"/>
                </a:solidFill>
              </a:defRPr>
            </a:pPr>
            <a:r>
              <a:rPr sz="1275" b="0">
                <a:solidFill>
                  <a:srgbClr val="000000"/>
                </a:solidFill>
              </a:rPr>
              <a:t>•  R3 = 30</a:t>
            </a:r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6337F324-EFAE-45AC-A543-FE7E7320C476}"/>
              </a:ext>
            </a:extLst>
          </p:cNvPr>
          <p:cNvSpPr>
            <a:spLocks noGrp="1"/>
          </p:cNvSpPr>
          <p:nvPr/>
        </p:nvSpPr>
        <p:spPr>
          <a:xfrm>
            <a:off x="1047750" y="2428875"/>
            <a:ext cx="3905250" cy="27622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/>
          <a:lstStyle/>
          <a:p>
            <a:pPr algn="l">
              <a:defRPr sz="1275" b="0">
                <a:solidFill>
                  <a:srgbClr val="000000"/>
                </a:solidFill>
              </a:defRPr>
            </a:pPr>
            <a:r>
              <a:rPr sz="1275" b="0">
                <a:solidFill>
                  <a:srgbClr val="000000"/>
                </a:solidFill>
              </a:rPr>
              <a:t>•  MAC result R4 = 244</a:t>
            </a:r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1D1D3D0A-B7F6-44F8-B72B-115926BAF4EA}"/>
              </a:ext>
            </a:extLst>
          </p:cNvPr>
          <p:cNvSpPr>
            <a:spLocks noGrp="1"/>
          </p:cNvSpPr>
          <p:nvPr/>
        </p:nvSpPr>
        <p:spPr>
          <a:xfrm>
            <a:off x="1047750" y="2714625"/>
            <a:ext cx="3905250" cy="27622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/>
          <a:lstStyle/>
          <a:p>
            <a:pPr algn="l">
              <a:defRPr sz="1275" b="0">
                <a:solidFill>
                  <a:srgbClr val="000000"/>
                </a:solidFill>
              </a:defRPr>
            </a:pPr>
            <a:r>
              <a:rPr sz="1275" b="0">
                <a:solidFill>
                  <a:srgbClr val="000000"/>
                </a:solidFill>
              </a:rPr>
              <a:t>•  memory[0x60] = 244</a:t>
            </a:r>
          </a:p>
        </p:txBody>
      </p:sp>
      <p:sp>
        <p:nvSpPr>
          <p:cNvPr id="8" name="Rectangle 7">
            <a:extLst>
              <a:ext uri="{FF2B5EF4-FFF2-40B4-BE49-F238E27FC236}">
                <a16:creationId xmlns:a16="http://schemas.microsoft.com/office/drawing/2014/main" id="{BE7F4736-9AE2-4E78-953C-4006C47EB666}"/>
              </a:ext>
            </a:extLst>
          </p:cNvPr>
          <p:cNvSpPr>
            <a:spLocks noGrp="1"/>
          </p:cNvSpPr>
          <p:nvPr/>
        </p:nvSpPr>
        <p:spPr>
          <a:xfrm>
            <a:off x="1047750" y="3000375"/>
            <a:ext cx="3905250" cy="27622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/>
          <a:lstStyle/>
          <a:p>
            <a:pPr algn="l">
              <a:defRPr sz="1275" b="0">
                <a:solidFill>
                  <a:srgbClr val="000000"/>
                </a:solidFill>
              </a:defRPr>
            </a:pPr>
            <a:r>
              <a:rPr sz="1275" b="0">
                <a:solidFill>
                  <a:srgbClr val="000000"/>
                </a:solidFill>
              </a:rPr>
              <a:t>•  Loaded R5 = 244</a:t>
            </a:r>
          </a:p>
        </p:txBody>
      </p:sp>
      <p:sp>
        <p:nvSpPr>
          <p:cNvPr id="9" name="Rectangle 8">
            <a:extLst>
              <a:ext uri="{FF2B5EF4-FFF2-40B4-BE49-F238E27FC236}">
                <a16:creationId xmlns:a16="http://schemas.microsoft.com/office/drawing/2014/main" id="{4848C7B1-2FB1-46AA-A671-ECF67186F7FB}"/>
              </a:ext>
            </a:extLst>
          </p:cNvPr>
          <p:cNvSpPr>
            <a:spLocks noGrp="1"/>
          </p:cNvSpPr>
          <p:nvPr/>
        </p:nvSpPr>
        <p:spPr>
          <a:xfrm>
            <a:off x="1047750" y="3286125"/>
            <a:ext cx="3905250" cy="27622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/>
          <a:lstStyle/>
          <a:p>
            <a:pPr algn="l">
              <a:defRPr sz="1275" b="0">
                <a:solidFill>
                  <a:srgbClr val="000000"/>
                </a:solidFill>
              </a:defRPr>
            </a:pPr>
            <a:r>
              <a:rPr sz="1275" b="0">
                <a:solidFill>
                  <a:srgbClr val="000000"/>
                </a:solidFill>
              </a:rPr>
              <a:t>•  SUB result R6 = 214</a:t>
            </a:r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D59C9D58-B05C-449A-AF6C-39E707EA462F}"/>
              </a:ext>
            </a:extLst>
          </p:cNvPr>
          <p:cNvSpPr>
            <a:spLocks noGrp="1"/>
          </p:cNvSpPr>
          <p:nvPr/>
        </p:nvSpPr>
        <p:spPr>
          <a:xfrm>
            <a:off x="1047750" y="3571875"/>
            <a:ext cx="3905250" cy="27622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/>
          <a:lstStyle/>
          <a:p>
            <a:pPr algn="l">
              <a:defRPr sz="1275" b="0">
                <a:solidFill>
                  <a:srgbClr val="000000"/>
                </a:solidFill>
              </a:defRPr>
            </a:pPr>
            <a:r>
              <a:rPr sz="1275" b="0">
                <a:solidFill>
                  <a:srgbClr val="000000"/>
                </a:solidFill>
              </a:rPr>
              <a:t>•  PWM duty cycle = 214</a:t>
            </a:r>
          </a:p>
        </p:txBody>
      </p:sp>
      <p:sp>
        <p:nvSpPr>
          <p:cNvPr id="11" name="Rectangle: Rounded Corners 10">
            <a:extLst>
              <a:ext uri="{FF2B5EF4-FFF2-40B4-BE49-F238E27FC236}">
                <a16:creationId xmlns:a16="http://schemas.microsoft.com/office/drawing/2014/main" id="{D6850353-E6C9-4081-9E18-F77FEC2A0129}"/>
              </a:ext>
            </a:extLst>
          </p:cNvPr>
          <p:cNvSpPr>
            <a:spLocks noGrp="1"/>
          </p:cNvSpPr>
          <p:nvPr/>
        </p:nvSpPr>
        <p:spPr>
          <a:xfrm>
            <a:off x="6477000" y="1381125"/>
            <a:ext cx="4857750" cy="3429000"/>
          </a:xfrm>
          <a:prstGeom prst="roundRect">
            <a:avLst>
              <a:gd name="adj" fmla="val 2222"/>
            </a:avLst>
          </a:prstGeom>
          <a:solidFill>
            <a:srgbClr val="F7F7F7"/>
          </a:solidFill>
          <a:ln w="9525">
            <a:solidFill>
              <a:srgbClr val="B5B5B5"/>
            </a:solidFill>
            <a:prstDash val="solid"/>
          </a:ln>
        </p:spPr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A3FF28D1-BB37-4311-8957-68489E14F78B}"/>
              </a:ext>
            </a:extLst>
          </p:cNvPr>
          <p:cNvSpPr>
            <a:spLocks noGrp="1"/>
          </p:cNvSpPr>
          <p:nvPr/>
        </p:nvSpPr>
        <p:spPr>
          <a:xfrm>
            <a:off x="6762750" y="1666875"/>
            <a:ext cx="3619500" cy="2667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/>
          <a:lstStyle/>
          <a:p>
            <a:pPr algn="l">
              <a:defRPr sz="1500" b="1">
                <a:solidFill>
                  <a:srgbClr val="000000"/>
                </a:solidFill>
              </a:defRPr>
            </a:pPr>
            <a:r>
              <a:rPr sz="1500" b="1">
                <a:solidFill>
                  <a:srgbClr val="000000"/>
                </a:solidFill>
              </a:rPr>
              <a:t>END-EVALUATION PROGRAM</a:t>
            </a:r>
          </a:p>
        </p:txBody>
      </p:sp>
      <p:sp>
        <p:nvSpPr>
          <p:cNvPr id="13" name="Rectangle 12">
            <a:extLst>
              <a:ext uri="{FF2B5EF4-FFF2-40B4-BE49-F238E27FC236}">
                <a16:creationId xmlns:a16="http://schemas.microsoft.com/office/drawing/2014/main" id="{BD2D2BA3-401A-46F6-9888-D63A8F4A1BA0}"/>
              </a:ext>
            </a:extLst>
          </p:cNvPr>
          <p:cNvSpPr>
            <a:spLocks noGrp="1"/>
          </p:cNvSpPr>
          <p:nvPr/>
        </p:nvSpPr>
        <p:spPr>
          <a:xfrm>
            <a:off x="6762750" y="2143125"/>
            <a:ext cx="3905250" cy="27622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/>
          <a:lstStyle/>
          <a:p>
            <a:pPr algn="l">
              <a:defRPr sz="1275" b="0">
                <a:solidFill>
                  <a:srgbClr val="000000"/>
                </a:solidFill>
              </a:defRPr>
            </a:pPr>
            <a:r>
              <a:rPr sz="1275" b="0">
                <a:solidFill>
                  <a:srgbClr val="000000"/>
                </a:solidFill>
              </a:rPr>
              <a:t>•  R1 = 50</a:t>
            </a:r>
          </a:p>
        </p:txBody>
      </p:sp>
      <p:sp>
        <p:nvSpPr>
          <p:cNvPr id="14" name="Rectangle 13">
            <a:extLst>
              <a:ext uri="{FF2B5EF4-FFF2-40B4-BE49-F238E27FC236}">
                <a16:creationId xmlns:a16="http://schemas.microsoft.com/office/drawing/2014/main" id="{B95A09C9-3414-4E32-A495-5563D4A365EC}"/>
              </a:ext>
            </a:extLst>
          </p:cNvPr>
          <p:cNvSpPr>
            <a:spLocks noGrp="1"/>
          </p:cNvSpPr>
          <p:nvPr/>
        </p:nvSpPr>
        <p:spPr>
          <a:xfrm>
            <a:off x="6762750" y="2428875"/>
            <a:ext cx="3905250" cy="27622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/>
          <a:lstStyle/>
          <a:p>
            <a:pPr algn="l">
              <a:defRPr sz="1275" b="0">
                <a:solidFill>
                  <a:srgbClr val="000000"/>
                </a:solidFill>
              </a:defRPr>
            </a:pPr>
            <a:r>
              <a:rPr sz="1275" b="0">
                <a:solidFill>
                  <a:srgbClr val="000000"/>
                </a:solidFill>
              </a:rPr>
              <a:t>•  R3 = 25</a:t>
            </a:r>
          </a:p>
        </p:txBody>
      </p:sp>
      <p:sp>
        <p:nvSpPr>
          <p:cNvPr id="15" name="Rectangle 14">
            <a:extLst>
              <a:ext uri="{FF2B5EF4-FFF2-40B4-BE49-F238E27FC236}">
                <a16:creationId xmlns:a16="http://schemas.microsoft.com/office/drawing/2014/main" id="{23DECC9C-F07A-4167-9360-6DF59BF1EA1C}"/>
              </a:ext>
            </a:extLst>
          </p:cNvPr>
          <p:cNvSpPr>
            <a:spLocks noGrp="1"/>
          </p:cNvSpPr>
          <p:nvPr/>
        </p:nvSpPr>
        <p:spPr>
          <a:xfrm>
            <a:off x="6762750" y="2714625"/>
            <a:ext cx="3905250" cy="27622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/>
          <a:lstStyle/>
          <a:p>
            <a:pPr algn="l">
              <a:defRPr sz="1275" b="0">
                <a:solidFill>
                  <a:srgbClr val="000000"/>
                </a:solidFill>
              </a:defRPr>
            </a:pPr>
            <a:r>
              <a:rPr sz="1275" b="0">
                <a:solidFill>
                  <a:srgbClr val="000000"/>
                </a:solidFill>
              </a:rPr>
              <a:t>•  R5 = 48</a:t>
            </a:r>
          </a:p>
        </p:txBody>
      </p:sp>
      <p:sp>
        <p:nvSpPr>
          <p:cNvPr id="16" name="Rectangle 15">
            <a:extLst>
              <a:ext uri="{FF2B5EF4-FFF2-40B4-BE49-F238E27FC236}">
                <a16:creationId xmlns:a16="http://schemas.microsoft.com/office/drawing/2014/main" id="{CFEC5FE6-7475-4D57-946D-FAA7587BE414}"/>
              </a:ext>
            </a:extLst>
          </p:cNvPr>
          <p:cNvSpPr>
            <a:spLocks noGrp="1"/>
          </p:cNvSpPr>
          <p:nvPr/>
        </p:nvSpPr>
        <p:spPr>
          <a:xfrm>
            <a:off x="6762750" y="3000375"/>
            <a:ext cx="3905250" cy="27622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/>
          <a:lstStyle/>
          <a:p>
            <a:pPr algn="l">
              <a:defRPr sz="1275" b="0">
                <a:solidFill>
                  <a:srgbClr val="000000"/>
                </a:solidFill>
              </a:defRPr>
            </a:pPr>
            <a:r>
              <a:rPr sz="1275" b="0">
                <a:solidFill>
                  <a:srgbClr val="000000"/>
                </a:solidFill>
              </a:rPr>
              <a:t>•  R6 = 21</a:t>
            </a:r>
          </a:p>
        </p:txBody>
      </p:sp>
      <p:sp>
        <p:nvSpPr>
          <p:cNvPr id="17" name="Rectangle 16">
            <a:extLst>
              <a:ext uri="{FF2B5EF4-FFF2-40B4-BE49-F238E27FC236}">
                <a16:creationId xmlns:a16="http://schemas.microsoft.com/office/drawing/2014/main" id="{C31DD937-CA57-4839-8B70-3A1325813372}"/>
              </a:ext>
            </a:extLst>
          </p:cNvPr>
          <p:cNvSpPr>
            <a:spLocks noGrp="1"/>
          </p:cNvSpPr>
          <p:nvPr/>
        </p:nvSpPr>
        <p:spPr>
          <a:xfrm>
            <a:off x="6762750" y="3286125"/>
            <a:ext cx="3905250" cy="27622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/>
          <a:lstStyle/>
          <a:p>
            <a:pPr algn="l">
              <a:defRPr sz="1275" b="0">
                <a:solidFill>
                  <a:srgbClr val="000000"/>
                </a:solidFill>
              </a:defRPr>
            </a:pPr>
            <a:r>
              <a:rPr sz="1275" b="0">
                <a:solidFill>
                  <a:srgbClr val="000000"/>
                </a:solidFill>
              </a:rPr>
              <a:t>•  Saved R7 = 33</a:t>
            </a:r>
          </a:p>
        </p:txBody>
      </p:sp>
      <p:sp>
        <p:nvSpPr>
          <p:cNvPr id="18" name="Rectangle 17">
            <a:extLst>
              <a:ext uri="{FF2B5EF4-FFF2-40B4-BE49-F238E27FC236}">
                <a16:creationId xmlns:a16="http://schemas.microsoft.com/office/drawing/2014/main" id="{A159080B-B236-47D5-A356-70E8F78776D0}"/>
              </a:ext>
            </a:extLst>
          </p:cNvPr>
          <p:cNvSpPr>
            <a:spLocks noGrp="1"/>
          </p:cNvSpPr>
          <p:nvPr/>
        </p:nvSpPr>
        <p:spPr>
          <a:xfrm>
            <a:off x="6762750" y="3571875"/>
            <a:ext cx="3905250" cy="27622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/>
          <a:lstStyle/>
          <a:p>
            <a:pPr algn="l">
              <a:defRPr sz="1275" b="0">
                <a:solidFill>
                  <a:srgbClr val="000000"/>
                </a:solidFill>
              </a:defRPr>
            </a:pPr>
            <a:r>
              <a:rPr sz="1275" b="0">
                <a:solidFill>
                  <a:srgbClr val="000000"/>
                </a:solidFill>
              </a:rPr>
              <a:t>•  Shifted result = 132</a:t>
            </a:r>
          </a:p>
        </p:txBody>
      </p:sp>
      <p:sp>
        <p:nvSpPr>
          <p:cNvPr id="19" name="Rectangle 18">
            <a:extLst>
              <a:ext uri="{FF2B5EF4-FFF2-40B4-BE49-F238E27FC236}">
                <a16:creationId xmlns:a16="http://schemas.microsoft.com/office/drawing/2014/main" id="{719E02CC-384B-476A-A8ED-78B4860C16B1}"/>
              </a:ext>
            </a:extLst>
          </p:cNvPr>
          <p:cNvSpPr>
            <a:spLocks noGrp="1"/>
          </p:cNvSpPr>
          <p:nvPr/>
        </p:nvSpPr>
        <p:spPr>
          <a:xfrm>
            <a:off x="857250" y="5381625"/>
            <a:ext cx="10287000" cy="3048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/>
          <a:lstStyle/>
          <a:p>
            <a:pPr algn="ctr">
              <a:defRPr sz="1650" b="1">
                <a:solidFill>
                  <a:srgbClr val="000000"/>
                </a:solidFill>
              </a:defRPr>
            </a:pPr>
            <a:r>
              <a:rPr sz="1650" b="1">
                <a:solidFill>
                  <a:srgbClr val="000000"/>
                </a:solidFill>
              </a:rPr>
              <a:t>All saved simulations were rerun successfully for this presentation.</a:t>
            </a:r>
          </a:p>
        </p:txBody>
      </p:sp>
      <p:sp>
        <p:nvSpPr>
          <p:cNvPr id="20" name="Rectangle 19">
            <a:extLst>
              <a:ext uri="{FF2B5EF4-FFF2-40B4-BE49-F238E27FC236}">
                <a16:creationId xmlns:a16="http://schemas.microsoft.com/office/drawing/2014/main" id="{D222635F-C8CD-46A0-A908-D6D3221899D6}"/>
              </a:ext>
            </a:extLst>
          </p:cNvPr>
          <p:cNvSpPr>
            <a:spLocks noGrp="1"/>
          </p:cNvSpPr>
          <p:nvPr/>
        </p:nvSpPr>
        <p:spPr>
          <a:xfrm>
            <a:off x="685800" y="6496050"/>
            <a:ext cx="7048500" cy="1714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/>
          <a:lstStyle/>
          <a:p>
            <a:pPr algn="l">
              <a:defRPr sz="825" b="0">
                <a:solidFill>
                  <a:srgbClr val="000000"/>
                </a:solidFill>
              </a:defRPr>
            </a:pPr>
            <a:r>
              <a:rPr sz="825" b="0">
                <a:solidFill>
                  <a:srgbClr val="000000"/>
                </a:solidFill>
              </a:rPr>
              <a:t>Team VOLTERE | 8-bit Pipelined Microprocessor</a:t>
            </a:r>
          </a:p>
        </p:txBody>
      </p:sp>
      <p:sp>
        <p:nvSpPr>
          <p:cNvPr id="21" name="Rectangle 20">
            <a:extLst>
              <a:ext uri="{FF2B5EF4-FFF2-40B4-BE49-F238E27FC236}">
                <a16:creationId xmlns:a16="http://schemas.microsoft.com/office/drawing/2014/main" id="{22A25735-B826-4A8A-8929-D4BDCBE9F73B}"/>
              </a:ext>
            </a:extLst>
          </p:cNvPr>
          <p:cNvSpPr>
            <a:spLocks noGrp="1"/>
          </p:cNvSpPr>
          <p:nvPr/>
        </p:nvSpPr>
        <p:spPr>
          <a:xfrm>
            <a:off x="11001375" y="6477000"/>
            <a:ext cx="495300" cy="1714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/>
          <a:lstStyle/>
          <a:p>
            <a:pPr algn="r">
              <a:defRPr sz="825" b="1">
                <a:solidFill>
                  <a:srgbClr val="000000"/>
                </a:solidFill>
              </a:defRPr>
            </a:pPr>
            <a:r>
              <a:rPr sz="825" b="1">
                <a:solidFill>
                  <a:srgbClr val="000000"/>
                </a:solidFill>
              </a:rPr>
              <a:t>22</a:t>
            </a:r>
          </a:p>
        </p:txBody>
      </p:sp>
    </p:spTree>
    <p:extLst>
      <p:ext uri="{BB962C8B-B14F-4D97-AF65-F5344CB8AC3E}">
        <p14:creationId xmlns:p14="http://schemas.microsoft.com/office/powerpoint/2010/main" val="1431648832"/>
      </p:ext>
    </p:extLst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" name="Rectangle 22">
            <a:extLst>
              <a:ext uri="{FF2B5EF4-FFF2-40B4-BE49-F238E27FC236}">
                <a16:creationId xmlns:a16="http://schemas.microsoft.com/office/drawing/2014/main" id="{175B5FCF-B6F1-4E56-A5DE-4707C60F5F03}"/>
              </a:ext>
            </a:extLst>
          </p:cNvPr>
          <p:cNvSpPr>
            <a:spLocks noGrp="1"/>
          </p:cNvSpPr>
          <p:nvPr/>
        </p:nvSpPr>
        <p:spPr>
          <a:xfrm>
            <a:off x="685800" y="342900"/>
            <a:ext cx="5715000" cy="2095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/>
          <a:lstStyle/>
          <a:p>
            <a:pPr algn="l">
              <a:defRPr sz="975" b="1">
                <a:solidFill>
                  <a:srgbClr val="000000"/>
                </a:solidFill>
              </a:defRPr>
            </a:pPr>
            <a:r>
              <a:rPr sz="975" b="1">
                <a:solidFill>
                  <a:srgbClr val="000000"/>
                </a:solidFill>
              </a:rPr>
              <a:t>TEAM VOLTERE | IITISoC 2026</a:t>
            </a:r>
          </a:p>
        </p:txBody>
      </p:sp>
      <p:sp>
        <p:nvSpPr>
          <p:cNvPr id="2" name="Rectangle 1">
            <a:extLst>
              <a:ext uri="{FF2B5EF4-FFF2-40B4-BE49-F238E27FC236}">
                <a16:creationId xmlns:a16="http://schemas.microsoft.com/office/drawing/2014/main" id="{81C0CA63-A631-4056-AA93-EEE6BF192698}"/>
              </a:ext>
            </a:extLst>
          </p:cNvPr>
          <p:cNvSpPr>
            <a:spLocks noGrp="1"/>
          </p:cNvSpPr>
          <p:nvPr/>
        </p:nvSpPr>
        <p:spPr>
          <a:xfrm>
            <a:off x="685800" y="628650"/>
            <a:ext cx="10763250" cy="5143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/>
          <a:lstStyle/>
          <a:p>
            <a:pPr algn="l">
              <a:defRPr sz="2550" b="1">
                <a:solidFill>
                  <a:srgbClr val="000000"/>
                </a:solidFill>
              </a:defRPr>
            </a:pPr>
            <a:r>
              <a:rPr sz="2550" b="1">
                <a:solidFill>
                  <a:srgbClr val="000000"/>
                </a:solidFill>
              </a:rPr>
              <a:t>The implemented Kintex-7 design is lightweight and achieves 135.8 MHz</a:t>
            </a:r>
          </a:p>
        </p:txBody>
      </p:sp>
      <p:sp>
        <p:nvSpPr>
          <p:cNvPr id="3" name="Rectangle 2">
            <a:extLst>
              <a:ext uri="{FF2B5EF4-FFF2-40B4-BE49-F238E27FC236}">
                <a16:creationId xmlns:a16="http://schemas.microsoft.com/office/drawing/2014/main" id="{D68411D3-8915-45D0-BC2A-D80F6B3B6C07}"/>
              </a:ext>
            </a:extLst>
          </p:cNvPr>
          <p:cNvSpPr>
            <a:spLocks noGrp="1"/>
          </p:cNvSpPr>
          <p:nvPr/>
        </p:nvSpPr>
        <p:spPr>
          <a:xfrm>
            <a:off x="1190625" y="1476375"/>
            <a:ext cx="2381250" cy="2667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/>
          <a:lstStyle/>
          <a:p>
            <a:pPr algn="l">
              <a:defRPr sz="1425" b="1">
                <a:solidFill>
                  <a:srgbClr val="000000"/>
                </a:solidFill>
              </a:defRPr>
            </a:pPr>
            <a:r>
              <a:rPr sz="1425" b="1">
                <a:solidFill>
                  <a:srgbClr val="000000"/>
                </a:solidFill>
              </a:rPr>
              <a:t>Slice LUTs</a:t>
            </a:r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C028E7DD-FD1B-4752-A2E1-BAB72D376505}"/>
              </a:ext>
            </a:extLst>
          </p:cNvPr>
          <p:cNvSpPr>
            <a:spLocks noGrp="1"/>
          </p:cNvSpPr>
          <p:nvPr/>
        </p:nvSpPr>
        <p:spPr>
          <a:xfrm>
            <a:off x="4857750" y="1476375"/>
            <a:ext cx="2095500" cy="2667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/>
          <a:lstStyle/>
          <a:p>
            <a:pPr algn="l">
              <a:defRPr sz="1425" b="0">
                <a:solidFill>
                  <a:srgbClr val="000000"/>
                </a:solidFill>
              </a:defRPr>
            </a:pPr>
            <a:r>
              <a:rPr sz="1425" b="0">
                <a:solidFill>
                  <a:srgbClr val="000000"/>
                </a:solidFill>
              </a:rPr>
              <a:t>808 / 41,000</a:t>
            </a:r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DA98561D-1ACE-496C-B831-8B54FDF034B7}"/>
              </a:ext>
            </a:extLst>
          </p:cNvPr>
          <p:cNvSpPr>
            <a:spLocks noGrp="1"/>
          </p:cNvSpPr>
          <p:nvPr/>
        </p:nvSpPr>
        <p:spPr>
          <a:xfrm>
            <a:off x="8810625" y="1476375"/>
            <a:ext cx="1143000" cy="2667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/>
          <a:lstStyle/>
          <a:p>
            <a:pPr algn="r">
              <a:defRPr sz="1425" b="1">
                <a:solidFill>
                  <a:srgbClr val="000000"/>
                </a:solidFill>
              </a:defRPr>
            </a:pPr>
            <a:r>
              <a:rPr sz="1425" b="1">
                <a:solidFill>
                  <a:srgbClr val="000000"/>
                </a:solidFill>
              </a:rPr>
              <a:t>1.97%</a:t>
            </a:r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637E6E99-FFFF-4BC4-8BCE-387F638BD930}"/>
              </a:ext>
            </a:extLst>
          </p:cNvPr>
          <p:cNvSpPr>
            <a:spLocks noGrp="1"/>
          </p:cNvSpPr>
          <p:nvPr/>
        </p:nvSpPr>
        <p:spPr>
          <a:xfrm>
            <a:off x="1190625" y="2047875"/>
            <a:ext cx="2381250" cy="2667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/>
          <a:lstStyle/>
          <a:p>
            <a:pPr algn="l">
              <a:defRPr sz="1425" b="1">
                <a:solidFill>
                  <a:srgbClr val="000000"/>
                </a:solidFill>
              </a:defRPr>
            </a:pPr>
            <a:r>
              <a:rPr sz="1425" b="1">
                <a:solidFill>
                  <a:srgbClr val="000000"/>
                </a:solidFill>
              </a:rPr>
              <a:t>Registers</a:t>
            </a:r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2D13C963-4BAB-42BF-9124-606C17003612}"/>
              </a:ext>
            </a:extLst>
          </p:cNvPr>
          <p:cNvSpPr>
            <a:spLocks noGrp="1"/>
          </p:cNvSpPr>
          <p:nvPr/>
        </p:nvSpPr>
        <p:spPr>
          <a:xfrm>
            <a:off x="4857750" y="2047875"/>
            <a:ext cx="2095500" cy="2667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/>
          <a:lstStyle/>
          <a:p>
            <a:pPr algn="l">
              <a:defRPr sz="1425" b="0">
                <a:solidFill>
                  <a:srgbClr val="000000"/>
                </a:solidFill>
              </a:defRPr>
            </a:pPr>
            <a:r>
              <a:rPr sz="1425" b="0">
                <a:solidFill>
                  <a:srgbClr val="000000"/>
                </a:solidFill>
              </a:rPr>
              <a:t>361 / 82,000</a:t>
            </a:r>
          </a:p>
        </p:txBody>
      </p:sp>
      <p:sp>
        <p:nvSpPr>
          <p:cNvPr id="8" name="Rectangle 7">
            <a:extLst>
              <a:ext uri="{FF2B5EF4-FFF2-40B4-BE49-F238E27FC236}">
                <a16:creationId xmlns:a16="http://schemas.microsoft.com/office/drawing/2014/main" id="{67BAAC10-D3DF-46F7-9191-421F2CB89D08}"/>
              </a:ext>
            </a:extLst>
          </p:cNvPr>
          <p:cNvSpPr>
            <a:spLocks noGrp="1"/>
          </p:cNvSpPr>
          <p:nvPr/>
        </p:nvSpPr>
        <p:spPr>
          <a:xfrm>
            <a:off x="8810625" y="2047875"/>
            <a:ext cx="1143000" cy="2667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/>
          <a:lstStyle/>
          <a:p>
            <a:pPr algn="r">
              <a:defRPr sz="1425" b="1">
                <a:solidFill>
                  <a:srgbClr val="000000"/>
                </a:solidFill>
              </a:defRPr>
            </a:pPr>
            <a:r>
              <a:rPr sz="1425" b="1">
                <a:solidFill>
                  <a:srgbClr val="000000"/>
                </a:solidFill>
              </a:rPr>
              <a:t>0.44%</a:t>
            </a:r>
          </a:p>
        </p:txBody>
      </p:sp>
      <p:sp>
        <p:nvSpPr>
          <p:cNvPr id="9" name="Rectangle 8">
            <a:extLst>
              <a:ext uri="{FF2B5EF4-FFF2-40B4-BE49-F238E27FC236}">
                <a16:creationId xmlns:a16="http://schemas.microsoft.com/office/drawing/2014/main" id="{019F2C99-B78F-4A5B-8945-1B1523F44465}"/>
              </a:ext>
            </a:extLst>
          </p:cNvPr>
          <p:cNvSpPr>
            <a:spLocks noGrp="1"/>
          </p:cNvSpPr>
          <p:nvPr/>
        </p:nvSpPr>
        <p:spPr>
          <a:xfrm>
            <a:off x="1190625" y="2619375"/>
            <a:ext cx="2381250" cy="2667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/>
          <a:lstStyle/>
          <a:p>
            <a:pPr algn="l">
              <a:defRPr sz="1425" b="1">
                <a:solidFill>
                  <a:srgbClr val="000000"/>
                </a:solidFill>
              </a:defRPr>
            </a:pPr>
            <a:r>
              <a:rPr sz="1425" b="1">
                <a:solidFill>
                  <a:srgbClr val="000000"/>
                </a:solidFill>
              </a:rPr>
              <a:t>Distributed RAM</a:t>
            </a:r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7F3ABA8E-E78A-476B-8913-F4FFF8F3B52F}"/>
              </a:ext>
            </a:extLst>
          </p:cNvPr>
          <p:cNvSpPr>
            <a:spLocks noGrp="1"/>
          </p:cNvSpPr>
          <p:nvPr/>
        </p:nvSpPr>
        <p:spPr>
          <a:xfrm>
            <a:off x="4857750" y="2619375"/>
            <a:ext cx="2095500" cy="2667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/>
          <a:lstStyle/>
          <a:p>
            <a:pPr algn="l">
              <a:defRPr sz="1425" b="0">
                <a:solidFill>
                  <a:srgbClr val="000000"/>
                </a:solidFill>
              </a:defRPr>
            </a:pPr>
            <a:r>
              <a:rPr sz="1425" b="0">
                <a:solidFill>
                  <a:srgbClr val="000000"/>
                </a:solidFill>
              </a:rPr>
              <a:t>84 LUTs</a:t>
            </a:r>
          </a:p>
        </p:txBody>
      </p:sp>
      <p:sp>
        <p:nvSpPr>
          <p:cNvPr id="11" name="Rectangle 10">
            <a:extLst>
              <a:ext uri="{FF2B5EF4-FFF2-40B4-BE49-F238E27FC236}">
                <a16:creationId xmlns:a16="http://schemas.microsoft.com/office/drawing/2014/main" id="{2F25CA15-103A-4DA3-8550-E3751A5E2D1F}"/>
              </a:ext>
            </a:extLst>
          </p:cNvPr>
          <p:cNvSpPr>
            <a:spLocks noGrp="1"/>
          </p:cNvSpPr>
          <p:nvPr/>
        </p:nvSpPr>
        <p:spPr>
          <a:xfrm>
            <a:off x="8810625" y="2619375"/>
            <a:ext cx="1143000" cy="2667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/>
          <a:lstStyle/>
          <a:p>
            <a:pPr algn="r">
              <a:defRPr sz="1425" b="1">
                <a:solidFill>
                  <a:srgbClr val="000000"/>
                </a:solidFill>
              </a:defRPr>
            </a:pPr>
            <a:r>
              <a:rPr sz="1425" b="1">
                <a:solidFill>
                  <a:srgbClr val="000000"/>
                </a:solidFill>
              </a:rPr>
              <a:t>-</a:t>
            </a:r>
          </a:p>
        </p:txBody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55A96D3D-26B0-4906-A02D-E0896F1FA3C8}"/>
              </a:ext>
            </a:extLst>
          </p:cNvPr>
          <p:cNvSpPr>
            <a:spLocks noGrp="1"/>
          </p:cNvSpPr>
          <p:nvPr/>
        </p:nvSpPr>
        <p:spPr>
          <a:xfrm>
            <a:off x="1190625" y="3190875"/>
            <a:ext cx="2381250" cy="2667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/>
          <a:lstStyle/>
          <a:p>
            <a:pPr algn="l">
              <a:defRPr sz="1425" b="1">
                <a:solidFill>
                  <a:srgbClr val="000000"/>
                </a:solidFill>
              </a:defRPr>
            </a:pPr>
            <a:r>
              <a:rPr sz="1425" b="1">
                <a:solidFill>
                  <a:srgbClr val="000000"/>
                </a:solidFill>
              </a:rPr>
              <a:t>DSP48 slices</a:t>
            </a:r>
          </a:p>
        </p:txBody>
      </p:sp>
      <p:sp>
        <p:nvSpPr>
          <p:cNvPr id="13" name="Rectangle 12">
            <a:extLst>
              <a:ext uri="{FF2B5EF4-FFF2-40B4-BE49-F238E27FC236}">
                <a16:creationId xmlns:a16="http://schemas.microsoft.com/office/drawing/2014/main" id="{C1590BD3-1957-4E7A-BD8C-D1371961D7A4}"/>
              </a:ext>
            </a:extLst>
          </p:cNvPr>
          <p:cNvSpPr>
            <a:spLocks noGrp="1"/>
          </p:cNvSpPr>
          <p:nvPr/>
        </p:nvSpPr>
        <p:spPr>
          <a:xfrm>
            <a:off x="4857750" y="3190875"/>
            <a:ext cx="2095500" cy="2667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/>
          <a:lstStyle/>
          <a:p>
            <a:pPr algn="l">
              <a:defRPr sz="1425" b="0">
                <a:solidFill>
                  <a:srgbClr val="000000"/>
                </a:solidFill>
              </a:defRPr>
            </a:pPr>
            <a:r>
              <a:rPr sz="1425" b="0">
                <a:solidFill>
                  <a:srgbClr val="000000"/>
                </a:solidFill>
              </a:rPr>
              <a:t>0 / 240</a:t>
            </a:r>
          </a:p>
        </p:txBody>
      </p:sp>
      <p:sp>
        <p:nvSpPr>
          <p:cNvPr id="14" name="Rectangle 13">
            <a:extLst>
              <a:ext uri="{FF2B5EF4-FFF2-40B4-BE49-F238E27FC236}">
                <a16:creationId xmlns:a16="http://schemas.microsoft.com/office/drawing/2014/main" id="{4256EB96-9A5E-46D0-8A82-CCB90125E074}"/>
              </a:ext>
            </a:extLst>
          </p:cNvPr>
          <p:cNvSpPr>
            <a:spLocks noGrp="1"/>
          </p:cNvSpPr>
          <p:nvPr/>
        </p:nvSpPr>
        <p:spPr>
          <a:xfrm>
            <a:off x="8810625" y="3190875"/>
            <a:ext cx="1143000" cy="2667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/>
          <a:lstStyle/>
          <a:p>
            <a:pPr algn="r">
              <a:defRPr sz="1425" b="1">
                <a:solidFill>
                  <a:srgbClr val="000000"/>
                </a:solidFill>
              </a:defRPr>
            </a:pPr>
            <a:r>
              <a:rPr sz="1425" b="1">
                <a:solidFill>
                  <a:srgbClr val="000000"/>
                </a:solidFill>
              </a:rPr>
              <a:t>0%</a:t>
            </a:r>
          </a:p>
        </p:txBody>
      </p:sp>
      <p:sp>
        <p:nvSpPr>
          <p:cNvPr id="15" name="Rectangle 14">
            <a:extLst>
              <a:ext uri="{FF2B5EF4-FFF2-40B4-BE49-F238E27FC236}">
                <a16:creationId xmlns:a16="http://schemas.microsoft.com/office/drawing/2014/main" id="{6CC6E27A-FA40-4905-9909-F9EE641ECB7A}"/>
              </a:ext>
            </a:extLst>
          </p:cNvPr>
          <p:cNvSpPr>
            <a:spLocks noGrp="1"/>
          </p:cNvSpPr>
          <p:nvPr/>
        </p:nvSpPr>
        <p:spPr>
          <a:xfrm>
            <a:off x="1190625" y="3762375"/>
            <a:ext cx="2381250" cy="2667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/>
          <a:lstStyle/>
          <a:p>
            <a:pPr algn="l">
              <a:defRPr sz="1425" b="1">
                <a:solidFill>
                  <a:srgbClr val="000000"/>
                </a:solidFill>
              </a:defRPr>
            </a:pPr>
            <a:r>
              <a:rPr sz="1425" b="1">
                <a:solidFill>
                  <a:srgbClr val="000000"/>
                </a:solidFill>
              </a:rPr>
              <a:t>Bonded I/O</a:t>
            </a:r>
          </a:p>
        </p:txBody>
      </p:sp>
      <p:sp>
        <p:nvSpPr>
          <p:cNvPr id="16" name="Rectangle 15">
            <a:extLst>
              <a:ext uri="{FF2B5EF4-FFF2-40B4-BE49-F238E27FC236}">
                <a16:creationId xmlns:a16="http://schemas.microsoft.com/office/drawing/2014/main" id="{167F61DA-5FD0-4A8F-BBF1-071F7FE48D13}"/>
              </a:ext>
            </a:extLst>
          </p:cNvPr>
          <p:cNvSpPr>
            <a:spLocks noGrp="1"/>
          </p:cNvSpPr>
          <p:nvPr/>
        </p:nvSpPr>
        <p:spPr>
          <a:xfrm>
            <a:off x="4857750" y="3762375"/>
            <a:ext cx="2095500" cy="2667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/>
          <a:lstStyle/>
          <a:p>
            <a:pPr algn="l">
              <a:defRPr sz="1425" b="0">
                <a:solidFill>
                  <a:srgbClr val="000000"/>
                </a:solidFill>
              </a:defRPr>
            </a:pPr>
            <a:r>
              <a:rPr sz="1425" b="0">
                <a:solidFill>
                  <a:srgbClr val="000000"/>
                </a:solidFill>
              </a:rPr>
              <a:t>22 / 300</a:t>
            </a:r>
          </a:p>
        </p:txBody>
      </p:sp>
      <p:sp>
        <p:nvSpPr>
          <p:cNvPr id="17" name="Rectangle 16">
            <a:extLst>
              <a:ext uri="{FF2B5EF4-FFF2-40B4-BE49-F238E27FC236}">
                <a16:creationId xmlns:a16="http://schemas.microsoft.com/office/drawing/2014/main" id="{66ECD801-021E-4595-B362-70CE154D5D46}"/>
              </a:ext>
            </a:extLst>
          </p:cNvPr>
          <p:cNvSpPr>
            <a:spLocks noGrp="1"/>
          </p:cNvSpPr>
          <p:nvPr/>
        </p:nvSpPr>
        <p:spPr>
          <a:xfrm>
            <a:off x="8810625" y="3762375"/>
            <a:ext cx="1143000" cy="2667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/>
          <a:lstStyle/>
          <a:p>
            <a:pPr algn="r">
              <a:defRPr sz="1425" b="1">
                <a:solidFill>
                  <a:srgbClr val="000000"/>
                </a:solidFill>
              </a:defRPr>
            </a:pPr>
            <a:r>
              <a:rPr sz="1425" b="1">
                <a:solidFill>
                  <a:srgbClr val="000000"/>
                </a:solidFill>
              </a:rPr>
              <a:t>7.33%</a:t>
            </a:r>
          </a:p>
        </p:txBody>
      </p:sp>
      <p:sp>
        <p:nvSpPr>
          <p:cNvPr id="18" name="Rectangle: Rounded Corners 17">
            <a:extLst>
              <a:ext uri="{FF2B5EF4-FFF2-40B4-BE49-F238E27FC236}">
                <a16:creationId xmlns:a16="http://schemas.microsoft.com/office/drawing/2014/main" id="{AF42A81E-2C92-4CA4-B271-F4C8B8F5463E}"/>
              </a:ext>
            </a:extLst>
          </p:cNvPr>
          <p:cNvSpPr>
            <a:spLocks noGrp="1"/>
          </p:cNvSpPr>
          <p:nvPr/>
        </p:nvSpPr>
        <p:spPr>
          <a:xfrm>
            <a:off x="7143750" y="4619625"/>
            <a:ext cx="3619500" cy="762000"/>
          </a:xfrm>
          <a:prstGeom prst="roundRect">
            <a:avLst>
              <a:gd name="adj" fmla="val 10000"/>
            </a:avLst>
          </a:prstGeom>
          <a:solidFill>
            <a:srgbClr val="F7F7F7"/>
          </a:solidFill>
          <a:ln w="9525">
            <a:solidFill>
              <a:srgbClr val="B5B5B5"/>
            </a:solidFill>
            <a:prstDash val="solid"/>
          </a:ln>
        </p:spPr>
      </p:sp>
      <p:sp>
        <p:nvSpPr>
          <p:cNvPr id="19" name="Rectangle 18">
            <a:extLst>
              <a:ext uri="{FF2B5EF4-FFF2-40B4-BE49-F238E27FC236}">
                <a16:creationId xmlns:a16="http://schemas.microsoft.com/office/drawing/2014/main" id="{5E52C4A5-54F4-4981-9F35-362260DBF0DA}"/>
              </a:ext>
            </a:extLst>
          </p:cNvPr>
          <p:cNvSpPr>
            <a:spLocks noGrp="1"/>
          </p:cNvSpPr>
          <p:nvPr/>
        </p:nvSpPr>
        <p:spPr>
          <a:xfrm>
            <a:off x="7334250" y="4810125"/>
            <a:ext cx="3238500" cy="33337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/>
          <a:lstStyle/>
          <a:p>
            <a:pPr algn="ctr">
              <a:defRPr sz="2025" b="1">
                <a:solidFill>
                  <a:srgbClr val="000000"/>
                </a:solidFill>
              </a:defRPr>
            </a:pPr>
            <a:r>
              <a:rPr sz="2025" b="1">
                <a:solidFill>
                  <a:srgbClr val="000000"/>
                </a:solidFill>
              </a:rPr>
              <a:t>Fmax = 135.8 MHz</a:t>
            </a:r>
          </a:p>
        </p:txBody>
      </p:sp>
      <p:sp>
        <p:nvSpPr>
          <p:cNvPr id="20" name="Rectangle 19">
            <a:extLst>
              <a:ext uri="{FF2B5EF4-FFF2-40B4-BE49-F238E27FC236}">
                <a16:creationId xmlns:a16="http://schemas.microsoft.com/office/drawing/2014/main" id="{96F48127-FF28-4001-876B-8BB4403F0172}"/>
              </a:ext>
            </a:extLst>
          </p:cNvPr>
          <p:cNvSpPr>
            <a:spLocks noGrp="1"/>
          </p:cNvSpPr>
          <p:nvPr/>
        </p:nvSpPr>
        <p:spPr>
          <a:xfrm>
            <a:off x="1190625" y="5095875"/>
            <a:ext cx="4572000" cy="2476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/>
          <a:lstStyle/>
          <a:p>
            <a:pPr algn="l">
              <a:defRPr sz="1425" b="0">
                <a:solidFill>
                  <a:srgbClr val="000000"/>
                </a:solidFill>
              </a:defRPr>
            </a:pPr>
            <a:r>
              <a:rPr sz="1425" b="0">
                <a:solidFill>
                  <a:srgbClr val="000000"/>
                </a:solidFill>
              </a:rPr>
              <a:t>Target device: xc7k70tfbv676-1</a:t>
            </a:r>
          </a:p>
        </p:txBody>
      </p:sp>
      <p:sp>
        <p:nvSpPr>
          <p:cNvPr id="21" name="Rectangle 20">
            <a:extLst>
              <a:ext uri="{FF2B5EF4-FFF2-40B4-BE49-F238E27FC236}">
                <a16:creationId xmlns:a16="http://schemas.microsoft.com/office/drawing/2014/main" id="{374A96EC-0B98-4454-B626-98EAA17B97FB}"/>
              </a:ext>
            </a:extLst>
          </p:cNvPr>
          <p:cNvSpPr>
            <a:spLocks noGrp="1"/>
          </p:cNvSpPr>
          <p:nvPr/>
        </p:nvSpPr>
        <p:spPr>
          <a:xfrm>
            <a:off x="685800" y="6496050"/>
            <a:ext cx="7048500" cy="1714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/>
          <a:lstStyle/>
          <a:p>
            <a:pPr algn="l">
              <a:defRPr sz="825" b="0">
                <a:solidFill>
                  <a:srgbClr val="000000"/>
                </a:solidFill>
              </a:defRPr>
            </a:pPr>
            <a:r>
              <a:rPr sz="825" b="0">
                <a:solidFill>
                  <a:srgbClr val="000000"/>
                </a:solidFill>
              </a:rPr>
              <a:t>Team VOLTERE | 8-bit Pipelined Microprocessor</a:t>
            </a:r>
          </a:p>
        </p:txBody>
      </p:sp>
      <p:sp>
        <p:nvSpPr>
          <p:cNvPr id="22" name="Rectangle 21">
            <a:extLst>
              <a:ext uri="{FF2B5EF4-FFF2-40B4-BE49-F238E27FC236}">
                <a16:creationId xmlns:a16="http://schemas.microsoft.com/office/drawing/2014/main" id="{DCE777E0-845D-4258-99C4-8D45B9C8E4EA}"/>
              </a:ext>
            </a:extLst>
          </p:cNvPr>
          <p:cNvSpPr>
            <a:spLocks noGrp="1"/>
          </p:cNvSpPr>
          <p:nvPr/>
        </p:nvSpPr>
        <p:spPr>
          <a:xfrm>
            <a:off x="11001375" y="6477000"/>
            <a:ext cx="495300" cy="1714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/>
          <a:lstStyle/>
          <a:p>
            <a:pPr algn="r">
              <a:defRPr sz="825" b="1">
                <a:solidFill>
                  <a:srgbClr val="000000"/>
                </a:solidFill>
              </a:defRPr>
            </a:pPr>
            <a:r>
              <a:rPr sz="825" b="1">
                <a:solidFill>
                  <a:srgbClr val="000000"/>
                </a:solidFill>
              </a:rPr>
              <a:t>23</a:t>
            </a:r>
          </a:p>
        </p:txBody>
      </p:sp>
    </p:spTree>
    <p:extLst>
      <p:ext uri="{BB962C8B-B14F-4D97-AF65-F5344CB8AC3E}">
        <p14:creationId xmlns:p14="http://schemas.microsoft.com/office/powerpoint/2010/main" val="4077817"/>
      </p:ext>
    </p:extLst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Rectangle 11">
            <a:extLst>
              <a:ext uri="{FF2B5EF4-FFF2-40B4-BE49-F238E27FC236}">
                <a16:creationId xmlns:a16="http://schemas.microsoft.com/office/drawing/2014/main" id="{58F26739-CF01-4D01-B4F1-C7A3B0DD5FEE}"/>
              </a:ext>
            </a:extLst>
          </p:cNvPr>
          <p:cNvSpPr>
            <a:spLocks noGrp="1"/>
          </p:cNvSpPr>
          <p:nvPr/>
        </p:nvSpPr>
        <p:spPr>
          <a:xfrm>
            <a:off x="685800" y="342900"/>
            <a:ext cx="5715000" cy="2095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/>
          <a:lstStyle/>
          <a:p>
            <a:pPr algn="l">
              <a:defRPr sz="975" b="1">
                <a:solidFill>
                  <a:srgbClr val="000000"/>
                </a:solidFill>
              </a:defRPr>
            </a:pPr>
            <a:r>
              <a:rPr sz="975" b="1">
                <a:solidFill>
                  <a:srgbClr val="000000"/>
                </a:solidFill>
              </a:rPr>
              <a:t>TEAM VOLTERE | IITISoC 2026</a:t>
            </a:r>
          </a:p>
        </p:txBody>
      </p:sp>
      <p:sp>
        <p:nvSpPr>
          <p:cNvPr id="2" name="Rectangle 1">
            <a:extLst>
              <a:ext uri="{FF2B5EF4-FFF2-40B4-BE49-F238E27FC236}">
                <a16:creationId xmlns:a16="http://schemas.microsoft.com/office/drawing/2014/main" id="{F5DF4B09-C503-428A-8435-D725F20046B4}"/>
              </a:ext>
            </a:extLst>
          </p:cNvPr>
          <p:cNvSpPr>
            <a:spLocks noGrp="1"/>
          </p:cNvSpPr>
          <p:nvPr/>
        </p:nvSpPr>
        <p:spPr>
          <a:xfrm>
            <a:off x="685800" y="628650"/>
            <a:ext cx="10763250" cy="5143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/>
          <a:lstStyle/>
          <a:p>
            <a:pPr algn="l">
              <a:defRPr sz="2550" b="1">
                <a:solidFill>
                  <a:srgbClr val="000000"/>
                </a:solidFill>
              </a:defRPr>
            </a:pPr>
            <a:r>
              <a:rPr sz="2550" b="1">
                <a:solidFill>
                  <a:srgbClr val="000000"/>
                </a:solidFill>
              </a:rPr>
              <a:t>Post-implementation timing and power results demonstrate practical hardware viability</a:t>
            </a:r>
          </a:p>
        </p:txBody>
      </p:sp>
      <p:sp>
        <p:nvSpPr>
          <p:cNvPr id="3" name="Rectangle: Rounded Corners 2">
            <a:extLst>
              <a:ext uri="{FF2B5EF4-FFF2-40B4-BE49-F238E27FC236}">
                <a16:creationId xmlns:a16="http://schemas.microsoft.com/office/drawing/2014/main" id="{6342A294-04E3-4AE8-9F44-1FB43E14A08A}"/>
              </a:ext>
            </a:extLst>
          </p:cNvPr>
          <p:cNvSpPr>
            <a:spLocks noGrp="1"/>
          </p:cNvSpPr>
          <p:nvPr/>
        </p:nvSpPr>
        <p:spPr>
          <a:xfrm>
            <a:off x="809625" y="1476375"/>
            <a:ext cx="4953000" cy="3333750"/>
          </a:xfrm>
          <a:prstGeom prst="roundRect">
            <a:avLst>
              <a:gd name="adj" fmla="val 2286"/>
            </a:avLst>
          </a:prstGeom>
          <a:solidFill>
            <a:srgbClr val="F7F7F7"/>
          </a:solidFill>
          <a:ln w="9525">
            <a:solidFill>
              <a:srgbClr val="B5B5B5"/>
            </a:solidFill>
            <a:prstDash val="solid"/>
          </a:ln>
        </p:spPr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D41AA8C5-D89D-424D-BCAE-1780E98B69CD}"/>
              </a:ext>
            </a:extLst>
          </p:cNvPr>
          <p:cNvSpPr>
            <a:spLocks noGrp="1"/>
          </p:cNvSpPr>
          <p:nvPr/>
        </p:nvSpPr>
        <p:spPr>
          <a:xfrm>
            <a:off x="1095375" y="1781175"/>
            <a:ext cx="2667000" cy="2667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/>
          <a:lstStyle/>
          <a:p>
            <a:pPr algn="l">
              <a:defRPr sz="1500" b="1">
                <a:solidFill>
                  <a:srgbClr val="000000"/>
                </a:solidFill>
              </a:defRPr>
            </a:pPr>
            <a:r>
              <a:rPr sz="1500" b="1">
                <a:solidFill>
                  <a:srgbClr val="000000"/>
                </a:solidFill>
              </a:rPr>
              <a:t>TIMING</a:t>
            </a:r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AE5D8C6A-4256-4441-B28C-D3FEB76A6241}"/>
              </a:ext>
            </a:extLst>
          </p:cNvPr>
          <p:cNvSpPr>
            <a:spLocks noGrp="1"/>
          </p:cNvSpPr>
          <p:nvPr/>
        </p:nvSpPr>
        <p:spPr>
          <a:xfrm>
            <a:off x="1095375" y="2286000"/>
            <a:ext cx="3619500" cy="20955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/>
          <a:lstStyle/>
          <a:p>
            <a:pPr algn="l">
              <a:defRPr sz="1575" b="0">
                <a:solidFill>
                  <a:srgbClr val="000000"/>
                </a:solidFill>
              </a:defRPr>
            </a:pPr>
            <a:r>
              <a:rPr sz="1575" b="0">
                <a:solidFill>
                  <a:srgbClr val="000000"/>
                </a:solidFill>
              </a:rPr>
              <a:t>50 MHz target</a:t>
            </a:r>
          </a:p>
          <a:p>
            <a:pPr algn="l">
              <a:defRPr sz="1575" b="0">
                <a:solidFill>
                  <a:srgbClr val="000000"/>
                </a:solidFill>
              </a:defRPr>
            </a:pPr>
            <a:r>
              <a:rPr sz="1575" b="0">
                <a:solidFill>
                  <a:srgbClr val="000000"/>
                </a:solidFill>
              </a:rPr>
              <a:t>WNS = +11.598 ns</a:t>
            </a:r>
          </a:p>
          <a:p>
            <a:endParaRPr sz="1575" b="0">
              <a:solidFill>
                <a:srgbClr val="000000"/>
              </a:solidFill>
            </a:endParaRPr>
          </a:p>
          <a:p>
            <a:pPr algn="l">
              <a:defRPr sz="1575" b="0">
                <a:solidFill>
                  <a:srgbClr val="000000"/>
                </a:solidFill>
              </a:defRPr>
            </a:pPr>
            <a:r>
              <a:rPr sz="1575" b="0">
                <a:solidFill>
                  <a:srgbClr val="000000"/>
                </a:solidFill>
              </a:rPr>
              <a:t>200 MHz stress target</a:t>
            </a:r>
          </a:p>
          <a:p>
            <a:pPr algn="l">
              <a:defRPr sz="1575" b="0">
                <a:solidFill>
                  <a:srgbClr val="000000"/>
                </a:solidFill>
              </a:defRPr>
            </a:pPr>
            <a:r>
              <a:rPr sz="1575" b="0">
                <a:solidFill>
                  <a:srgbClr val="000000"/>
                </a:solidFill>
              </a:rPr>
              <a:t>WNS = -2.363 ns</a:t>
            </a:r>
          </a:p>
          <a:p>
            <a:pPr algn="l">
              <a:defRPr sz="1575" b="0">
                <a:solidFill>
                  <a:srgbClr val="000000"/>
                </a:solidFill>
              </a:defRPr>
            </a:pPr>
            <a:r>
              <a:rPr sz="1575" b="0">
                <a:solidFill>
                  <a:srgbClr val="000000"/>
                </a:solidFill>
              </a:rPr>
              <a:t>Critical path = 7.363 ns</a:t>
            </a:r>
          </a:p>
          <a:p>
            <a:pPr algn="l">
              <a:defRPr sz="1575" b="0">
                <a:solidFill>
                  <a:srgbClr val="000000"/>
                </a:solidFill>
              </a:defRPr>
            </a:pPr>
            <a:r>
              <a:rPr sz="1575" b="0">
                <a:solidFill>
                  <a:srgbClr val="000000"/>
                </a:solidFill>
              </a:rPr>
              <a:t>5-stage latency = 36.815 ns</a:t>
            </a:r>
          </a:p>
        </p:txBody>
      </p:sp>
      <p:sp>
        <p:nvSpPr>
          <p:cNvPr id="6" name="Rectangle: Rounded Corners 5">
            <a:extLst>
              <a:ext uri="{FF2B5EF4-FFF2-40B4-BE49-F238E27FC236}">
                <a16:creationId xmlns:a16="http://schemas.microsoft.com/office/drawing/2014/main" id="{FFA241E2-123E-4D5B-9C35-EF8320F3865C}"/>
              </a:ext>
            </a:extLst>
          </p:cNvPr>
          <p:cNvSpPr>
            <a:spLocks noGrp="1"/>
          </p:cNvSpPr>
          <p:nvPr/>
        </p:nvSpPr>
        <p:spPr>
          <a:xfrm>
            <a:off x="6429375" y="1476375"/>
            <a:ext cx="4953000" cy="3333750"/>
          </a:xfrm>
          <a:prstGeom prst="roundRect">
            <a:avLst>
              <a:gd name="adj" fmla="val 2286"/>
            </a:avLst>
          </a:prstGeom>
          <a:solidFill>
            <a:srgbClr val="F7F7F7"/>
          </a:solidFill>
          <a:ln w="9525">
            <a:solidFill>
              <a:srgbClr val="B5B5B5"/>
            </a:solidFill>
            <a:prstDash val="solid"/>
          </a:ln>
        </p:spPr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13E62FC3-5672-4435-93FC-B6CCC24DA437}"/>
              </a:ext>
            </a:extLst>
          </p:cNvPr>
          <p:cNvSpPr>
            <a:spLocks noGrp="1"/>
          </p:cNvSpPr>
          <p:nvPr/>
        </p:nvSpPr>
        <p:spPr>
          <a:xfrm>
            <a:off x="6715125" y="1781175"/>
            <a:ext cx="2667000" cy="2667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/>
          <a:lstStyle/>
          <a:p>
            <a:pPr algn="l">
              <a:defRPr sz="1500" b="1">
                <a:solidFill>
                  <a:srgbClr val="000000"/>
                </a:solidFill>
              </a:defRPr>
            </a:pPr>
            <a:r>
              <a:rPr sz="1500" b="1">
                <a:solidFill>
                  <a:srgbClr val="000000"/>
                </a:solidFill>
              </a:rPr>
              <a:t>POWER</a:t>
            </a:r>
          </a:p>
        </p:txBody>
      </p:sp>
      <p:sp>
        <p:nvSpPr>
          <p:cNvPr id="8" name="Rectangle 7">
            <a:extLst>
              <a:ext uri="{FF2B5EF4-FFF2-40B4-BE49-F238E27FC236}">
                <a16:creationId xmlns:a16="http://schemas.microsoft.com/office/drawing/2014/main" id="{4010EBDE-CA10-40DC-8AF1-14691586FCE9}"/>
              </a:ext>
            </a:extLst>
          </p:cNvPr>
          <p:cNvSpPr>
            <a:spLocks noGrp="1"/>
          </p:cNvSpPr>
          <p:nvPr/>
        </p:nvSpPr>
        <p:spPr>
          <a:xfrm>
            <a:off x="6715125" y="2381250"/>
            <a:ext cx="3952875" cy="128587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/>
          <a:lstStyle/>
          <a:p>
            <a:pPr algn="l">
              <a:defRPr sz="1650" b="0">
                <a:solidFill>
                  <a:srgbClr val="000000"/>
                </a:solidFill>
              </a:defRPr>
            </a:pPr>
            <a:r>
              <a:rPr sz="1650" b="0">
                <a:solidFill>
                  <a:srgbClr val="000000"/>
                </a:solidFill>
              </a:rPr>
              <a:t>Total on-chip power: 100 mW</a:t>
            </a:r>
          </a:p>
          <a:p>
            <a:pPr algn="l">
              <a:defRPr sz="1650" b="0">
                <a:solidFill>
                  <a:srgbClr val="000000"/>
                </a:solidFill>
              </a:defRPr>
            </a:pPr>
            <a:r>
              <a:rPr sz="1650" b="0">
                <a:solidFill>
                  <a:srgbClr val="000000"/>
                </a:solidFill>
              </a:rPr>
              <a:t>Dynamic power: 19 mW</a:t>
            </a:r>
          </a:p>
          <a:p>
            <a:pPr algn="l">
              <a:defRPr sz="1650" b="0">
                <a:solidFill>
                  <a:srgbClr val="000000"/>
                </a:solidFill>
              </a:defRPr>
            </a:pPr>
            <a:r>
              <a:rPr sz="1650" b="0">
                <a:solidFill>
                  <a:srgbClr val="000000"/>
                </a:solidFill>
              </a:rPr>
              <a:t>Static power: 81 mW</a:t>
            </a:r>
          </a:p>
          <a:p>
            <a:pPr algn="l">
              <a:defRPr sz="1650" b="0">
                <a:solidFill>
                  <a:srgbClr val="000000"/>
                </a:solidFill>
              </a:defRPr>
            </a:pPr>
            <a:r>
              <a:rPr sz="1650" b="0">
                <a:solidFill>
                  <a:srgbClr val="000000"/>
                </a:solidFill>
              </a:rPr>
              <a:t>Junction temperature: 25.2 °C</a:t>
            </a:r>
          </a:p>
        </p:txBody>
      </p:sp>
      <p:sp>
        <p:nvSpPr>
          <p:cNvPr id="9" name="Rectangle 8">
            <a:extLst>
              <a:ext uri="{FF2B5EF4-FFF2-40B4-BE49-F238E27FC236}">
                <a16:creationId xmlns:a16="http://schemas.microsoft.com/office/drawing/2014/main" id="{D0CC9AF6-7A4C-41CE-9B8F-C82146A97993}"/>
              </a:ext>
            </a:extLst>
          </p:cNvPr>
          <p:cNvSpPr>
            <a:spLocks noGrp="1"/>
          </p:cNvSpPr>
          <p:nvPr/>
        </p:nvSpPr>
        <p:spPr>
          <a:xfrm>
            <a:off x="857250" y="5381625"/>
            <a:ext cx="10382250" cy="2667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/>
          <a:lstStyle/>
          <a:p>
            <a:pPr algn="ctr">
              <a:defRPr sz="1500" b="1">
                <a:solidFill>
                  <a:srgbClr val="000000"/>
                </a:solidFill>
              </a:defRPr>
            </a:pPr>
            <a:r>
              <a:rPr sz="1500" b="1">
                <a:solidFill>
                  <a:srgbClr val="000000"/>
                </a:solidFill>
              </a:rPr>
              <a:t>Physical implementation data from Vivado 2025.2</a:t>
            </a:r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FCDE65FD-AA01-4A21-A6A5-9CB3457AB9AA}"/>
              </a:ext>
            </a:extLst>
          </p:cNvPr>
          <p:cNvSpPr>
            <a:spLocks noGrp="1"/>
          </p:cNvSpPr>
          <p:nvPr/>
        </p:nvSpPr>
        <p:spPr>
          <a:xfrm>
            <a:off x="685800" y="6496050"/>
            <a:ext cx="7048500" cy="1714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/>
          <a:lstStyle/>
          <a:p>
            <a:pPr algn="l">
              <a:defRPr sz="825" b="0">
                <a:solidFill>
                  <a:srgbClr val="000000"/>
                </a:solidFill>
              </a:defRPr>
            </a:pPr>
            <a:r>
              <a:rPr sz="825" b="0">
                <a:solidFill>
                  <a:srgbClr val="000000"/>
                </a:solidFill>
              </a:rPr>
              <a:t>Team VOLTERE | 8-bit Pipelined Microprocessor</a:t>
            </a:r>
          </a:p>
        </p:txBody>
      </p:sp>
      <p:sp>
        <p:nvSpPr>
          <p:cNvPr id="11" name="Rectangle 10">
            <a:extLst>
              <a:ext uri="{FF2B5EF4-FFF2-40B4-BE49-F238E27FC236}">
                <a16:creationId xmlns:a16="http://schemas.microsoft.com/office/drawing/2014/main" id="{D151C558-8D92-46AE-B275-26A93CB136F8}"/>
              </a:ext>
            </a:extLst>
          </p:cNvPr>
          <p:cNvSpPr>
            <a:spLocks noGrp="1"/>
          </p:cNvSpPr>
          <p:nvPr/>
        </p:nvSpPr>
        <p:spPr>
          <a:xfrm>
            <a:off x="11001375" y="6477000"/>
            <a:ext cx="495300" cy="1714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/>
          <a:lstStyle/>
          <a:p>
            <a:pPr algn="r">
              <a:defRPr sz="825" b="1">
                <a:solidFill>
                  <a:srgbClr val="000000"/>
                </a:solidFill>
              </a:defRPr>
            </a:pPr>
            <a:r>
              <a:rPr sz="825" b="1">
                <a:solidFill>
                  <a:srgbClr val="000000"/>
                </a:solidFill>
              </a:rPr>
              <a:t>24</a:t>
            </a:r>
          </a:p>
        </p:txBody>
      </p:sp>
    </p:spTree>
    <p:extLst>
      <p:ext uri="{BB962C8B-B14F-4D97-AF65-F5344CB8AC3E}">
        <p14:creationId xmlns:p14="http://schemas.microsoft.com/office/powerpoint/2010/main" val="577420269"/>
      </p:ext>
    </p:extLst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Rectangle 11">
            <a:extLst>
              <a:ext uri="{FF2B5EF4-FFF2-40B4-BE49-F238E27FC236}">
                <a16:creationId xmlns:a16="http://schemas.microsoft.com/office/drawing/2014/main" id="{E54EC6A1-E017-4CAB-B05B-59E103C6B57D}"/>
              </a:ext>
            </a:extLst>
          </p:cNvPr>
          <p:cNvSpPr>
            <a:spLocks noGrp="1"/>
          </p:cNvSpPr>
          <p:nvPr/>
        </p:nvSpPr>
        <p:spPr>
          <a:xfrm>
            <a:off x="685800" y="342900"/>
            <a:ext cx="5715000" cy="2095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/>
          <a:lstStyle/>
          <a:p>
            <a:pPr algn="l">
              <a:defRPr sz="975" b="1">
                <a:solidFill>
                  <a:srgbClr val="000000"/>
                </a:solidFill>
              </a:defRPr>
            </a:pPr>
            <a:r>
              <a:rPr sz="975" b="1">
                <a:solidFill>
                  <a:srgbClr val="000000"/>
                </a:solidFill>
              </a:rPr>
              <a:t>TEAM VOLTERE | IITISoC 2026</a:t>
            </a:r>
          </a:p>
        </p:txBody>
      </p:sp>
      <p:sp>
        <p:nvSpPr>
          <p:cNvPr id="2" name="Rectangle 1">
            <a:extLst>
              <a:ext uri="{FF2B5EF4-FFF2-40B4-BE49-F238E27FC236}">
                <a16:creationId xmlns:a16="http://schemas.microsoft.com/office/drawing/2014/main" id="{9E2A38C4-3C00-494D-A59E-80F6F2EB42C7}"/>
              </a:ext>
            </a:extLst>
          </p:cNvPr>
          <p:cNvSpPr>
            <a:spLocks noGrp="1"/>
          </p:cNvSpPr>
          <p:nvPr/>
        </p:nvSpPr>
        <p:spPr>
          <a:xfrm>
            <a:off x="685800" y="628650"/>
            <a:ext cx="10763250" cy="5143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/>
          <a:lstStyle/>
          <a:p>
            <a:pPr algn="l">
              <a:defRPr sz="2550" b="1">
                <a:solidFill>
                  <a:srgbClr val="000000"/>
                </a:solidFill>
              </a:defRPr>
            </a:pPr>
            <a:r>
              <a:rPr sz="2550" b="1" dirty="0">
                <a:solidFill>
                  <a:srgbClr val="000000"/>
                </a:solidFill>
              </a:rPr>
              <a:t>Separating memory access from execution improved timing</a:t>
            </a:r>
          </a:p>
        </p:txBody>
      </p:sp>
      <p:sp>
        <p:nvSpPr>
          <p:cNvPr id="3" name="Rectangle: Rounded Corners 2">
            <a:extLst>
              <a:ext uri="{FF2B5EF4-FFF2-40B4-BE49-F238E27FC236}">
                <a16:creationId xmlns:a16="http://schemas.microsoft.com/office/drawing/2014/main" id="{A9C31FF1-3384-4F6C-9A94-D41FA57E2350}"/>
              </a:ext>
            </a:extLst>
          </p:cNvPr>
          <p:cNvSpPr>
            <a:spLocks noGrp="1"/>
          </p:cNvSpPr>
          <p:nvPr/>
        </p:nvSpPr>
        <p:spPr>
          <a:xfrm>
            <a:off x="762000" y="1504950"/>
            <a:ext cx="4762500" cy="3429000"/>
          </a:xfrm>
          <a:prstGeom prst="roundRect">
            <a:avLst>
              <a:gd name="adj" fmla="val 2222"/>
            </a:avLst>
          </a:prstGeom>
          <a:solidFill>
            <a:srgbClr val="F7F7F7"/>
          </a:solidFill>
          <a:ln w="9525">
            <a:solidFill>
              <a:srgbClr val="B5B5B5"/>
            </a:solidFill>
            <a:prstDash val="solid"/>
          </a:ln>
        </p:spPr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46060E0C-7E57-454A-9970-36045A13694C}"/>
              </a:ext>
            </a:extLst>
          </p:cNvPr>
          <p:cNvSpPr>
            <a:spLocks noGrp="1"/>
          </p:cNvSpPr>
          <p:nvPr/>
        </p:nvSpPr>
        <p:spPr>
          <a:xfrm>
            <a:off x="1095375" y="1809750"/>
            <a:ext cx="3810000" cy="2857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/>
          <a:lstStyle/>
          <a:p>
            <a:pPr algn="l">
              <a:defRPr sz="1875" b="1">
                <a:solidFill>
                  <a:srgbClr val="000000"/>
                </a:solidFill>
              </a:defRPr>
            </a:pPr>
            <a:r>
              <a:rPr sz="1875" b="1">
                <a:solidFill>
                  <a:srgbClr val="000000"/>
                </a:solidFill>
              </a:rPr>
              <a:t>Earlier 4-stage path</a:t>
            </a:r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0923C5A8-7802-4320-9BEC-EEEFA6E26354}"/>
              </a:ext>
            </a:extLst>
          </p:cNvPr>
          <p:cNvSpPr>
            <a:spLocks noGrp="1"/>
          </p:cNvSpPr>
          <p:nvPr/>
        </p:nvSpPr>
        <p:spPr>
          <a:xfrm>
            <a:off x="1095375" y="2381250"/>
            <a:ext cx="3714750" cy="166687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/>
          <a:lstStyle/>
          <a:p>
            <a:pPr algn="l">
              <a:defRPr sz="1725" b="0">
                <a:solidFill>
                  <a:srgbClr val="000000"/>
                </a:solidFill>
              </a:defRPr>
            </a:pPr>
            <a:r>
              <a:rPr sz="1725" b="0" dirty="0">
                <a:solidFill>
                  <a:srgbClr val="000000"/>
                </a:solidFill>
              </a:rPr>
              <a:t>ALU → address generation</a:t>
            </a:r>
          </a:p>
          <a:p>
            <a:pPr algn="l">
              <a:defRPr sz="1725" b="0">
                <a:solidFill>
                  <a:srgbClr val="000000"/>
                </a:solidFill>
              </a:defRPr>
            </a:pPr>
            <a:r>
              <a:rPr sz="1725" b="0" dirty="0">
                <a:solidFill>
                  <a:srgbClr val="000000"/>
                </a:solidFill>
              </a:rPr>
              <a:t>→ memory access</a:t>
            </a:r>
          </a:p>
          <a:p>
            <a:endParaRPr sz="1725" b="0" dirty="0">
              <a:solidFill>
                <a:srgbClr val="000000"/>
              </a:solidFill>
            </a:endParaRPr>
          </a:p>
          <a:p>
            <a:pPr algn="l">
              <a:defRPr sz="1725" b="0">
                <a:solidFill>
                  <a:srgbClr val="000000"/>
                </a:solidFill>
              </a:defRPr>
            </a:pPr>
            <a:r>
              <a:rPr sz="1725" b="0" dirty="0">
                <a:solidFill>
                  <a:srgbClr val="000000"/>
                </a:solidFill>
              </a:rPr>
              <a:t>Too much combinational work</a:t>
            </a:r>
          </a:p>
          <a:p>
            <a:pPr algn="l">
              <a:defRPr sz="1725" b="0">
                <a:solidFill>
                  <a:srgbClr val="000000"/>
                </a:solidFill>
              </a:defRPr>
            </a:pPr>
            <a:r>
              <a:rPr sz="1725" b="0" dirty="0">
                <a:solidFill>
                  <a:srgbClr val="000000"/>
                </a:solidFill>
              </a:rPr>
              <a:t>in one clock period</a:t>
            </a:r>
            <a:br>
              <a:rPr lang="en-US" sz="1725" b="0" dirty="0">
                <a:solidFill>
                  <a:srgbClr val="000000"/>
                </a:solidFill>
              </a:rPr>
            </a:br>
            <a:br>
              <a:rPr lang="en-US" sz="1725" b="0" dirty="0">
                <a:solidFill>
                  <a:srgbClr val="000000"/>
                </a:solidFill>
              </a:rPr>
            </a:br>
            <a:endParaRPr sz="1725" b="0" dirty="0">
              <a:solidFill>
                <a:srgbClr val="000000"/>
              </a:solidFill>
            </a:endParaRPr>
          </a:p>
        </p:txBody>
      </p:sp>
      <p:sp>
        <p:nvSpPr>
          <p:cNvPr id="6" name="Rectangle: Rounded Corners 5">
            <a:extLst>
              <a:ext uri="{FF2B5EF4-FFF2-40B4-BE49-F238E27FC236}">
                <a16:creationId xmlns:a16="http://schemas.microsoft.com/office/drawing/2014/main" id="{71966C01-FA0C-4A5E-8D02-895C07579A1D}"/>
              </a:ext>
            </a:extLst>
          </p:cNvPr>
          <p:cNvSpPr>
            <a:spLocks noGrp="1"/>
          </p:cNvSpPr>
          <p:nvPr/>
        </p:nvSpPr>
        <p:spPr>
          <a:xfrm>
            <a:off x="6667500" y="1504950"/>
            <a:ext cx="4762500" cy="3429000"/>
          </a:xfrm>
          <a:prstGeom prst="roundRect">
            <a:avLst>
              <a:gd name="adj" fmla="val 2222"/>
            </a:avLst>
          </a:prstGeom>
          <a:solidFill>
            <a:srgbClr val="F7F7F7"/>
          </a:solidFill>
          <a:ln w="9525">
            <a:solidFill>
              <a:srgbClr val="B5B5B5"/>
            </a:solidFill>
            <a:prstDash val="solid"/>
          </a:ln>
        </p:spPr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741ED2E4-C338-473B-A4E4-7541FFBC8BA4}"/>
              </a:ext>
            </a:extLst>
          </p:cNvPr>
          <p:cNvSpPr>
            <a:spLocks noGrp="1"/>
          </p:cNvSpPr>
          <p:nvPr/>
        </p:nvSpPr>
        <p:spPr>
          <a:xfrm>
            <a:off x="7000875" y="1809750"/>
            <a:ext cx="3810000" cy="2857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/>
          <a:lstStyle/>
          <a:p>
            <a:pPr algn="l">
              <a:defRPr sz="1875" b="1">
                <a:solidFill>
                  <a:srgbClr val="000000"/>
                </a:solidFill>
              </a:defRPr>
            </a:pPr>
            <a:r>
              <a:rPr sz="1875" b="1">
                <a:solidFill>
                  <a:srgbClr val="000000"/>
                </a:solidFill>
              </a:rPr>
              <a:t>Final 5-stage path</a:t>
            </a:r>
          </a:p>
        </p:txBody>
      </p:sp>
      <p:sp>
        <p:nvSpPr>
          <p:cNvPr id="8" name="Rectangle 7">
            <a:extLst>
              <a:ext uri="{FF2B5EF4-FFF2-40B4-BE49-F238E27FC236}">
                <a16:creationId xmlns:a16="http://schemas.microsoft.com/office/drawing/2014/main" id="{C230D608-68BD-4998-8D4F-5D69653EC695}"/>
              </a:ext>
            </a:extLst>
          </p:cNvPr>
          <p:cNvSpPr>
            <a:spLocks noGrp="1"/>
          </p:cNvSpPr>
          <p:nvPr/>
        </p:nvSpPr>
        <p:spPr>
          <a:xfrm>
            <a:off x="7000875" y="2381250"/>
            <a:ext cx="3714750" cy="166687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/>
          <a:lstStyle/>
          <a:p>
            <a:pPr algn="l">
              <a:defRPr sz="1725" b="0">
                <a:solidFill>
                  <a:srgbClr val="000000"/>
                </a:solidFill>
              </a:defRPr>
            </a:pPr>
            <a:r>
              <a:rPr sz="1725" b="0" dirty="0">
                <a:solidFill>
                  <a:srgbClr val="000000"/>
                </a:solidFill>
              </a:rPr>
              <a:t>IF → ID → EX → MEM → WB</a:t>
            </a:r>
          </a:p>
          <a:p>
            <a:endParaRPr sz="1725" b="0" dirty="0">
              <a:solidFill>
                <a:srgbClr val="000000"/>
              </a:solidFill>
            </a:endParaRPr>
          </a:p>
          <a:p>
            <a:pPr algn="l">
              <a:defRPr sz="1725" b="0">
                <a:solidFill>
                  <a:srgbClr val="000000"/>
                </a:solidFill>
              </a:defRPr>
            </a:pPr>
            <a:r>
              <a:rPr sz="1725" b="0" dirty="0">
                <a:solidFill>
                  <a:srgbClr val="000000"/>
                </a:solidFill>
              </a:rPr>
              <a:t>Memory access is isolated</a:t>
            </a:r>
          </a:p>
          <a:p>
            <a:pPr algn="l">
              <a:defRPr sz="1725" b="0">
                <a:solidFill>
                  <a:srgbClr val="000000"/>
                </a:solidFill>
              </a:defRPr>
            </a:pPr>
            <a:r>
              <a:rPr sz="1725" b="0" dirty="0">
                <a:solidFill>
                  <a:srgbClr val="000000"/>
                </a:solidFill>
              </a:rPr>
              <a:t>from ALU execution</a:t>
            </a:r>
          </a:p>
        </p:txBody>
      </p:sp>
      <p:sp>
        <p:nvSpPr>
          <p:cNvPr id="9" name="Rectangle 8">
            <a:extLst>
              <a:ext uri="{FF2B5EF4-FFF2-40B4-BE49-F238E27FC236}">
                <a16:creationId xmlns:a16="http://schemas.microsoft.com/office/drawing/2014/main" id="{FBAC8622-6016-44BE-BA39-4648F088D5A6}"/>
              </a:ext>
            </a:extLst>
          </p:cNvPr>
          <p:cNvSpPr>
            <a:spLocks noGrp="1"/>
          </p:cNvSpPr>
          <p:nvPr/>
        </p:nvSpPr>
        <p:spPr>
          <a:xfrm>
            <a:off x="857250" y="5381625"/>
            <a:ext cx="10191750" cy="4572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/>
          <a:lstStyle/>
          <a:p>
            <a:pPr algn="ctr">
              <a:defRPr sz="1725" b="1">
                <a:solidFill>
                  <a:srgbClr val="000000"/>
                </a:solidFill>
              </a:defRPr>
            </a:pPr>
            <a:r>
              <a:rPr sz="1725" b="1">
                <a:solidFill>
                  <a:srgbClr val="000000"/>
                </a:solidFill>
              </a:rPr>
              <a:t>The extra stage improves clock-frequency potential; the load-use detector absorbs the additional dependency latency.</a:t>
            </a:r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E44BD613-F8F0-46A7-ACDA-3324B0940AF9}"/>
              </a:ext>
            </a:extLst>
          </p:cNvPr>
          <p:cNvSpPr>
            <a:spLocks noGrp="1"/>
          </p:cNvSpPr>
          <p:nvPr/>
        </p:nvSpPr>
        <p:spPr>
          <a:xfrm>
            <a:off x="685800" y="6496050"/>
            <a:ext cx="7048500" cy="1714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/>
          <a:lstStyle/>
          <a:p>
            <a:pPr algn="l">
              <a:defRPr sz="825" b="0">
                <a:solidFill>
                  <a:srgbClr val="000000"/>
                </a:solidFill>
              </a:defRPr>
            </a:pPr>
            <a:r>
              <a:rPr sz="825" b="0">
                <a:solidFill>
                  <a:srgbClr val="000000"/>
                </a:solidFill>
              </a:rPr>
              <a:t>Team VOLTERE | 8-bit Pipelined Microprocessor</a:t>
            </a:r>
          </a:p>
        </p:txBody>
      </p:sp>
      <p:sp>
        <p:nvSpPr>
          <p:cNvPr id="11" name="Rectangle 10">
            <a:extLst>
              <a:ext uri="{FF2B5EF4-FFF2-40B4-BE49-F238E27FC236}">
                <a16:creationId xmlns:a16="http://schemas.microsoft.com/office/drawing/2014/main" id="{0119B552-69DD-41DA-B75F-38D3730E306C}"/>
              </a:ext>
            </a:extLst>
          </p:cNvPr>
          <p:cNvSpPr>
            <a:spLocks noGrp="1"/>
          </p:cNvSpPr>
          <p:nvPr/>
        </p:nvSpPr>
        <p:spPr>
          <a:xfrm>
            <a:off x="11001375" y="6477000"/>
            <a:ext cx="495300" cy="1714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/>
          <a:lstStyle/>
          <a:p>
            <a:pPr algn="r">
              <a:defRPr sz="825" b="1">
                <a:solidFill>
                  <a:srgbClr val="000000"/>
                </a:solidFill>
              </a:defRPr>
            </a:pPr>
            <a:r>
              <a:rPr sz="825" b="1">
                <a:solidFill>
                  <a:srgbClr val="000000"/>
                </a:solidFill>
              </a:rPr>
              <a:t>05</a:t>
            </a:r>
          </a:p>
        </p:txBody>
      </p:sp>
    </p:spTree>
    <p:extLst>
      <p:ext uri="{BB962C8B-B14F-4D97-AF65-F5344CB8AC3E}">
        <p14:creationId xmlns:p14="http://schemas.microsoft.com/office/powerpoint/2010/main" val="2076865761"/>
      </p:ext>
    </p:extLst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" name="Rectangle 12">
            <a:extLst>
              <a:ext uri="{FF2B5EF4-FFF2-40B4-BE49-F238E27FC236}">
                <a16:creationId xmlns:a16="http://schemas.microsoft.com/office/drawing/2014/main" id="{4FD7BC89-A19E-42E0-9113-C3AB49ECA4D4}"/>
              </a:ext>
            </a:extLst>
          </p:cNvPr>
          <p:cNvSpPr>
            <a:spLocks noGrp="1"/>
          </p:cNvSpPr>
          <p:nvPr/>
        </p:nvSpPr>
        <p:spPr>
          <a:xfrm>
            <a:off x="685800" y="342900"/>
            <a:ext cx="5715000" cy="2095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/>
          <a:lstStyle/>
          <a:p>
            <a:pPr algn="l">
              <a:defRPr sz="975" b="1">
                <a:solidFill>
                  <a:srgbClr val="000000"/>
                </a:solidFill>
              </a:defRPr>
            </a:pPr>
            <a:r>
              <a:rPr sz="975" b="1">
                <a:solidFill>
                  <a:srgbClr val="000000"/>
                </a:solidFill>
              </a:rPr>
              <a:t>TEAM VOLTERE | IITISoC 2026</a:t>
            </a:r>
          </a:p>
        </p:txBody>
      </p:sp>
      <p:sp>
        <p:nvSpPr>
          <p:cNvPr id="2" name="Rectangle 1">
            <a:extLst>
              <a:ext uri="{FF2B5EF4-FFF2-40B4-BE49-F238E27FC236}">
                <a16:creationId xmlns:a16="http://schemas.microsoft.com/office/drawing/2014/main" id="{1CA28247-1461-4862-849D-1FB943C92E66}"/>
              </a:ext>
            </a:extLst>
          </p:cNvPr>
          <p:cNvSpPr>
            <a:spLocks noGrp="1"/>
          </p:cNvSpPr>
          <p:nvPr/>
        </p:nvSpPr>
        <p:spPr>
          <a:xfrm>
            <a:off x="685800" y="628650"/>
            <a:ext cx="10763250" cy="5143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/>
          <a:lstStyle/>
          <a:p>
            <a:pPr algn="l">
              <a:defRPr sz="2550" b="1">
                <a:solidFill>
                  <a:srgbClr val="000000"/>
                </a:solidFill>
              </a:defRPr>
            </a:pPr>
            <a:r>
              <a:rPr sz="2550" b="1">
                <a:solidFill>
                  <a:srgbClr val="000000"/>
                </a:solidFill>
              </a:rPr>
              <a:t>A compact CPU that goes beyond the baseline challenge</a:t>
            </a:r>
          </a:p>
        </p:txBody>
      </p:sp>
      <p:sp>
        <p:nvSpPr>
          <p:cNvPr id="3" name="Rectangle 2">
            <a:extLst>
              <a:ext uri="{FF2B5EF4-FFF2-40B4-BE49-F238E27FC236}">
                <a16:creationId xmlns:a16="http://schemas.microsoft.com/office/drawing/2014/main" id="{6856F4A7-6E93-4A9C-832F-7D32E45BB85F}"/>
              </a:ext>
            </a:extLst>
          </p:cNvPr>
          <p:cNvSpPr>
            <a:spLocks noGrp="1"/>
          </p:cNvSpPr>
          <p:nvPr/>
        </p:nvSpPr>
        <p:spPr>
          <a:xfrm>
            <a:off x="1047750" y="1428750"/>
            <a:ext cx="10001250" cy="31432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/>
          <a:lstStyle/>
          <a:p>
            <a:pPr algn="l">
              <a:defRPr sz="1575" b="0">
                <a:solidFill>
                  <a:srgbClr val="000000"/>
                </a:solidFill>
              </a:defRPr>
            </a:pPr>
            <a:r>
              <a:rPr sz="1575" b="0">
                <a:solidFill>
                  <a:srgbClr val="000000"/>
                </a:solidFill>
              </a:rPr>
              <a:t>•  Synthesizable 5-stage, 8-bit pipelined microprocessor</a:t>
            </a:r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F06A04B6-DDC8-490F-93C4-83524219AFE2}"/>
              </a:ext>
            </a:extLst>
          </p:cNvPr>
          <p:cNvSpPr>
            <a:spLocks noGrp="1"/>
          </p:cNvSpPr>
          <p:nvPr/>
        </p:nvSpPr>
        <p:spPr>
          <a:xfrm>
            <a:off x="1047750" y="1800225"/>
            <a:ext cx="10001250" cy="31432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/>
          <a:lstStyle/>
          <a:p>
            <a:pPr algn="l">
              <a:defRPr sz="1575" b="0">
                <a:solidFill>
                  <a:srgbClr val="000000"/>
                </a:solidFill>
              </a:defRPr>
            </a:pPr>
            <a:r>
              <a:rPr sz="1575" b="0">
                <a:solidFill>
                  <a:srgbClr val="000000"/>
                </a:solidFill>
              </a:rPr>
              <a:t>•  28-instruction custom ISA</a:t>
            </a:r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ABE215BD-4B83-48C3-A85D-089E02FFC4BC}"/>
              </a:ext>
            </a:extLst>
          </p:cNvPr>
          <p:cNvSpPr>
            <a:spLocks noGrp="1"/>
          </p:cNvSpPr>
          <p:nvPr/>
        </p:nvSpPr>
        <p:spPr>
          <a:xfrm>
            <a:off x="1047750" y="2171700"/>
            <a:ext cx="10001250" cy="31432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/>
          <a:lstStyle/>
          <a:p>
            <a:pPr algn="l">
              <a:defRPr sz="1575" b="0">
                <a:solidFill>
                  <a:srgbClr val="000000"/>
                </a:solidFill>
              </a:defRPr>
            </a:pPr>
            <a:r>
              <a:rPr sz="1575" b="0">
                <a:solidFill>
                  <a:srgbClr val="000000"/>
                </a:solidFill>
              </a:rPr>
              <a:t>•  Forwarding, load-use stalls, and branch prediction</a:t>
            </a:r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B2E02EB5-3C52-4133-8A6D-5D70535601BA}"/>
              </a:ext>
            </a:extLst>
          </p:cNvPr>
          <p:cNvSpPr>
            <a:spLocks noGrp="1"/>
          </p:cNvSpPr>
          <p:nvPr/>
        </p:nvSpPr>
        <p:spPr>
          <a:xfrm>
            <a:off x="1047750" y="2543175"/>
            <a:ext cx="10001250" cy="31432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/>
          <a:lstStyle/>
          <a:p>
            <a:pPr algn="l">
              <a:defRPr sz="1575" b="0">
                <a:solidFill>
                  <a:srgbClr val="000000"/>
                </a:solidFill>
              </a:defRPr>
            </a:pPr>
            <a:r>
              <a:rPr sz="1575" b="0">
                <a:solidFill>
                  <a:srgbClr val="000000"/>
                </a:solidFill>
              </a:rPr>
              <a:t>•  Recursive JAL/JR support with a software stack</a:t>
            </a:r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0DEFC739-7A60-44B6-921C-1E31C53A7772}"/>
              </a:ext>
            </a:extLst>
          </p:cNvPr>
          <p:cNvSpPr>
            <a:spLocks noGrp="1"/>
          </p:cNvSpPr>
          <p:nvPr/>
        </p:nvSpPr>
        <p:spPr>
          <a:xfrm>
            <a:off x="1047750" y="2914650"/>
            <a:ext cx="10001250" cy="31432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/>
          <a:lstStyle/>
          <a:p>
            <a:pPr algn="l">
              <a:defRPr sz="1575" b="0">
                <a:solidFill>
                  <a:srgbClr val="000000"/>
                </a:solidFill>
              </a:defRPr>
            </a:pPr>
            <a:r>
              <a:rPr sz="1575" b="0">
                <a:solidFill>
                  <a:srgbClr val="000000"/>
                </a:solidFill>
              </a:rPr>
              <a:t>•  EPC, CAUSE, exception vectoring, MFC0, and ERET</a:t>
            </a:r>
          </a:p>
        </p:txBody>
      </p:sp>
      <p:sp>
        <p:nvSpPr>
          <p:cNvPr id="8" name="Rectangle 7">
            <a:extLst>
              <a:ext uri="{FF2B5EF4-FFF2-40B4-BE49-F238E27FC236}">
                <a16:creationId xmlns:a16="http://schemas.microsoft.com/office/drawing/2014/main" id="{29C4547F-F169-4D94-BDC4-B57FC9D12209}"/>
              </a:ext>
            </a:extLst>
          </p:cNvPr>
          <p:cNvSpPr>
            <a:spLocks noGrp="1"/>
          </p:cNvSpPr>
          <p:nvPr/>
        </p:nvSpPr>
        <p:spPr>
          <a:xfrm>
            <a:off x="1047750" y="3286125"/>
            <a:ext cx="10001250" cy="31432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/>
          <a:lstStyle/>
          <a:p>
            <a:pPr algn="l">
              <a:defRPr sz="1575" b="0">
                <a:solidFill>
                  <a:srgbClr val="000000"/>
                </a:solidFill>
              </a:defRPr>
            </a:pPr>
            <a:r>
              <a:rPr sz="1575" b="0">
                <a:solidFill>
                  <a:srgbClr val="000000"/>
                </a:solidFill>
              </a:rPr>
              <a:t>•  UART, ADC, GPIO, and PWM memory-mapped peripherals</a:t>
            </a:r>
          </a:p>
        </p:txBody>
      </p:sp>
      <p:sp>
        <p:nvSpPr>
          <p:cNvPr id="9" name="Rectangle 8">
            <a:extLst>
              <a:ext uri="{FF2B5EF4-FFF2-40B4-BE49-F238E27FC236}">
                <a16:creationId xmlns:a16="http://schemas.microsoft.com/office/drawing/2014/main" id="{83E471DA-ECEC-4B3A-B14D-389ACB1CC3FE}"/>
              </a:ext>
            </a:extLst>
          </p:cNvPr>
          <p:cNvSpPr>
            <a:spLocks noGrp="1"/>
          </p:cNvSpPr>
          <p:nvPr/>
        </p:nvSpPr>
        <p:spPr>
          <a:xfrm>
            <a:off x="1047750" y="3657600"/>
            <a:ext cx="10001250" cy="31432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/>
          <a:lstStyle/>
          <a:p>
            <a:pPr algn="l">
              <a:defRPr sz="1575" b="0">
                <a:solidFill>
                  <a:srgbClr val="000000"/>
                </a:solidFill>
              </a:defRPr>
            </a:pPr>
            <a:r>
              <a:rPr sz="1575" b="0">
                <a:solidFill>
                  <a:srgbClr val="000000"/>
                </a:solidFill>
              </a:rPr>
              <a:t>•  Verified simulations and 135.8 MHz post-implementation Fmax</a:t>
            </a:r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39F13722-22C5-471C-A052-A8B4DF6F4288}"/>
              </a:ext>
            </a:extLst>
          </p:cNvPr>
          <p:cNvSpPr>
            <a:spLocks noGrp="1"/>
          </p:cNvSpPr>
          <p:nvPr/>
        </p:nvSpPr>
        <p:spPr>
          <a:xfrm>
            <a:off x="685800" y="5476875"/>
            <a:ext cx="10763250" cy="52387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/>
          <a:lstStyle/>
          <a:p>
            <a:pPr algn="ctr">
              <a:defRPr sz="3000" b="1">
                <a:solidFill>
                  <a:srgbClr val="000000"/>
                </a:solidFill>
              </a:defRPr>
            </a:pPr>
            <a:r>
              <a:rPr sz="3000" b="1">
                <a:solidFill>
                  <a:srgbClr val="000000"/>
                </a:solidFill>
              </a:rPr>
              <a:t>Thank you</a:t>
            </a:r>
          </a:p>
        </p:txBody>
      </p:sp>
      <p:sp>
        <p:nvSpPr>
          <p:cNvPr id="11" name="Rectangle 10">
            <a:extLst>
              <a:ext uri="{FF2B5EF4-FFF2-40B4-BE49-F238E27FC236}">
                <a16:creationId xmlns:a16="http://schemas.microsoft.com/office/drawing/2014/main" id="{6DAE8A45-9045-4D49-8D2F-7CDE55B29709}"/>
              </a:ext>
            </a:extLst>
          </p:cNvPr>
          <p:cNvSpPr>
            <a:spLocks noGrp="1"/>
          </p:cNvSpPr>
          <p:nvPr/>
        </p:nvSpPr>
        <p:spPr>
          <a:xfrm>
            <a:off x="685800" y="6496050"/>
            <a:ext cx="7048500" cy="1714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/>
          <a:lstStyle/>
          <a:p>
            <a:pPr algn="l">
              <a:defRPr sz="825" b="0">
                <a:solidFill>
                  <a:srgbClr val="000000"/>
                </a:solidFill>
              </a:defRPr>
            </a:pPr>
            <a:r>
              <a:rPr sz="825" b="0">
                <a:solidFill>
                  <a:srgbClr val="000000"/>
                </a:solidFill>
              </a:rPr>
              <a:t>Team VOLTERE | 8-bit Pipelined Microprocessor</a:t>
            </a:r>
          </a:p>
        </p:txBody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21414DEC-96D1-46B4-B78C-DE031E9E588D}"/>
              </a:ext>
            </a:extLst>
          </p:cNvPr>
          <p:cNvSpPr>
            <a:spLocks noGrp="1"/>
          </p:cNvSpPr>
          <p:nvPr/>
        </p:nvSpPr>
        <p:spPr>
          <a:xfrm>
            <a:off x="11001375" y="6477000"/>
            <a:ext cx="495300" cy="1714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/>
          <a:lstStyle/>
          <a:p>
            <a:pPr algn="r">
              <a:defRPr sz="825" b="1">
                <a:solidFill>
                  <a:srgbClr val="000000"/>
                </a:solidFill>
              </a:defRPr>
            </a:pPr>
            <a:r>
              <a:rPr sz="825" b="1">
                <a:solidFill>
                  <a:srgbClr val="000000"/>
                </a:solidFill>
              </a:rPr>
              <a:t>25</a:t>
            </a:r>
          </a:p>
        </p:txBody>
      </p:sp>
    </p:spTree>
    <p:extLst>
      <p:ext uri="{BB962C8B-B14F-4D97-AF65-F5344CB8AC3E}">
        <p14:creationId xmlns:p14="http://schemas.microsoft.com/office/powerpoint/2010/main" val="24244294"/>
      </p:ext>
    </p:extLst>
  </p:cSld>
  <p:clrMapOvr>
    <a:masterClrMapping/>
  </p:clrMapOvr>
</p:sld>
</file>

<file path=ppt/theme/theme1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2194</Words>
  <Application>Microsoft Office PowerPoint</Application>
  <DocSecurity>0</DocSecurity>
  <PresentationFormat>Widescreen</PresentationFormat>
  <Paragraphs>387</Paragraphs>
  <Slides>25</Slides>
  <Notes>25</Notes>
  <HiddenSlides>0</HiddenSlides>
  <MMClips>0</MMClips>
  <ScaleCrop>false</ScaleCrop>
  <HeadingPairs>
    <vt:vector size="6" baseType="variant">
      <vt:variant>
        <vt:lpstr>Fonts Used</vt:lpstr>
      </vt:variant>
      <vt:variant>
        <vt:i4>1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25</vt:i4>
      </vt:variant>
    </vt:vector>
  </HeadingPairs>
  <TitlesOfParts>
    <vt:vector size="27" baseType="lpstr">
      <vt:lpstr>Calibri</vt:lpstr>
      <vt:lpstr>ChatGPT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Presentation</dc:title>
  <dc:creator>Walnut Exporter</dc:creator>
  <cp:lastModifiedBy>Jeet Patil</cp:lastModifiedBy>
  <cp:revision>1</cp:revision>
  <dcterms:created xsi:type="dcterms:W3CDTF">2026-08-09T06:00:21Z</dcterms:created>
  <dcterms:modified xsi:type="dcterms:W3CDTF">2026-08-09T10:31:18Z</dcterms:modified>
</cp:coreProperties>
</file>